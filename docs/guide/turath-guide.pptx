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قدمة" id="{4b112e94-15b1-48f2-b8a1-d1334eb8e780}">
          <p14:sldIdLst>
            <p14:sldId id="256"/>
            <p14:sldId id="257"/>
            <p14:sldId id="258"/>
          </p14:sldIdLst>
        </p14:section>
        <p14:section name="البدء" id="{71227f9e-a2c0-ddb6-a594-9ded4aa968b0}">
          <p14:sldIdLst>
            <p14:sldId id="259"/>
            <p14:sldId id="260"/>
            <p14:sldId id="261"/>
            <p14:sldId id="262"/>
          </p14:sldIdLst>
        </p14:section>
        <p14:section name="الشاشات" id="{b1966bff-070d-b032-2259-7819d336bc76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الاستخدام" id="{ccf73241-6909-362b-8941-f9fe17d35c6c}">
          <p14:sldIdLst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يعرّف هذا الدليل بمنصة «تراث»: ما هي، وكيف تُنصَّب، وما شاشاتها، وكيف يسير فيها بحث تراثي من الفكرة إلى النشر.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المنصة تعمل على جهاز الباحث دون أي خدمة خارجية. الأرقام هنا من الإصدار الحالي.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إعادة تشغيل المثبّت تحدّث البرنامج دون مساس البيانات. وفي آخره يتحقق من أن اللوحة قامت فعلاً، وإلا طبع تقرير تشخيص.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المثبّت يهيّئ النمط الفردي. والانتقال إلى نمط آخر بأمر واحد، والبيانات نفسها تبقى.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السجل في مجلد Turath داخل المجلد الشخصي: turath.log. وتقرير التشخيص يكفي لمعرفة أغلب الأعطال.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ar-AE" altLang="en-US" sz="1000" dirty="0">
                <a:solidFill>
                  <a:schemeClr val="tx2"/>
                </a:solidFill>
                <a:latin typeface="Noto Naskh Arabic"/>
                <a:cs typeface="adwa-assalaf"/>
              </a:rPr>
              <a:t>تراث — دليل المنصة</a:t>
            </a:r>
            <a:endParaRPr lang="ar-AE" sz="1000" dirty="0"/>
          </a:p>
        </p:txBody>
      </p:sp>
      <p:pic>
        <p:nvPicPr>
          <p:cNvPr id="3" name="Image 0" descr="/tmp/claude-0/-home-user/11b98046-3116-585b-b221-e5c2e170e62a/scratchpa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3276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AE" altLang="en-US" sz="32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ar-AE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/11b98046-3116-585b-b221-e5c2e170e62a/scratchpad/deck/assets/sad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035040" y="2514600"/>
            <a:ext cx="5577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AE" altLang="en-US" sz="4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AE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35040" y="3611880"/>
            <a:ext cx="5577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AE" altLang="en-US" sz="1800" dirty="0">
                <a:solidFill>
                  <a:srgbClr val="D9E4F0"/>
                </a:solidFill>
              </a:defRPr>
            </a:lvl1pPr>
          </a:lstStyle>
          <a:p>
            <a:pPr algn="r" indent="0" marL="0">
              <a:buNone/>
            </a:pPr>
            <a:endParaRPr lang="ar-AE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Noto Naskh Arabic"/>
          <a:ea typeface="Noto Naskh Arabic"/>
          <a:cs typeface="adwa-assalaf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Noto Naskh Arabic"/>
          <a:ea typeface="Noto Naskh Arabic"/>
          <a:cs typeface="adwa-assalaf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Noto Naskh Arabic"/>
          <a:ea typeface="Noto Naskh Arabic"/>
          <a:cs typeface="adwa-assalaf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Noto Naskh Arabic"/>
          <a:ea typeface="Noto Naskh Arabic"/>
          <a:cs typeface="adwa-assalaf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Noto Naskh Arabic"/>
          <a:ea typeface="Noto Naskh Arabic"/>
          <a:cs typeface="adwa-assalaf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Noto Naskh Arabic"/>
          <a:ea typeface="Noto Naskh Arabic"/>
          <a:cs typeface="adwa-assalaf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Noto Naskh Arabic"/>
          <a:ea typeface="Noto Naskh Arabic"/>
          <a:cs typeface="adwa-assalaf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Noto Naskh Arabic"/>
          <a:ea typeface="Noto Naskh Arabic"/>
          <a:cs typeface="adwa-assalaf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Noto Naskh Arabic"/>
          <a:ea typeface="Noto Naskh Arabic"/>
          <a:cs typeface="adwa-assalaf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Noto Naskh Arabic"/>
          <a:ea typeface="Noto Naskh Arabic"/>
          <a:cs typeface="adwa-assalaf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Naskh Arabic"/>
          <a:ea typeface="Noto Naskh Arabic"/>
          <a:cs typeface="adwa-assalaf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Naskh Arabic"/>
          <a:ea typeface="Noto Naskh Arabic"/>
          <a:cs typeface="adwa-assalaf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Naskh Arabic"/>
          <a:ea typeface="Noto Naskh Arabic"/>
          <a:cs typeface="adwa-assalaf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Naskh Arabic"/>
          <a:ea typeface="Noto Naskh Arabic"/>
          <a:cs typeface="adwa-assalaf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Naskh Arabic"/>
          <a:ea typeface="Noto Naskh Arabic"/>
          <a:cs typeface="adwa-assalaf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Naskh Arabic"/>
          <a:ea typeface="Noto Naskh Arabic"/>
          <a:cs typeface="adwa-assalaf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Naskh Arabic"/>
          <a:ea typeface="Noto Naskh Arabic"/>
          <a:cs typeface="adwa-assalaf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Naskh Arabic"/>
          <a:ea typeface="Noto Naskh Arabic"/>
          <a:cs typeface="adwa-assalaf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Naskh Arabic"/>
          <a:ea typeface="Noto Naskh Arabic"/>
          <a:cs typeface="adwa-assalaf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image" Target="../media/image-24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art" descr="/tmp/claude-0/-home-user/11b98046-3116-585b-b221-e5c2e170e62a/scratchpad/deck/assets/photos/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oncept-label"/>
          <p:cNvSpPr txBox="1"/>
          <p:nvPr/>
        </p:nvSpPr>
        <p:spPr>
          <a:xfrm>
            <a:off x="320040" y="274320"/>
            <a:ext cx="1737360" cy="329184"/>
          </a:xfrm>
          <a:prstGeom prst="rect">
            <a:avLst/>
          </a:prstGeom>
          <a:solidFill>
            <a:srgbClr val="12263F">
              <a:alpha val="70000"/>
            </a:srgbClr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100" dirty="0">
                <a:solidFill>
                  <a:srgbClr val="FFFFFF"/>
                </a:solidFill>
                <a:latin typeface="Noto Naskh Arabic"/>
                <a:cs typeface="adwa-assalaf"/>
              </a:rPr>
              <a:t>إعادة بناء تصورية</a:t>
            </a:r>
            <a:endParaRPr lang="ar-AE" sz="1100" dirty="0"/>
          </a:p>
        </p:txBody>
      </p:sp>
      <p:sp>
        <p:nvSpPr>
          <p:cNvPr id="4" name="cover-veil"/>
          <p:cNvSpPr/>
          <p:nvPr/>
        </p:nvSpPr>
        <p:spPr>
          <a:xfrm>
            <a:off x="5669280" y="0"/>
            <a:ext cx="6522415" cy="6858000"/>
          </a:xfrm>
          <a:prstGeom prst="rect">
            <a:avLst/>
          </a:prstGeom>
          <a:solidFill>
            <a:srgbClr val="12263F">
              <a:alpha val="82000"/>
            </a:srgbClr>
          </a:solidFill>
          <a:ln w="12700">
            <a:solidFill>
              <a:srgbClr val="12263F">
                <a:alpha val="0"/>
              </a:srgbClr>
            </a:solidFill>
            <a:prstDash val="solid"/>
          </a:ln>
        </p:spPr>
      </p:sp>
      <p:pic>
        <p:nvPicPr>
          <p:cNvPr id="5" name="Image 1" descr="/tmp/claude-0/-home-user/11b98046-3116-585b-b221-e5c2e170e62a/scratchpad/deck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822960"/>
            <a:ext cx="1143000" cy="1143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26480" y="21031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6000" b="1" dirty="0">
                <a:solidFill>
                  <a:schemeClr val="bg1"/>
                </a:solidFill>
                <a:latin typeface="Noto Naskh Arabic"/>
                <a:cs typeface="adwa-assalaf"/>
              </a:rPr>
              <a:t>تراث</a:t>
            </a:r>
            <a:endParaRPr lang="ar-AE" sz="6000" dirty="0"/>
          </a:p>
        </p:txBody>
      </p:sp>
      <p:sp>
        <p:nvSpPr>
          <p:cNvPr id="7" name="Text 3"/>
          <p:cNvSpPr txBox="1"/>
          <p:nvPr/>
        </p:nvSpPr>
        <p:spPr>
          <a:xfrm>
            <a:off x="6126480" y="3154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600" dirty="0">
                <a:solidFill>
                  <a:srgbClr val="F0D58A"/>
                </a:solidFill>
                <a:latin typeface="Noto Naskh Arabic"/>
                <a:cs typeface="adwa-assalaf"/>
              </a:rPr>
              <a:t>دليل المنصة: الشاشات وطريقة الاستخدام</a:t>
            </a:r>
            <a:endParaRPr lang="ar-AE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6126480" y="3886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800" dirty="0">
                <a:solidFill>
                  <a:srgbClr val="D9E4F0"/>
                </a:solidFill>
                <a:latin typeface="Noto Naskh Arabic"/>
                <a:cs typeface="adwa-assalaf"/>
              </a:rPr>
              <a:t>إدارة الدراسات والبحوث التراثية الإماراتية</a:t>
            </a:r>
            <a:endParaRPr lang="ar-AE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12648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dirty="0">
                <a:solidFill>
                  <a:srgbClr val="AFC2D6"/>
                </a:solidFill>
                <a:latin typeface="Noto Naskh Arabic"/>
                <a:cs typeface="adwa-assalaf"/>
              </a:rPr>
              <a:t>الإصدار </a:t>
            </a:r>
            <a:r>
              <a:rPr lang="ar-AE" altLang="en-US" sz="1300" dirty="0">
                <a:solidFill>
                  <a:srgbClr val="AFC2D6"/>
                </a:solidFill>
                <a:latin typeface="Calibri"/>
                <a:cs typeface="Calibri"/>
              </a:rPr>
              <a:t>1.5</a:t>
            </a:r>
            <a:r>
              <a:rPr lang="ar-AE" altLang="en-US" sz="1300" dirty="0">
                <a:solidFill>
                  <a:srgbClr val="AFC2D6"/>
                </a:solidFill>
                <a:latin typeface="Noto Naskh Arabic"/>
                <a:cs typeface="adwa-assalaf"/>
              </a:rPr>
              <a:t> · أكتوبر </a:t>
            </a:r>
            <a:r>
              <a:rPr lang="ar-AE" altLang="en-US" sz="1300" dirty="0">
                <a:solidFill>
                  <a:srgbClr val="AFC2D6"/>
                </a:solidFill>
                <a:latin typeface="Calibri"/>
                <a:cs typeface="Calibri"/>
              </a:rPr>
              <a:t>2026</a:t>
            </a:r>
            <a:endParaRPr lang="ar-AE" sz="1300" dirty="0"/>
          </a:p>
        </p:txBody>
      </p:sp>
      <p:pic>
        <p:nvPicPr>
          <p:cNvPr id="10" name="Image 2" descr="/tmp/claude-0/-home-user/11b98046-3116-585b-b221-e5c2e170e62a/scratchpad/deck/assets/sad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83680"/>
            <a:ext cx="12191695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مؤسسة بحثية رقمية لتراث الإمارات</a:t>
            </a:r>
            <a:endParaRPr lang="ar-AE" sz="3200" dirty="0"/>
          </a:p>
        </p:txBody>
      </p:sp>
      <p:pic>
        <p:nvPicPr>
          <p:cNvPr id="3" name="intro-art" descr="/tmp/claude-0/-home-user/11b98046-3116-585b-b221-e5c2e170e62a/scratchpad/deck/assets/photos/urb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4754880" cy="2971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0" y="1371600"/>
            <a:ext cx="5971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dirty="0">
                <a:solidFill>
                  <a:schemeClr val="tx1"/>
                </a:solidFill>
                <a:latin typeface="Noto Naskh Arabic"/>
                <a:cs typeface="adwa-assalaf"/>
              </a:rPr>
              <a:t>ليست مولّد نصوص عن التراث، بل منظومة عاملة للبحث والتحقيق والجمع الميداني والتوثيق والتحليل والنشر، تحفظ الأدلة الأولية وتربط كل استنتاج علمي بأصله.</a:t>
            </a:r>
            <a:endParaRPr lang="ar-AE" sz="1700" dirty="0"/>
          </a:p>
        </p:txBody>
      </p:sp>
      <p:sp>
        <p:nvSpPr>
          <p:cNvPr id="5" name="icon-database"/>
          <p:cNvSpPr/>
          <p:nvPr/>
        </p:nvSpPr>
        <p:spPr>
          <a:xfrm>
            <a:off x="10680192" y="2788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1" descr="/tmp/claude-0/-home-user/11b98046-3116-585b-b221-e5c2e170e62a/scratchpad/deck/assets/i-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292608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222992" y="3429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ar-AE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10222992" y="3977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chemeClr val="tx2"/>
                </a:solidFill>
                <a:latin typeface="Noto Naskh Arabic"/>
                <a:cs typeface="adwa-assalaf"/>
              </a:rPr>
              <a:t>جدولاً في الأرشيف المعرفي</a:t>
            </a:r>
            <a:endParaRPr lang="ar-AE" sz="1200" dirty="0"/>
          </a:p>
        </p:txBody>
      </p:sp>
      <p:sp>
        <p:nvSpPr>
          <p:cNvPr id="9" name="icon-people"/>
          <p:cNvSpPr/>
          <p:nvPr/>
        </p:nvSpPr>
        <p:spPr>
          <a:xfrm>
            <a:off x="9162288" y="27889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2" descr="/tmp/claude-0/-home-user/11b98046-3116-585b-b221-e5c2e170e62a/scratchpad/deck/assets/i-peo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48" y="292608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705088" y="3429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ar-AE" sz="3000" dirty="0"/>
          </a:p>
        </p:txBody>
      </p:sp>
      <p:sp>
        <p:nvSpPr>
          <p:cNvPr id="12" name="Text 7"/>
          <p:cNvSpPr txBox="1"/>
          <p:nvPr/>
        </p:nvSpPr>
        <p:spPr>
          <a:xfrm>
            <a:off x="8705088" y="3977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chemeClr val="tx2"/>
                </a:solidFill>
                <a:latin typeface="Noto Naskh Arabic"/>
                <a:cs typeface="adwa-assalaf"/>
              </a:rPr>
              <a:t>وكيلاً ببطاقات تشغيلية</a:t>
            </a:r>
            <a:endParaRPr lang="ar-AE" sz="1200" dirty="0"/>
          </a:p>
        </p:txBody>
      </p:sp>
      <p:sp>
        <p:nvSpPr>
          <p:cNvPr id="13" name="icon-star"/>
          <p:cNvSpPr/>
          <p:nvPr/>
        </p:nvSpPr>
        <p:spPr>
          <a:xfrm>
            <a:off x="7644384" y="278892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4" name="Image 3" descr="/tmp/claude-0/-home-user/11b98046-3116-585b-b221-e5c2e170e62a/scratchpad/deck/assets/i-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292608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187184" y="3429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ar-AE" sz="3000" dirty="0"/>
          </a:p>
        </p:txBody>
      </p:sp>
      <p:sp>
        <p:nvSpPr>
          <p:cNvPr id="16" name="Text 10"/>
          <p:cNvSpPr txBox="1"/>
          <p:nvPr/>
        </p:nvSpPr>
        <p:spPr>
          <a:xfrm>
            <a:off x="7187184" y="3977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chemeClr val="tx2"/>
                </a:solidFill>
                <a:latin typeface="Noto Naskh Arabic"/>
                <a:cs typeface="adwa-assalaf"/>
              </a:rPr>
              <a:t>مهارة قابلة للاستدعاء</a:t>
            </a:r>
            <a:endParaRPr lang="ar-AE" sz="1200" dirty="0"/>
          </a:p>
        </p:txBody>
      </p:sp>
      <p:sp>
        <p:nvSpPr>
          <p:cNvPr id="17" name="icon-gate"/>
          <p:cNvSpPr/>
          <p:nvPr/>
        </p:nvSpPr>
        <p:spPr>
          <a:xfrm>
            <a:off x="6126480" y="2788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mage 4" descr="/tmp/claude-0/-home-user/11b98046-3116-585b-b221-e5c2e170e62a/scratchpad/deck/assets/i-ga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92608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669280" y="3429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ar-AE" sz="3000" dirty="0"/>
          </a:p>
        </p:txBody>
      </p:sp>
      <p:sp>
        <p:nvSpPr>
          <p:cNvPr id="20" name="Text 13"/>
          <p:cNvSpPr txBox="1"/>
          <p:nvPr/>
        </p:nvSpPr>
        <p:spPr>
          <a:xfrm>
            <a:off x="5669280" y="3977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chemeClr val="tx2"/>
                </a:solidFill>
                <a:latin typeface="Noto Naskh Arabic"/>
                <a:cs typeface="adwa-assalaf"/>
              </a:rPr>
              <a:t>مرحلة ببوابات جودة</a:t>
            </a:r>
            <a:endParaRPr lang="ar-AE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4617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المبادئ غير القابلة للتفاوض</a:t>
            </a:r>
            <a:endParaRPr lang="ar-AE" sz="1600" dirty="0"/>
          </a:p>
        </p:txBody>
      </p:sp>
      <p:sp>
        <p:nvSpPr>
          <p:cNvPr id="22" name="principle-0"/>
          <p:cNvSpPr/>
          <p:nvPr/>
        </p:nvSpPr>
        <p:spPr>
          <a:xfrm>
            <a:off x="9509760" y="507492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9509760" y="50749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b="1" dirty="0">
                <a:solidFill>
                  <a:schemeClr val="accent1"/>
                </a:solidFill>
                <a:latin typeface="Noto Naskh Arabic"/>
                <a:cs typeface="adwa-assalaf"/>
              </a:rPr>
              <a:t>صفر تلفيق</a:t>
            </a:r>
            <a:endParaRPr lang="ar-AE" sz="1400" dirty="0"/>
          </a:p>
        </p:txBody>
      </p:sp>
      <p:sp>
        <p:nvSpPr>
          <p:cNvPr id="24" name="principle-1"/>
          <p:cNvSpPr/>
          <p:nvPr/>
        </p:nvSpPr>
        <p:spPr>
          <a:xfrm>
            <a:off x="7269480" y="507492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269480" y="50749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الأرشيف هو المرجع</a:t>
            </a:r>
            <a:endParaRPr lang="ar-AE" sz="1400" dirty="0"/>
          </a:p>
        </p:txBody>
      </p:sp>
      <p:sp>
        <p:nvSpPr>
          <p:cNvPr id="26" name="principle-2"/>
          <p:cNvSpPr/>
          <p:nvPr/>
        </p:nvSpPr>
        <p:spPr>
          <a:xfrm>
            <a:off x="5029200" y="507492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5029200" y="50749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اللفظ المحلي كما نُطق</a:t>
            </a:r>
            <a:endParaRPr lang="ar-AE" sz="1400" dirty="0"/>
          </a:p>
        </p:txBody>
      </p:sp>
      <p:sp>
        <p:nvSpPr>
          <p:cNvPr id="28" name="principle-3"/>
          <p:cNvSpPr/>
          <p:nvPr/>
        </p:nvSpPr>
        <p:spPr>
          <a:xfrm>
            <a:off x="2788920" y="507492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2788920" y="50749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الاعتماد للإنسان</a:t>
            </a:r>
            <a:endParaRPr lang="ar-AE" sz="1400" dirty="0"/>
          </a:p>
        </p:txBody>
      </p:sp>
      <p:sp>
        <p:nvSpPr>
          <p:cNvPr id="30" name="principle-4"/>
          <p:cNvSpPr/>
          <p:nvPr/>
        </p:nvSpPr>
        <p:spPr>
          <a:xfrm>
            <a:off x="548640" y="507492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548640" y="50749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b="1" dirty="0">
                <a:solidFill>
                  <a:schemeClr val="accent1"/>
                </a:solidFill>
                <a:latin typeface="Noto Naskh Arabic"/>
                <a:cs typeface="adwa-assalaf"/>
              </a:rPr>
              <a:t>ما صُمّم غير ما نُفّذ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خريطة هذا الدليل</a:t>
            </a:r>
            <a:endParaRPr lang="ar-AE" sz="3200" dirty="0"/>
          </a:p>
        </p:txBody>
      </p:sp>
      <p:sp>
        <p:nvSpPr>
          <p:cNvPr id="3" name="part-card-0"/>
          <p:cNvSpPr/>
          <p:nvPr/>
        </p:nvSpPr>
        <p:spPr>
          <a:xfrm>
            <a:off x="804672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263F">
                <a:alpha val="14000"/>
              </a:srgbClr>
            </a:outerShdw>
          </a:effectLst>
        </p:spPr>
      </p:sp>
      <p:pic>
        <p:nvPicPr>
          <p:cNvPr id="4" name="Image 0" descr="/tmp/claude-0/-home-user/11b98046-3116-585b-b221-e5c2e170e62a/scratchpad/deck/assets/photos/materi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83880" y="1508760"/>
            <a:ext cx="3246120" cy="20116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10972800" y="3749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9728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37307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البدء</a:t>
            </a:r>
            <a:endParaRPr lang="ar-AE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4343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التنصيب، والأيقونة، وأنماط التشغيل، ودليل البدء</a:t>
            </a:r>
            <a:endParaRPr lang="ar-AE" sz="1400" dirty="0"/>
          </a:p>
        </p:txBody>
      </p:sp>
      <p:sp>
        <p:nvSpPr>
          <p:cNvPr id="9" name="part-card-1"/>
          <p:cNvSpPr/>
          <p:nvPr/>
        </p:nvSpPr>
        <p:spPr>
          <a:xfrm>
            <a:off x="429768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263F">
                <a:alpha val="14000"/>
              </a:srgbClr>
            </a:outerShdw>
          </a:effectLst>
        </p:spPr>
      </p:sp>
      <p:pic>
        <p:nvPicPr>
          <p:cNvPr id="10" name="Image 1" descr="/tmp/claude-0/-home-user/11b98046-3116-585b-b221-e5c2e170e62a/scratchpad/deck/assets/photos/contac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4840" y="1508760"/>
            <a:ext cx="3246120" cy="2011680"/>
          </a:xfrm>
          <a:prstGeom prst="rect">
            <a:avLst/>
          </a:prstGeom>
        </p:spPr>
      </p:pic>
      <p:sp>
        <p:nvSpPr>
          <p:cNvPr id="11" name="num-2"/>
          <p:cNvSpPr/>
          <p:nvPr/>
        </p:nvSpPr>
        <p:spPr>
          <a:xfrm>
            <a:off x="7223760" y="3749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2237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37307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الشاشات</a:t>
            </a:r>
            <a:endParaRPr lang="ar-AE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4343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الرئيسية، والمشاريع، والسجلات، والخزنة، والمختبر، والأدلة، والوكلاء، والمهارات</a:t>
            </a:r>
            <a:endParaRPr lang="ar-AE" sz="1400" dirty="0"/>
          </a:p>
        </p:txBody>
      </p:sp>
      <p:sp>
        <p:nvSpPr>
          <p:cNvPr id="15" name="part-card-2"/>
          <p:cNvSpPr/>
          <p:nvPr/>
        </p:nvSpPr>
        <p:spPr>
          <a:xfrm>
            <a:off x="54864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263F">
                <a:alpha val="14000"/>
              </a:srgbClr>
            </a:outerShdw>
          </a:effectLst>
        </p:spPr>
      </p:sp>
      <p:pic>
        <p:nvPicPr>
          <p:cNvPr id="16" name="Image 2" descr="/tmp/claude-0/-home-user/11b98046-3116-585b-b221-e5c2e170e62a/scratchpad/deck/assets/photos/lab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08760"/>
            <a:ext cx="3246120" cy="2011680"/>
          </a:xfrm>
          <a:prstGeom prst="rect">
            <a:avLst/>
          </a:prstGeom>
        </p:spPr>
      </p:pic>
      <p:sp>
        <p:nvSpPr>
          <p:cNvPr id="17" name="num-3"/>
          <p:cNvSpPr/>
          <p:nvPr/>
        </p:nvSpPr>
        <p:spPr>
          <a:xfrm>
            <a:off x="3474720" y="3749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4747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37307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الاستخدام</a:t>
            </a:r>
            <a:endParaRPr lang="ar-AE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4343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رحلة بحث كاملة، والنموذج التطبيقي، والقواعد، وعند التعثر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ction-art" descr="/tmp/claude-0/-home-user/11b98046-3116-585b-b221-e5c2e170e62a/scratchpad/deck/assets/photos/logi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486400" cy="65836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035040" y="251460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4000" b="1" dirty="0">
                <a:solidFill>
                  <a:schemeClr val="bg1"/>
                </a:solidFill>
                <a:latin typeface="Noto Naskh Arabic"/>
                <a:cs typeface="adwa-assalaf"/>
              </a:rPr>
              <a:t>البدء</a:t>
            </a:r>
            <a:endParaRPr lang="ar-AE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35040" y="361188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AE" altLang="en-US" sz="1800" dirty="0">
                <a:solidFill>
                  <a:srgbClr val="D9E4F0"/>
                </a:solidFill>
                <a:latin typeface="Noto Naskh Arabic"/>
                <a:cs typeface="adwa-assalaf"/>
              </a:rPr>
              <a:t>تنصيب على جهاز واحد بأيقونة على سطح المكتب، ثم جولة تعريفية.</a:t>
            </a:r>
            <a:endParaRPr lang="ar-AE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التنصيب في ثلاث مراحل</a:t>
            </a:r>
            <a:endParaRPr lang="ar-AE" sz="3200" dirty="0"/>
          </a:p>
        </p:txBody>
      </p:sp>
      <p:sp>
        <p:nvSpPr>
          <p:cNvPr id="3" name="step-0"/>
          <p:cNvSpPr/>
          <p:nvPr/>
        </p:nvSpPr>
        <p:spPr>
          <a:xfrm>
            <a:off x="8046720" y="141732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icon-lock"/>
          <p:cNvSpPr/>
          <p:nvPr/>
        </p:nvSpPr>
        <p:spPr>
          <a:xfrm>
            <a:off x="1074420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/tmp/claude-0/-home-user/11b98046-3116-585b-b221-e5c2e170e62a/scratchpad/deck/assets/i-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4220" y="1805940"/>
            <a:ext cx="320040" cy="320040"/>
          </a:xfrm>
          <a:prstGeom prst="rect">
            <a:avLst/>
          </a:prstGeom>
        </p:spPr>
      </p:pic>
      <p:sp>
        <p:nvSpPr>
          <p:cNvPr id="6" name="num-1"/>
          <p:cNvSpPr/>
          <p:nvPr/>
        </p:nvSpPr>
        <p:spPr>
          <a:xfrm>
            <a:off x="8321040" y="17373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2104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2468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900" b="1" dirty="0">
                <a:solidFill>
                  <a:schemeClr val="accent1"/>
                </a:solidFill>
                <a:latin typeface="Noto Naskh Arabic"/>
                <a:cs typeface="adwa-assalaf"/>
              </a:rPr>
              <a:t>افتحوا </a:t>
            </a:r>
            <a:r>
              <a:rPr lang="ar-AE" altLang="en-US" sz="1900" b="1" dirty="0">
                <a:solidFill>
                  <a:schemeClr val="accent1"/>
                </a:solidFill>
                <a:latin typeface="Calibri"/>
                <a:cs typeface="Calibri"/>
              </a:rPr>
              <a:t>PowerShell</a:t>
            </a:r>
            <a:endParaRPr lang="ar-AE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297180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من قائمة «ابدأ»، نافذة عادية لا «كمسؤول». وفي ماك: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Terminal.</a:t>
            </a:r>
            <a:endParaRPr lang="ar-AE" sz="1400" dirty="0"/>
          </a:p>
        </p:txBody>
      </p:sp>
      <p:sp>
        <p:nvSpPr>
          <p:cNvPr id="10" name="step-1"/>
          <p:cNvSpPr/>
          <p:nvPr/>
        </p:nvSpPr>
        <p:spPr>
          <a:xfrm>
            <a:off x="4297680" y="141732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icon-download"/>
          <p:cNvSpPr/>
          <p:nvPr/>
        </p:nvSpPr>
        <p:spPr>
          <a:xfrm>
            <a:off x="699516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/tmp/claude-0/-home-user/11b98046-3116-585b-b221-e5c2e170e62a/scratchpad/deck/assets/i-down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180" y="1805940"/>
            <a:ext cx="320040" cy="320040"/>
          </a:xfrm>
          <a:prstGeom prst="rect">
            <a:avLst/>
          </a:prstGeom>
        </p:spPr>
      </p:pic>
      <p:sp>
        <p:nvSpPr>
          <p:cNvPr id="13" name="num-2"/>
          <p:cNvSpPr/>
          <p:nvPr/>
        </p:nvSpPr>
        <p:spPr>
          <a:xfrm>
            <a:off x="4572000" y="17373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468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9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الصقوا سطر التنصيب</a:t>
            </a:r>
            <a:endParaRPr lang="ar-AE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297180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يتحقق من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Python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ويثبّته إن لزم، وينزّل البرنامج، ويهيّئ النمط الفردي.</a:t>
            </a:r>
            <a:endParaRPr lang="ar-AE" sz="1400" dirty="0"/>
          </a:p>
        </p:txBody>
      </p:sp>
      <p:sp>
        <p:nvSpPr>
          <p:cNvPr id="17" name="step-2"/>
          <p:cNvSpPr/>
          <p:nvPr/>
        </p:nvSpPr>
        <p:spPr>
          <a:xfrm>
            <a:off x="548640" y="141732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icon-home"/>
          <p:cNvSpPr/>
          <p:nvPr/>
        </p:nvSpPr>
        <p:spPr>
          <a:xfrm>
            <a:off x="3246120" y="164592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Image 2" descr="/tmp/claude-0/-home-user/11b98046-3116-585b-b221-e5c2e170e62a/scratchpad/deck/assets/i-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140" y="1805940"/>
            <a:ext cx="320040" cy="320040"/>
          </a:xfrm>
          <a:prstGeom prst="rect">
            <a:avLst/>
          </a:prstGeom>
        </p:spPr>
      </p:pic>
      <p:sp>
        <p:nvSpPr>
          <p:cNvPr id="20" name="num-3"/>
          <p:cNvSpPr/>
          <p:nvPr/>
        </p:nvSpPr>
        <p:spPr>
          <a:xfrm>
            <a:off x="822960" y="17373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2296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22960" y="2468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900" b="1" dirty="0">
                <a:solidFill>
                  <a:schemeClr val="accent1"/>
                </a:solidFill>
                <a:latin typeface="Noto Naskh Arabic"/>
                <a:cs typeface="adwa-assalaf"/>
              </a:rPr>
              <a:t>انقروا أيقونة «تراث»</a:t>
            </a:r>
            <a:endParaRPr lang="ar-AE" sz="19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" y="297180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تظهر على سطح المكتب وفي قائمة «ابدأ»، وتفتح اللوحة في نافذة مستقلة.</a:t>
            </a:r>
            <a:endParaRPr lang="ar-AE" sz="1400" dirty="0"/>
          </a:p>
        </p:txBody>
      </p:sp>
      <p:sp>
        <p:nvSpPr>
          <p:cNvPr id="24" name="install-line"/>
          <p:cNvSpPr/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2960" y="4617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rgbClr val="F0D58A"/>
                </a:solidFill>
                <a:latin typeface="Noto Naskh Arabic"/>
                <a:cs typeface="adwa-assalaf"/>
              </a:rPr>
              <a:t>سطر التنصيب في ويندوز (موجود كاملاً في </a:t>
            </a:r>
            <a:r>
              <a:rPr lang="ar-AE" altLang="en-US" sz="1300" b="1" dirty="0">
                <a:solidFill>
                  <a:srgbClr val="F0D58A"/>
                </a:solidFill>
                <a:latin typeface="Calibri"/>
                <a:cs typeface="Calibri"/>
              </a:rPr>
              <a:t>INSTALL.md</a:t>
            </a:r>
            <a:r>
              <a:rPr lang="ar-AE" altLang="en-US" sz="1300" b="1" dirty="0">
                <a:solidFill>
                  <a:srgbClr val="F0D58A"/>
                </a:solidFill>
                <a:latin typeface="Noto Naskh Arabic"/>
                <a:cs typeface="adwa-assalaf"/>
              </a:rPr>
              <a:t>)</a:t>
            </a:r>
            <a:endParaRPr lang="ar-AE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822960" y="49834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$f="$env:TEMP\turath-install.ps1"; iwr https://raw.githubusercontent.com/7r425ypz9t-hue/turathres/refs/heads/claude/clever-carson-78yimu/launchers/install_windows.ps1 -OutFile $f; powershell -NoProfile -ExecutionPolicy Bypass -File $f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ثلاثة أنماط تشغيل لثلاث حاجات</a:t>
            </a:r>
            <a:endParaRPr lang="ar-AE" sz="3200" dirty="0"/>
          </a:p>
        </p:txBody>
      </p:sp>
      <p:sp>
        <p:nvSpPr>
          <p:cNvPr id="3" name="mode-0"/>
          <p:cNvSpPr/>
          <p:nvPr/>
        </p:nvSpPr>
        <p:spPr>
          <a:xfrm>
            <a:off x="8046720" y="141732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263F">
                <a:alpha val="14000"/>
              </a:srgbClr>
            </a:outerShdw>
          </a:effectLst>
        </p:spPr>
      </p:sp>
      <p:sp>
        <p:nvSpPr>
          <p:cNvPr id="4" name="icon-home"/>
          <p:cNvSpPr/>
          <p:nvPr/>
        </p:nvSpPr>
        <p:spPr>
          <a:xfrm>
            <a:off x="9390888" y="16916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/tmp/claude-0/-home-user/11b98046-3116-585b-b221-e5c2e170e62a/scratchpad/deck/assets/i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6628" y="18973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75320" y="26974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800" b="1" dirty="0">
                <a:solidFill>
                  <a:schemeClr val="accent1"/>
                </a:solidFill>
                <a:latin typeface="Noto Naskh Arabic"/>
                <a:cs typeface="adwa-assalaf"/>
              </a:rPr>
              <a:t>مستخدم واحد · حاسوب واحد</a:t>
            </a:r>
            <a:endParaRPr lang="ar-AE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3246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النمط الافتراضي. الخادم على الجهاز وحده، والدخول برمز يتولد عند كل تشغيل، فلا كلمات مرور.</a:t>
            </a:r>
            <a:endParaRPr lang="ar-AE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5120640"/>
            <a:ext cx="2971800" cy="457200"/>
          </a:xfrm>
          <a:prstGeom prst="rect">
            <a:avLst/>
          </a:prstGeom>
          <a:solidFill>
            <a:srgbClr val="EEF3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turath setup solo</a:t>
            </a:r>
            <a:endParaRPr lang="en-US" sz="1300" dirty="0"/>
          </a:p>
        </p:txBody>
      </p:sp>
      <p:sp>
        <p:nvSpPr>
          <p:cNvPr id="9" name="mode-1"/>
          <p:cNvSpPr/>
          <p:nvPr/>
        </p:nvSpPr>
        <p:spPr>
          <a:xfrm>
            <a:off x="4297680" y="141732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263F">
                <a:alpha val="14000"/>
              </a:srgbClr>
            </a:outerShdw>
          </a:effectLst>
        </p:spPr>
      </p:sp>
      <p:sp>
        <p:nvSpPr>
          <p:cNvPr id="10" name="icon-layers"/>
          <p:cNvSpPr/>
          <p:nvPr/>
        </p:nvSpPr>
        <p:spPr>
          <a:xfrm>
            <a:off x="5641848" y="169164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/tmp/claude-0/-home-user/11b98046-3116-585b-b221-e5c2e170e62a/scratchpad/deck/assets/i-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18973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6974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800" b="1" dirty="0">
                <a:solidFill>
                  <a:schemeClr val="accent1"/>
                </a:solidFill>
                <a:latin typeface="Noto Naskh Arabic"/>
                <a:cs typeface="adwa-assalaf"/>
              </a:rPr>
              <a:t>مستخدم واحد · أجهزة متعددة</a:t>
            </a:r>
            <a:endParaRPr lang="ar-AE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246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خادم محلي في البيت أو المكتب، تصله أجهزتكم عبر الشبكة بكلمة مرور، مع تشفير اختياري.</a:t>
            </a:r>
            <a:endParaRPr lang="ar-AE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5120640"/>
            <a:ext cx="2971800" cy="457200"/>
          </a:xfrm>
          <a:prstGeom prst="rect">
            <a:avLst/>
          </a:prstGeom>
          <a:solidFill>
            <a:srgbClr val="EEF3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turath setup lan</a:t>
            </a:r>
            <a:endParaRPr lang="en-US" sz="1300" dirty="0"/>
          </a:p>
        </p:txBody>
      </p:sp>
      <p:sp>
        <p:nvSpPr>
          <p:cNvPr id="15" name="mode-2"/>
          <p:cNvSpPr/>
          <p:nvPr/>
        </p:nvSpPr>
        <p:spPr>
          <a:xfrm>
            <a:off x="548640" y="141732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263F">
                <a:alpha val="14000"/>
              </a:srgbClr>
            </a:outerShdw>
          </a:effectLst>
        </p:spPr>
      </p:sp>
      <p:sp>
        <p:nvSpPr>
          <p:cNvPr id="16" name="icon-people"/>
          <p:cNvSpPr/>
          <p:nvPr/>
        </p:nvSpPr>
        <p:spPr>
          <a:xfrm>
            <a:off x="1892808" y="1691640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Image 2" descr="/tmp/claude-0/-home-user/11b98046-3116-585b-b221-e5c2e170e62a/scratchpad/deck/assets/i-peo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548" y="18973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77240" y="26974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800" b="1" dirty="0">
                <a:solidFill>
                  <a:schemeClr val="accent1"/>
                </a:solidFill>
                <a:latin typeface="Noto Naskh Arabic"/>
                <a:cs typeface="adwa-assalaf"/>
              </a:rPr>
              <a:t>عدة مستخدمين</a:t>
            </a:r>
            <a:endParaRPr lang="ar-AE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3246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حساب لكل باحث، وبحوثه خاصة لا يراها غيره، ومشاركة المصادر بالاختيار، والتأليف المشترك بالدعوة.</a:t>
            </a:r>
            <a:endParaRPr lang="ar-AE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120640"/>
            <a:ext cx="2971800" cy="457200"/>
          </a:xfrm>
          <a:prstGeom prst="rect">
            <a:avLst/>
          </a:prstGeom>
          <a:solidFill>
            <a:srgbClr val="EEF3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turath setup team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دليل البدء عند أول فتح</a:t>
            </a:r>
            <a:endParaRPr lang="ar-AE" sz="3200" dirty="0"/>
          </a:p>
        </p:txBody>
      </p:sp>
      <p:sp>
        <p:nvSpPr>
          <p:cNvPr id="3" name="screen-frame"/>
          <p:cNvSpPr/>
          <p:nvPr/>
        </p:nvSpPr>
        <p:spPr>
          <a:xfrm>
            <a:off x="493776" y="1271016"/>
            <a:ext cx="74249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4" name="screenshot" descr="/tmp/claude-0/-home-user/11b98046-3116-585b-b221-e5c2e170e62a/scratchpad/shots/01_tou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1148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11219688" y="1316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19688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298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جولة من ست بطاقات</a:t>
            </a:r>
            <a:endParaRPr lang="ar-AE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1682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تظهر تلقائياً أول مرة، وتعرّف بالمشروع والخزنة والمختبر والأدلة والوكلاء.</a:t>
            </a:r>
            <a:endParaRPr lang="ar-AE" sz="1400" dirty="0"/>
          </a:p>
        </p:txBody>
      </p:sp>
      <p:sp>
        <p:nvSpPr>
          <p:cNvPr id="9" name="num-2"/>
          <p:cNvSpPr/>
          <p:nvPr/>
        </p:nvSpPr>
        <p:spPr>
          <a:xfrm>
            <a:off x="11219688" y="2459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441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تنتهي بالنموذج التطبيقي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825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زر واحد يستورد دراسة «التلي» بمصادرها المتحقق منها، لتروا المنظومة تعمل.</a:t>
            </a:r>
            <a:endParaRPr lang="ar-AE" sz="1400" dirty="0"/>
          </a:p>
        </p:txBody>
      </p:sp>
      <p:sp>
        <p:nvSpPr>
          <p:cNvPr id="13" name="num-3"/>
          <p:cNvSpPr/>
          <p:nvPr/>
        </p:nvSpPr>
        <p:spPr>
          <a:xfrm>
            <a:off x="11219688" y="3602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3584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تُعاد متى شئتم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968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من الإعدادات: زر «دليل البدء».</a:t>
            </a:r>
            <a:endParaRPr lang="ar-AE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596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i="1" dirty="0">
                <a:solidFill>
                  <a:schemeClr val="tx2"/>
                </a:solidFill>
                <a:latin typeface="Noto Naskh Arabic"/>
                <a:cs typeface="adwa-assalaf"/>
              </a:rPr>
              <a:t>اللوحة تُفتح في نافذة تطبيق مستقلة، والنقر الثاني على الأيقونة يفتح نافذة للخادم نفسه.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ction-art" descr="/tmp/claude-0/-home-user/11b98046-3116-585b-b221-e5c2e170e62a/scratchpad/deck/assets/photos/contac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486400" cy="65836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035040" y="251460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4000" b="1" dirty="0">
                <a:solidFill>
                  <a:schemeClr val="bg1"/>
                </a:solidFill>
                <a:latin typeface="Noto Naskh Arabic"/>
                <a:cs typeface="adwa-assalaf"/>
              </a:rPr>
              <a:t>الشاشات</a:t>
            </a:r>
            <a:endParaRPr lang="ar-AE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35040" y="361188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AE" altLang="en-US" sz="1800" dirty="0">
                <a:solidFill>
                  <a:srgbClr val="D9E4F0"/>
                </a:solidFill>
                <a:latin typeface="Noto Naskh Arabic"/>
                <a:cs typeface="adwa-assalaf"/>
              </a:rPr>
              <a:t>ثلاث عشرة شاشة، لكل منها وظيفة في دورة البحث.</a:t>
            </a:r>
            <a:endParaRPr lang="ar-AE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الواجهة العامة</a:t>
            </a:r>
            <a:endParaRPr lang="ar-AE" sz="3200" dirty="0"/>
          </a:p>
        </p:txBody>
      </p:sp>
      <p:sp>
        <p:nvSpPr>
          <p:cNvPr id="3" name="screen-frame"/>
          <p:cNvSpPr/>
          <p:nvPr/>
        </p:nvSpPr>
        <p:spPr>
          <a:xfrm>
            <a:off x="493776" y="1271016"/>
            <a:ext cx="74249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4" name="screenshot" descr="/tmp/claude-0/-home-user/11b98046-3116-585b-b221-e5c2e170e62a/scratchpad/shots/02_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1148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11219688" y="1316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19688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298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الشريط الجانبي</a:t>
            </a:r>
            <a:endParaRPr lang="ar-AE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1682496"/>
            <a:ext cx="2889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ثلاث مجموعات: المؤسسة، والأرشيف المعرفي، والمنظومة.</a:t>
            </a:r>
            <a:endParaRPr lang="ar-AE" sz="1400" dirty="0"/>
          </a:p>
        </p:txBody>
      </p:sp>
      <p:sp>
        <p:nvSpPr>
          <p:cNvPr id="9" name="num-2"/>
          <p:cNvSpPr/>
          <p:nvPr/>
        </p:nvSpPr>
        <p:spPr>
          <a:xfrm>
            <a:off x="11219688" y="236829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35000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البحث الشامل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734056"/>
            <a:ext cx="2889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في المصادر والتفريغات والمفردات والروايات، وكل نتيجة تعود إلى سجلها.</a:t>
            </a:r>
            <a:endParaRPr lang="ar-AE" sz="1400" dirty="0"/>
          </a:p>
        </p:txBody>
      </p:sp>
      <p:sp>
        <p:nvSpPr>
          <p:cNvPr id="13" name="num-3"/>
          <p:cNvSpPr/>
          <p:nvPr/>
        </p:nvSpPr>
        <p:spPr>
          <a:xfrm>
            <a:off x="11219688" y="341985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340156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أزرار البدء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785616"/>
            <a:ext cx="2889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مشروع جديد، وأرشفة مادة، والمختبر الشفهي.</a:t>
            </a:r>
            <a:endParaRPr lang="ar-AE" sz="1400" dirty="0"/>
          </a:p>
        </p:txBody>
      </p:sp>
      <p:sp>
        <p:nvSpPr>
          <p:cNvPr id="17" name="num-4"/>
          <p:cNvSpPr/>
          <p:nvPr/>
        </p:nvSpPr>
        <p:spPr>
          <a:xfrm>
            <a:off x="11219688" y="447141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471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45312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الأرقام الكبرى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837176"/>
            <a:ext cx="2889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المشاريع والمصادر والمقابلات والأصول والادعاءات والعناصر.</a:t>
            </a:r>
            <a:endParaRPr lang="ar-AE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596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i="1" dirty="0">
                <a:solidFill>
                  <a:schemeClr val="tx2"/>
                </a:solidFill>
                <a:latin typeface="Noto Naskh Arabic"/>
                <a:cs typeface="adwa-assalaf"/>
              </a:rPr>
              <a:t>الصفحة الرئيسية بعد استيراد النموذج التطبيقي.</a:t>
            </a:r>
            <a:endParaRPr lang="ar-AE" sz="1200" dirty="0"/>
          </a:p>
        </p:txBody>
      </p:sp>
      <p:sp>
        <p:nvSpPr>
          <p:cNvPr id="22" name="num-1"/>
          <p:cNvSpPr/>
          <p:nvPr/>
        </p:nvSpPr>
        <p:spPr>
          <a:xfrm>
            <a:off x="7388352" y="2057400"/>
            <a:ext cx="365760" cy="3657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8835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num-2"/>
          <p:cNvSpPr/>
          <p:nvPr/>
        </p:nvSpPr>
        <p:spPr>
          <a:xfrm>
            <a:off x="6537960" y="1371600"/>
            <a:ext cx="365760" cy="3657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379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num-3"/>
          <p:cNvSpPr/>
          <p:nvPr/>
        </p:nvSpPr>
        <p:spPr>
          <a:xfrm>
            <a:off x="3291840" y="2788920"/>
            <a:ext cx="365760" cy="3657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29184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num-4"/>
          <p:cNvSpPr/>
          <p:nvPr/>
        </p:nvSpPr>
        <p:spPr>
          <a:xfrm>
            <a:off x="6355080" y="3364992"/>
            <a:ext cx="365760" cy="3657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5508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المؤشرات ودورة المشروع</a:t>
            </a:r>
            <a:endParaRPr lang="ar-AE" sz="3200" dirty="0"/>
          </a:p>
        </p:txBody>
      </p:sp>
      <p:sp>
        <p:nvSpPr>
          <p:cNvPr id="3" name="screen-frame"/>
          <p:cNvSpPr/>
          <p:nvPr/>
        </p:nvSpPr>
        <p:spPr>
          <a:xfrm>
            <a:off x="493776" y="1271016"/>
            <a:ext cx="74249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4" name="screenshot" descr="/tmp/claude-0/-home-user/11b98046-3116-585b-b221-e5c2e170e62a/scratchpad/shots/03_home_kpi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1148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11219688" y="1316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19688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298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اثنا عشر مؤشراً</a:t>
            </a:r>
            <a:endParaRPr lang="ar-AE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1682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تُحسب من البيانات الفعلية، كالموافقات وسلامة الأصول.</a:t>
            </a:r>
            <a:endParaRPr lang="ar-AE" sz="1400" dirty="0"/>
          </a:p>
        </p:txBody>
      </p:sp>
      <p:sp>
        <p:nvSpPr>
          <p:cNvPr id="9" name="num-2"/>
          <p:cNvSpPr/>
          <p:nvPr/>
        </p:nvSpPr>
        <p:spPr>
          <a:xfrm>
            <a:off x="11219688" y="2459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441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خط الأساس أولاً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825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لا مستهدفات رقمية قبله؛ يثبّته المدير بعد الأشهر الأولى، ثم تُقارن القيم به.</a:t>
            </a:r>
            <a:endParaRPr lang="ar-AE" sz="1400" dirty="0"/>
          </a:p>
        </p:txBody>
      </p:sp>
      <p:sp>
        <p:nvSpPr>
          <p:cNvPr id="13" name="num-3"/>
          <p:cNvSpPr/>
          <p:nvPr/>
        </p:nvSpPr>
        <p:spPr>
          <a:xfrm>
            <a:off x="11219688" y="3602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3584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المراحل الست عشرة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968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من الفكرة إلى النشر والأرشفة، والرقم داخل كل مرحلة عدد مشاريعها.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صفحة المشروع</a:t>
            </a:r>
            <a:endParaRPr lang="ar-AE" sz="3200" dirty="0"/>
          </a:p>
        </p:txBody>
      </p:sp>
      <p:sp>
        <p:nvSpPr>
          <p:cNvPr id="3" name="screen-frame"/>
          <p:cNvSpPr/>
          <p:nvPr/>
        </p:nvSpPr>
        <p:spPr>
          <a:xfrm>
            <a:off x="493776" y="1271016"/>
            <a:ext cx="74249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4" name="screenshot" descr="/tmp/claude-0/-home-user/11b98046-3116-585b-b221-e5c2e170e62a/scratchpad/shots/06_proje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1148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11219688" y="1316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19688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298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بطاقة المشروع</a:t>
            </a:r>
            <a:endParaRPr lang="ar-AE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1682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السؤال البحثي والمجال والإمارة، مع تحرير البيانات.</a:t>
            </a:r>
            <a:endParaRPr lang="ar-AE" sz="1400" dirty="0"/>
          </a:p>
        </p:txBody>
      </p:sp>
      <p:sp>
        <p:nvSpPr>
          <p:cNvPr id="9" name="num-2"/>
          <p:cNvSpPr/>
          <p:nvPr/>
        </p:nvSpPr>
        <p:spPr>
          <a:xfrm>
            <a:off x="11219688" y="2459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441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التصدير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825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ملف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Word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بالهوية البصرية، و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JSON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، و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GeoJSON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للأطلس.</a:t>
            </a:r>
            <a:endParaRPr lang="ar-AE" sz="1400" dirty="0"/>
          </a:p>
        </p:txBody>
      </p:sp>
      <p:sp>
        <p:nvSpPr>
          <p:cNvPr id="13" name="num-3"/>
          <p:cNvSpPr/>
          <p:nvPr/>
        </p:nvSpPr>
        <p:spPr>
          <a:xfrm>
            <a:off x="11219688" y="3602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3584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مسار المشروع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968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المرحلة الحالية مضاءة، وما قبلها منجز.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بوابة الجودة وقرار المراجعة</a:t>
            </a:r>
            <a:endParaRPr lang="ar-AE" sz="3200" dirty="0"/>
          </a:p>
        </p:txBody>
      </p:sp>
      <p:sp>
        <p:nvSpPr>
          <p:cNvPr id="3" name="screen-frame"/>
          <p:cNvSpPr/>
          <p:nvPr/>
        </p:nvSpPr>
        <p:spPr>
          <a:xfrm>
            <a:off x="493776" y="1271016"/>
            <a:ext cx="74249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4" name="screenshot" descr="/tmp/claude-0/-home-user/11b98046-3116-585b-b221-e5c2e170e62a/scratchpad/shots/07_project_ga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1148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11219688" y="1316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19688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298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فحوص محسوبة</a:t>
            </a:r>
            <a:endParaRPr lang="ar-AE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1682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لكل بوابة شروط تُحسب من البيانات؛ والزر لا يعمل قبل اكتمالها.</a:t>
            </a:r>
            <a:endParaRPr lang="ar-AE" sz="1400" dirty="0"/>
          </a:p>
        </p:txBody>
      </p:sp>
      <p:sp>
        <p:nvSpPr>
          <p:cNvPr id="9" name="num-2"/>
          <p:cNvSpPr/>
          <p:nvPr/>
        </p:nvSpPr>
        <p:spPr>
          <a:xfrm>
            <a:off x="11219688" y="2459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441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قرار المراجعة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825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يسجّله الوكيل المختص أو المراجع البشري، بالتعليل.</a:t>
            </a:r>
            <a:endParaRPr lang="ar-AE" sz="1400" dirty="0"/>
          </a:p>
        </p:txBody>
      </p:sp>
      <p:sp>
        <p:nvSpPr>
          <p:cNvPr id="13" name="num-3"/>
          <p:cNvSpPr/>
          <p:nvPr/>
        </p:nvSpPr>
        <p:spPr>
          <a:xfrm>
            <a:off x="11219688" y="3602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3584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الاعتماد لا يُنتحل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968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قرار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HUM-DIR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لا يسجّله إلا حساب بصفة «مدير».</a:t>
            </a:r>
            <a:endParaRPr lang="ar-AE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596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i="1" dirty="0">
                <a:solidFill>
                  <a:schemeClr val="tx2"/>
                </a:solidFill>
                <a:latin typeface="Noto Naskh Arabic"/>
                <a:cs typeface="adwa-assalaf"/>
              </a:rPr>
              <a:t>مثال: بوابة «الموافقات» لا تُجتاز ما دامت مقابلة بلا موافقة تسجيل.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سجلات المشروع</a:t>
            </a:r>
            <a:endParaRPr lang="ar-AE" sz="3200" dirty="0"/>
          </a:p>
        </p:txBody>
      </p:sp>
      <p:sp>
        <p:nvSpPr>
          <p:cNvPr id="3" name="screen-frame"/>
          <p:cNvSpPr/>
          <p:nvPr/>
        </p:nvSpPr>
        <p:spPr>
          <a:xfrm>
            <a:off x="493776" y="1271016"/>
            <a:ext cx="74249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4" name="screenshot" descr="/tmp/claude-0/-home-user/11b98046-3116-585b-b221-e5c2e170e62a/scratchpad/shots/08_project_recor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1148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11219688" y="1316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19688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298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كل الكيانات في مكان واحد</a:t>
            </a:r>
            <a:endParaRPr lang="ar-AE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1682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المصادر والرواة والمقابلات والادعاءات والتعارضات والمعجم وغيرها، مع العدد.</a:t>
            </a:r>
            <a:endParaRPr lang="ar-AE" sz="1400" dirty="0"/>
          </a:p>
        </p:txBody>
      </p:sp>
      <p:sp>
        <p:nvSpPr>
          <p:cNvPr id="9" name="num-2"/>
          <p:cNvSpPr/>
          <p:nvPr/>
        </p:nvSpPr>
        <p:spPr>
          <a:xfrm>
            <a:off x="11219688" y="2459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441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إضافة وتصدير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825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سجل جديد مرتبط بالمشروع، وتصدير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CSV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لكل جدول.</a:t>
            </a:r>
            <a:endParaRPr lang="ar-AE" sz="1400" dirty="0"/>
          </a:p>
        </p:txBody>
      </p:sp>
      <p:sp>
        <p:nvSpPr>
          <p:cNvPr id="13" name="num-3"/>
          <p:cNvSpPr/>
          <p:nvPr/>
        </p:nvSpPr>
        <p:spPr>
          <a:xfrm>
            <a:off x="11219688" y="3602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3584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الشركاء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968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دعوة مؤلف مشارك أو مطّلع في نمط الفريق.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السجلات المعرفية</a:t>
            </a:r>
            <a:endParaRPr lang="ar-AE" sz="3200" dirty="0"/>
          </a:p>
        </p:txBody>
      </p:sp>
      <p:sp>
        <p:nvSpPr>
          <p:cNvPr id="3" name="screen-frame"/>
          <p:cNvSpPr/>
          <p:nvPr/>
        </p:nvSpPr>
        <p:spPr>
          <a:xfrm>
            <a:off x="493776" y="1271016"/>
            <a:ext cx="74249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4" name="screenshot" descr="/tmp/claude-0/-home-user/11b98046-3116-585b-b221-e5c2e170e62a/scratchpad/shots/09_archi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1148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11219688" y="1316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19688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298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سبعة وعشرون كياناً</a:t>
            </a:r>
            <a:endParaRPr lang="ar-AE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1682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مجمّعة في عشر مجموعات: المصادر والأدلة، والتاريخ الشفهي، والوسائط، والوثائق…</a:t>
            </a:r>
            <a:endParaRPr lang="ar-AE" sz="1400" dirty="0"/>
          </a:p>
        </p:txBody>
      </p:sp>
      <p:sp>
        <p:nvSpPr>
          <p:cNvPr id="9" name="num-2"/>
          <p:cNvSpPr/>
          <p:nvPr/>
        </p:nvSpPr>
        <p:spPr>
          <a:xfrm>
            <a:off x="11219688" y="2459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441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نماذج مولّدة من المخطط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825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حقول كل كيان بأسمائها العربية وقوائمها المضبوطة.</a:t>
            </a:r>
            <a:endParaRPr lang="ar-AE" sz="1400" dirty="0"/>
          </a:p>
        </p:txBody>
      </p:sp>
      <p:sp>
        <p:nvSpPr>
          <p:cNvPr id="13" name="num-3"/>
          <p:cNvSpPr/>
          <p:nvPr/>
        </p:nvSpPr>
        <p:spPr>
          <a:xfrm>
            <a:off x="11219688" y="3602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3584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سجل التغييرات والمشاركة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968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كل تعديل محفوظ بقيمته قبل وبعد، ومشاركة سجل بعينه لمستخدم بعينه.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الخزنة والوسائط</a:t>
            </a:r>
            <a:endParaRPr lang="ar-AE" sz="3200" dirty="0"/>
          </a:p>
        </p:txBody>
      </p:sp>
      <p:sp>
        <p:nvSpPr>
          <p:cNvPr id="3" name="screen-frame"/>
          <p:cNvSpPr/>
          <p:nvPr/>
        </p:nvSpPr>
        <p:spPr>
          <a:xfrm>
            <a:off x="493776" y="1271016"/>
            <a:ext cx="74249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4" name="screenshot" descr="/tmp/claude-0/-home-user/11b98046-3116-585b-b221-e5c2e170e62a/scratchpad/shots/11_vaul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1148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11219688" y="1316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19688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298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إيداع بالسحب والإفلات</a:t>
            </a:r>
            <a:endParaRPr lang="ar-AE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1682496"/>
            <a:ext cx="2889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صوت وصورة وفيديو ووثائق، مع المصدر والحقوق والمودِع.</a:t>
            </a:r>
            <a:endParaRPr lang="ar-AE" sz="1400" dirty="0"/>
          </a:p>
        </p:txBody>
      </p:sp>
      <p:sp>
        <p:nvSpPr>
          <p:cNvPr id="9" name="num-2"/>
          <p:cNvSpPr/>
          <p:nvPr/>
        </p:nvSpPr>
        <p:spPr>
          <a:xfrm>
            <a:off x="11219688" y="236829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35000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الأصل لا يُعدَّل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734056"/>
            <a:ext cx="2889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بصمة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SHA-256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، ونسخة للقراءة فقط، وكشف أي عبث.</a:t>
            </a:r>
            <a:endParaRPr lang="ar-AE" sz="1400" dirty="0"/>
          </a:p>
        </p:txBody>
      </p:sp>
      <p:sp>
        <p:nvSpPr>
          <p:cNvPr id="13" name="num-3"/>
          <p:cNvSpPr/>
          <p:nvPr/>
        </p:nvSpPr>
        <p:spPr>
          <a:xfrm>
            <a:off x="11219688" y="341985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340156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السلامة والنسخ الاحتياطي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785616"/>
            <a:ext cx="2889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زر لكل منهما، والنسخة ببيان بصمات.</a:t>
            </a:r>
            <a:endParaRPr lang="ar-AE" sz="1400" dirty="0"/>
          </a:p>
        </p:txBody>
      </p:sp>
      <p:sp>
        <p:nvSpPr>
          <p:cNvPr id="17" name="num-4"/>
          <p:cNvSpPr/>
          <p:nvPr/>
        </p:nvSpPr>
        <p:spPr>
          <a:xfrm>
            <a:off x="11219688" y="447141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471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45312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حماية المواقع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837176"/>
            <a:ext cx="2889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الصورة التي تحمل إحداثيات تُعلَّم «يحمل موقعاً» قبل أي نشر.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المختبر السمعي واللغوي</a:t>
            </a:r>
            <a:endParaRPr lang="ar-AE" sz="3200" dirty="0"/>
          </a:p>
        </p:txBody>
      </p:sp>
      <p:sp>
        <p:nvSpPr>
          <p:cNvPr id="3" name="screen-frame"/>
          <p:cNvSpPr/>
          <p:nvPr/>
        </p:nvSpPr>
        <p:spPr>
          <a:xfrm>
            <a:off x="493776" y="1271016"/>
            <a:ext cx="74249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4" name="screenshot" descr="/tmp/claude-0/-home-user/11b98046-3116-585b-b221-e5c2e170e62a/scratchpad/shots/12_la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1148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11219688" y="1316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19688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298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القاعدة الإلزامية</a:t>
            </a:r>
            <a:endParaRPr lang="ar-AE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1682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لا يُستبدل اللفظ المحلي بالفصحى في التفريغ الحرفي، ولا يُخمَّن ما لم يُفهم.</a:t>
            </a:r>
            <a:endParaRPr lang="ar-AE" sz="1400" dirty="0"/>
          </a:p>
        </p:txBody>
      </p:sp>
      <p:sp>
        <p:nvSpPr>
          <p:cNvPr id="9" name="num-2"/>
          <p:cNvSpPr/>
          <p:nvPr/>
        </p:nvSpPr>
        <p:spPr>
          <a:xfrm>
            <a:off x="11219688" y="2459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441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اثنتا عشرة مرحلة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825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من تسجيل المصدر والبصمة إلى المراجعة البشرية ومراجعة الخصوصية.</a:t>
            </a:r>
            <a:endParaRPr lang="ar-AE" sz="1400" dirty="0"/>
          </a:p>
        </p:txBody>
      </p:sp>
      <p:sp>
        <p:nvSpPr>
          <p:cNvPr id="13" name="num-3"/>
          <p:cNvSpPr/>
          <p:nvPr/>
        </p:nvSpPr>
        <p:spPr>
          <a:xfrm>
            <a:off x="11219688" y="3602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3584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قائمة المقابلات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968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بحالة التفريغ: لا تفريغ، مسودة، روجع لهجياً، معتمد.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تفريغ مقابلة</a:t>
            </a:r>
            <a:endParaRPr lang="ar-AE" sz="3200" dirty="0"/>
          </a:p>
        </p:txBody>
      </p:sp>
      <p:sp>
        <p:nvSpPr>
          <p:cNvPr id="3" name="screen-frame"/>
          <p:cNvSpPr/>
          <p:nvPr/>
        </p:nvSpPr>
        <p:spPr>
          <a:xfrm>
            <a:off x="493776" y="1271016"/>
            <a:ext cx="74249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4" name="screenshot" descr="/tmp/claude-0/-home-user/11b98046-3116-585b-b221-e5c2e170e62a/scratchpad/shots/13_lab_deta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1148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11219688" y="1316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19688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298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الأصل والتقدم</a:t>
            </a:r>
            <a:endParaRPr lang="ar-AE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1682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مشغّل التسجيل، والبصمة، وعدد المراحل المنجزة.</a:t>
            </a:r>
            <a:endParaRPr lang="ar-AE" sz="1400" dirty="0"/>
          </a:p>
        </p:txBody>
      </p:sp>
      <p:sp>
        <p:nvSpPr>
          <p:cNvPr id="9" name="num-2"/>
          <p:cNvSpPr/>
          <p:nvPr/>
        </p:nvSpPr>
        <p:spPr>
          <a:xfrm>
            <a:off x="11219688" y="2459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441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المراحل بالنقر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825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الآلية تتم عند الإيداع، والبشرية مؤطرة بالذهبي.</a:t>
            </a:r>
            <a:endParaRPr lang="ar-AE" sz="1400" dirty="0"/>
          </a:p>
        </p:txBody>
      </p:sp>
      <p:sp>
        <p:nvSpPr>
          <p:cNvPr id="13" name="num-3"/>
          <p:cNvSpPr/>
          <p:nvPr/>
        </p:nvSpPr>
        <p:spPr>
          <a:xfrm>
            <a:off x="11219688" y="3602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3584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نسختان متوازيتان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968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حرفية بطوابع زمنية، ومقروءة لا تحل محلها؛ وتصدير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SRT.</a:t>
            </a:r>
            <a:endParaRPr lang="ar-AE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596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i="1" dirty="0">
                <a:solidFill>
                  <a:schemeClr val="tx2"/>
                </a:solidFill>
                <a:latin typeface="Noto Naskh Arabic"/>
                <a:cs typeface="adwa-assalaf"/>
              </a:rPr>
              <a:t>المقابلة في الصورة بيانات تجريبية للعرض، لا شهادة حقيقية.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الأدلة والتثليث</a:t>
            </a:r>
            <a:endParaRPr lang="ar-AE" sz="3200" dirty="0"/>
          </a:p>
        </p:txBody>
      </p:sp>
      <p:sp>
        <p:nvSpPr>
          <p:cNvPr id="3" name="screen-frame"/>
          <p:cNvSpPr/>
          <p:nvPr/>
        </p:nvSpPr>
        <p:spPr>
          <a:xfrm>
            <a:off x="493776" y="1271016"/>
            <a:ext cx="74249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4" name="screenshot" descr="/tmp/claude-0/-home-user/11b98046-3116-585b-b221-e5c2e170e62a/scratchpad/shots/16_claim_c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1148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11219688" y="1316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19688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298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أصناف الأدلة الستة</a:t>
            </a:r>
            <a:endParaRPr lang="ar-AE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1682496"/>
            <a:ext cx="2889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شهادة، ووثيقة، ودليل مادي، وصورة، وشعر، ورواية مستقلة.</a:t>
            </a:r>
            <a:endParaRPr lang="ar-AE" sz="1400" dirty="0"/>
          </a:p>
        </p:txBody>
      </p:sp>
      <p:sp>
        <p:nvSpPr>
          <p:cNvPr id="9" name="num-2"/>
          <p:cNvSpPr/>
          <p:nvPr/>
        </p:nvSpPr>
        <p:spPr>
          <a:xfrm>
            <a:off x="11219688" y="236829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35000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الاستقلال لا العدد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734056"/>
            <a:ext cx="2889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الشهادات المنقولة عن أصل واحد تُعدّ شهادة واحدة.</a:t>
            </a:r>
            <a:endParaRPr lang="ar-AE" sz="1400" dirty="0"/>
          </a:p>
        </p:txBody>
      </p:sp>
      <p:sp>
        <p:nvSpPr>
          <p:cNvPr id="13" name="num-3"/>
          <p:cNvSpPr/>
          <p:nvPr/>
        </p:nvSpPr>
        <p:spPr>
          <a:xfrm>
            <a:off x="11219688" y="341985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340156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حالة مقترحة من الأدلة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785616"/>
            <a:ext cx="2889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والصحافة وحدها لا تُثبت واقعة جوهرية.</a:t>
            </a:r>
            <a:endParaRPr lang="ar-AE" sz="1400" dirty="0"/>
          </a:p>
        </p:txBody>
      </p:sp>
      <p:sp>
        <p:nvSpPr>
          <p:cNvPr id="17" name="num-4"/>
          <p:cNvSpPr/>
          <p:nvPr/>
        </p:nvSpPr>
        <p:spPr>
          <a:xfrm>
            <a:off x="11219688" y="447141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471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45312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ربط دليل جديد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837176"/>
            <a:ext cx="2889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بالموضع والشاهد وأصل الشهادة.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سجل التعارضات</a:t>
            </a:r>
            <a:endParaRPr lang="ar-AE" sz="3200" dirty="0"/>
          </a:p>
        </p:txBody>
      </p:sp>
      <p:sp>
        <p:nvSpPr>
          <p:cNvPr id="3" name="screen-frame"/>
          <p:cNvSpPr/>
          <p:nvPr/>
        </p:nvSpPr>
        <p:spPr>
          <a:xfrm>
            <a:off x="493776" y="1271016"/>
            <a:ext cx="74249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4" name="screenshot" descr="/tmp/claude-0/-home-user/11b98046-3116-585b-b221-e5c2e170e62a/scratchpad/shots/17_conflic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1148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11219688" y="1316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19688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298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لا تسوية مصطنعة</a:t>
            </a:r>
            <a:endParaRPr lang="ar-AE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1682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تُحفظ الروايات المتباينة بأسانيدها، مفتوحة حتى يحسمها دليل.</a:t>
            </a:r>
            <a:endParaRPr lang="ar-AE" sz="1400" dirty="0"/>
          </a:p>
        </p:txBody>
      </p:sp>
      <p:sp>
        <p:nvSpPr>
          <p:cNvPr id="9" name="num-2"/>
          <p:cNvSpPr/>
          <p:nvPr/>
        </p:nvSpPr>
        <p:spPr>
          <a:xfrm>
            <a:off x="11219688" y="2459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441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من النموذج التطبيقي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825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سبعة تعارضات في «التلي»، منها عدد الخيوط ومعنى «الكاجوجة».</a:t>
            </a:r>
            <a:endParaRPr lang="ar-AE" sz="1400" dirty="0"/>
          </a:p>
        </p:txBody>
      </p:sp>
      <p:sp>
        <p:nvSpPr>
          <p:cNvPr id="13" name="num-3"/>
          <p:cNvSpPr/>
          <p:nvPr/>
        </p:nvSpPr>
        <p:spPr>
          <a:xfrm>
            <a:off x="11219688" y="3602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3584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شرط بوابة التحليل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968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لا انتقال قبل تحليل كل تعارض.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الوكلاء العشرون</a:t>
            </a:r>
            <a:endParaRPr lang="ar-AE" sz="3200" dirty="0"/>
          </a:p>
        </p:txBody>
      </p:sp>
      <p:sp>
        <p:nvSpPr>
          <p:cNvPr id="3" name="screen-frame"/>
          <p:cNvSpPr/>
          <p:nvPr/>
        </p:nvSpPr>
        <p:spPr>
          <a:xfrm>
            <a:off x="493776" y="1271016"/>
            <a:ext cx="74249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4" name="screenshot" descr="/tmp/claude-0/-home-user/11b98046-3116-585b-b221-e5c2e170e62a/scratchpad/shots/18_age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1148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11219688" y="1316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19688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298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الهيكل التنظيمي</a:t>
            </a:r>
            <a:endParaRPr lang="ar-AE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1682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المراجع البشري، فالمدير التنفيذي، فعشر وحدات متخصصة.</a:t>
            </a:r>
            <a:endParaRPr lang="ar-AE" sz="1400" dirty="0"/>
          </a:p>
        </p:txBody>
      </p:sp>
      <p:sp>
        <p:nvSpPr>
          <p:cNvPr id="9" name="num-2"/>
          <p:cNvSpPr/>
          <p:nvPr/>
        </p:nvSpPr>
        <p:spPr>
          <a:xfrm>
            <a:off x="11219688" y="2459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441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بطاقات تشغيلية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825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لكل وكيل موجه نظام مستقل، وصلاحيات ومحظورات، وإجراءات، وتسليم.</a:t>
            </a:r>
            <a:endParaRPr lang="ar-AE" sz="1400" dirty="0"/>
          </a:p>
        </p:txBody>
      </p:sp>
      <p:sp>
        <p:nvSpPr>
          <p:cNvPr id="13" name="num-3"/>
          <p:cNvSpPr/>
          <p:nvPr/>
        </p:nvSpPr>
        <p:spPr>
          <a:xfrm>
            <a:off x="11219688" y="3602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3584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سجل التكليفات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968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كل تكليف محفوظ بمحركه وحالته؛ والمخرج مسودة حتى المراجعة.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بطاقة الوكيل وتكليفه</a:t>
            </a:r>
            <a:endParaRPr lang="ar-AE" sz="3200" dirty="0"/>
          </a:p>
        </p:txBody>
      </p:sp>
      <p:sp>
        <p:nvSpPr>
          <p:cNvPr id="3" name="screen-frame"/>
          <p:cNvSpPr/>
          <p:nvPr/>
        </p:nvSpPr>
        <p:spPr>
          <a:xfrm>
            <a:off x="6117336" y="1316736"/>
            <a:ext cx="5577840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4" name="screenshot" descr="/tmp/claude-0/-home-user/11b98046-3116-585b-b221-e5c2e170e62a/scratchpad/shots/19_agent_c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371600"/>
            <a:ext cx="5468112" cy="3072384"/>
          </a:xfrm>
          <a:prstGeom prst="rect">
            <a:avLst/>
          </a:prstGeom>
        </p:spPr>
      </p:pic>
      <p:sp>
        <p:nvSpPr>
          <p:cNvPr id="5" name="screen-frame"/>
          <p:cNvSpPr/>
          <p:nvPr/>
        </p:nvSpPr>
        <p:spPr>
          <a:xfrm>
            <a:off x="493776" y="1316736"/>
            <a:ext cx="5577840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6" name="screenshot" descr="/tmp/claude-0/-home-user/11b98046-3116-585b-b221-e5c2e170e62a/scratchpad/shots/21_agent_run_resul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468112" cy="3072384"/>
          </a:xfrm>
          <a:prstGeom prst="rect">
            <a:avLst/>
          </a:prstGeom>
        </p:spPr>
      </p:pic>
      <p:sp>
        <p:nvSpPr>
          <p:cNvPr id="7" name="num-1"/>
          <p:cNvSpPr/>
          <p:nvPr/>
        </p:nvSpPr>
        <p:spPr>
          <a:xfrm>
            <a:off x="11219688" y="47091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1219688" y="4709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172200" y="4681728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البطاقة الكاملة</a:t>
            </a:r>
            <a:endParaRPr lang="ar-AE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172200" y="5102352"/>
            <a:ext cx="4901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موجه النظام، والاختصاص، والأدوات والبيانات، والإجراءات والتسليم، والمخرجات والجودة.</a:t>
            </a:r>
            <a:endParaRPr lang="ar-AE" sz="1400" dirty="0"/>
          </a:p>
        </p:txBody>
      </p:sp>
      <p:sp>
        <p:nvSpPr>
          <p:cNvPr id="11" name="num-2"/>
          <p:cNvSpPr/>
          <p:nvPr/>
        </p:nvSpPr>
        <p:spPr>
          <a:xfrm>
            <a:off x="5596128" y="47091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596128" y="4709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681728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التكليف وحزمته</a:t>
            </a:r>
            <a:endParaRPr lang="ar-AE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102352"/>
            <a:ext cx="4901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يُشغَّل الوكيل عبر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Claude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Code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أو مفتاح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API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إن توفرا، وإلا أُنتجت حزمة تكليف جاهزة للّصق.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المهارات الأربع عشرة</a:t>
            </a:r>
            <a:endParaRPr lang="ar-AE" sz="3200" dirty="0"/>
          </a:p>
        </p:txBody>
      </p:sp>
      <p:sp>
        <p:nvSpPr>
          <p:cNvPr id="3" name="screen-frame"/>
          <p:cNvSpPr/>
          <p:nvPr/>
        </p:nvSpPr>
        <p:spPr>
          <a:xfrm>
            <a:off x="493776" y="1271016"/>
            <a:ext cx="74249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4" name="screenshot" descr="/tmp/claude-0/-home-user/11b98046-3116-585b-b221-e5c2e170e62a/scratchpad/shots/22_skil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1148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11219688" y="1316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19688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298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أوامر مؤسسية</a:t>
            </a:r>
            <a:endParaRPr lang="ar-AE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1682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«ابحث تراثياً»، و«فرغ مقابلة»، و«حقق رواية»، و«دقق المصادر»…</a:t>
            </a:r>
            <a:endParaRPr lang="ar-AE" sz="1400" dirty="0"/>
          </a:p>
        </p:txBody>
      </p:sp>
      <p:sp>
        <p:nvSpPr>
          <p:cNvPr id="9" name="num-2"/>
          <p:cNvSpPr/>
          <p:nvPr/>
        </p:nvSpPr>
        <p:spPr>
          <a:xfrm>
            <a:off x="11219688" y="2459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441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لكل أمر وكيله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825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بإجراءات ومخرجات إلزامية، ومرحلته في دورة المشروع.</a:t>
            </a:r>
            <a:endParaRPr lang="ar-AE" sz="1400" dirty="0"/>
          </a:p>
        </p:txBody>
      </p:sp>
      <p:sp>
        <p:nvSpPr>
          <p:cNvPr id="13" name="num-3"/>
          <p:cNvSpPr/>
          <p:nvPr/>
        </p:nvSpPr>
        <p:spPr>
          <a:xfrm>
            <a:off x="11219688" y="3602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3584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في </a:t>
            </a:r>
            <a:r>
              <a:rPr lang="ar-AE" altLang="en-US" sz="1600" b="1" dirty="0">
                <a:solidFill>
                  <a:schemeClr val="accent1"/>
                </a:solidFill>
                <a:latin typeface="Calibri"/>
                <a:cs typeface="Calibri"/>
              </a:rPr>
              <a:t>Claude</a:t>
            </a: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 </a:t>
            </a:r>
            <a:r>
              <a:rPr lang="ar-AE" altLang="en-US" sz="1600" b="1" dirty="0">
                <a:solidFill>
                  <a:schemeClr val="accent1"/>
                </a:solidFill>
                <a:latin typeface="Calibri"/>
                <a:cs typeface="Calibri"/>
              </a:rPr>
              <a:t>Code</a:t>
            </a: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 أيضاً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968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الأوامر نفسها مهارات قابلة للاستدعاء داخل المستودع.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لوحة القيادة</a:t>
            </a:r>
            <a:endParaRPr lang="ar-AE" sz="3200" dirty="0"/>
          </a:p>
        </p:txBody>
      </p:sp>
      <p:sp>
        <p:nvSpPr>
          <p:cNvPr id="3" name="screen-frame"/>
          <p:cNvSpPr/>
          <p:nvPr/>
        </p:nvSpPr>
        <p:spPr>
          <a:xfrm>
            <a:off x="493776" y="1271016"/>
            <a:ext cx="74249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4" name="screenshot" descr="/tmp/claude-0/-home-user/11b98046-3116-585b-b221-e5c2e170e62a/scratchpad/shots/24_kpi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1148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11219688" y="1316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19688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298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كل المشاريع أو مشروع واحد</a:t>
            </a:r>
            <a:endParaRPr lang="ar-AE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1682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اختيار من القائمة أعلى الشاشة.</a:t>
            </a:r>
            <a:endParaRPr lang="ar-AE" sz="1400" dirty="0"/>
          </a:p>
        </p:txBody>
      </p:sp>
      <p:sp>
        <p:nvSpPr>
          <p:cNvPr id="9" name="num-2"/>
          <p:cNvSpPr/>
          <p:nvPr/>
        </p:nvSpPr>
        <p:spPr>
          <a:xfrm>
            <a:off x="11219688" y="2459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441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تثبيت خط الأساس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825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قرار بشري للمدير يُسجَّل، ثم تظهر القيمة الأساس تحت كل مؤشر.</a:t>
            </a:r>
            <a:endParaRPr lang="ar-AE" sz="1400" dirty="0"/>
          </a:p>
        </p:txBody>
      </p:sp>
      <p:sp>
        <p:nvSpPr>
          <p:cNvPr id="13" name="num-3"/>
          <p:cNvSpPr/>
          <p:nvPr/>
        </p:nvSpPr>
        <p:spPr>
          <a:xfrm>
            <a:off x="11219688" y="360273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358444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طريقة الحساب معلنة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96849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كل مؤشر معرّف إجرائياً أسفل الشاشة.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الوثائق والإعدادات والبحث</a:t>
            </a:r>
            <a:endParaRPr lang="ar-AE" sz="3200" dirty="0"/>
          </a:p>
        </p:txBody>
      </p:sp>
      <p:sp>
        <p:nvSpPr>
          <p:cNvPr id="3" name="screen-frame"/>
          <p:cNvSpPr/>
          <p:nvPr/>
        </p:nvSpPr>
        <p:spPr>
          <a:xfrm>
            <a:off x="7991856" y="1362456"/>
            <a:ext cx="3630168" cy="209031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4" name="screenshot" descr="/tmp/claude-0/-home-user/11b98046-3116-585b-b221-e5c2e170e62a/scratchpad/shots/25_doc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417320"/>
            <a:ext cx="3520440" cy="198059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11146536" y="365760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146536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36393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الوثائق والاستمارات</a:t>
            </a:r>
            <a:endParaRPr lang="ar-AE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1148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تسع عشرة وثيقة تُقرأ وتُطبع، منها استمارة المقابلة ونموذج الموافقة.</a:t>
            </a:r>
            <a:endParaRPr lang="ar-AE" sz="1400" dirty="0"/>
          </a:p>
        </p:txBody>
      </p:sp>
      <p:sp>
        <p:nvSpPr>
          <p:cNvPr id="9" name="screen-frame"/>
          <p:cNvSpPr/>
          <p:nvPr/>
        </p:nvSpPr>
        <p:spPr>
          <a:xfrm>
            <a:off x="4242816" y="1362456"/>
            <a:ext cx="3630168" cy="209031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10" name="screenshot" descr="/tmp/claude-0/-home-user/11b98046-3116-585b-b221-e5c2e170e62a/scratchpad/shots/26_setting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3520440" cy="1980590"/>
          </a:xfrm>
          <a:prstGeom prst="rect">
            <a:avLst/>
          </a:prstGeom>
        </p:spPr>
      </p:pic>
      <p:sp>
        <p:nvSpPr>
          <p:cNvPr id="11" name="num-2"/>
          <p:cNvSpPr/>
          <p:nvPr/>
        </p:nvSpPr>
        <p:spPr>
          <a:xfrm>
            <a:off x="7397496" y="365760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97496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297680" y="36393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الإعدادات</a:t>
            </a:r>
            <a:endParaRPr lang="ar-AE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297680" y="41148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أنماط التشغيل، ومحرك الوكلاء، والحسابات، وخط الهوية وتثبيته في النظام، واعتماد أيقونة البرنامج.</a:t>
            </a:r>
            <a:endParaRPr lang="ar-AE" sz="1400" dirty="0"/>
          </a:p>
        </p:txBody>
      </p:sp>
      <p:sp>
        <p:nvSpPr>
          <p:cNvPr id="15" name="screen-frame"/>
          <p:cNvSpPr/>
          <p:nvPr/>
        </p:nvSpPr>
        <p:spPr>
          <a:xfrm>
            <a:off x="493776" y="1362456"/>
            <a:ext cx="3630168" cy="209031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16" name="screenshot" descr="/tmp/claude-0/-home-user/11b98046-3116-585b-b221-e5c2e170e62a/scratchpad/shots/27_search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3520440" cy="1980590"/>
          </a:xfrm>
          <a:prstGeom prst="rect">
            <a:avLst/>
          </a:prstGeom>
        </p:spPr>
      </p:pic>
      <p:sp>
        <p:nvSpPr>
          <p:cNvPr id="17" name="num-3"/>
          <p:cNvSpPr/>
          <p:nvPr/>
        </p:nvSpPr>
        <p:spPr>
          <a:xfrm>
            <a:off x="3648456" y="365760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648456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36393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البحث الشامل</a:t>
            </a:r>
            <a:endParaRPr lang="ar-AE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41148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النتيجة مظلَّلة بموضعها، ونقرة تفتح سجلها.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ction-art" descr="/tmp/claude-0/-home-user/11b98046-3116-585b-b221-e5c2e170e62a/scratchpad/deck/assets/photos/la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486400" cy="65836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035040" y="251460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4000" b="1" dirty="0">
                <a:solidFill>
                  <a:schemeClr val="bg1"/>
                </a:solidFill>
                <a:latin typeface="Noto Naskh Arabic"/>
                <a:cs typeface="adwa-assalaf"/>
              </a:rPr>
              <a:t>الاستخدام</a:t>
            </a:r>
            <a:endParaRPr lang="ar-AE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35040" y="361188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AE" altLang="en-US" sz="1800" dirty="0">
                <a:solidFill>
                  <a:srgbClr val="D9E4F0"/>
                </a:solidFill>
                <a:latin typeface="Noto Naskh Arabic"/>
                <a:cs typeface="adwa-assalaf"/>
              </a:rPr>
              <a:t>كيف يسير بحث تراثي في المنصة من الفكرة إلى النشر.</a:t>
            </a:r>
            <a:endParaRPr lang="ar-AE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رحلة بحث كاملة في سبع محطات</a:t>
            </a:r>
            <a:endParaRPr lang="ar-AE" sz="3200" dirty="0"/>
          </a:p>
        </p:txBody>
      </p:sp>
      <p:sp>
        <p:nvSpPr>
          <p:cNvPr id="3" name="journey-line"/>
          <p:cNvSpPr/>
          <p:nvPr/>
        </p:nvSpPr>
        <p:spPr>
          <a:xfrm>
            <a:off x="1280160" y="2176272"/>
            <a:ext cx="9628632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dash"/>
          </a:ln>
        </p:spPr>
      </p:sp>
      <p:sp>
        <p:nvSpPr>
          <p:cNvPr id="4" name="icon-folder"/>
          <p:cNvSpPr/>
          <p:nvPr/>
        </p:nvSpPr>
        <p:spPr>
          <a:xfrm>
            <a:off x="10524744" y="1691640"/>
            <a:ext cx="768096" cy="7680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/tmp/claude-0/-home-user/11b98046-3116-585b-b221-e5c2e170e62a/scratchpad/deck/assets/i-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1883664"/>
            <a:ext cx="384048" cy="384048"/>
          </a:xfrm>
          <a:prstGeom prst="rect">
            <a:avLst/>
          </a:prstGeom>
        </p:spPr>
      </p:pic>
      <p:sp>
        <p:nvSpPr>
          <p:cNvPr id="6" name="num-1"/>
          <p:cNvSpPr/>
          <p:nvPr/>
        </p:nvSpPr>
        <p:spPr>
          <a:xfrm>
            <a:off x="11183112" y="157276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8311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177272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chemeClr val="accent1"/>
                </a:solidFill>
                <a:latin typeface="Noto Naskh Arabic"/>
                <a:cs typeface="adwa-assalaf"/>
              </a:rPr>
              <a:t>مشروع جديد</a:t>
            </a:r>
            <a:endParaRPr lang="ar-AE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177272" y="3063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chemeClr val="tx2"/>
                </a:solidFill>
                <a:latin typeface="Noto Naskh Arabic"/>
                <a:cs typeface="adwa-assalaf"/>
              </a:rPr>
              <a:t>السؤال والفجوة والنطاق</a:t>
            </a:r>
            <a:endParaRPr lang="ar-AE" sz="1300" dirty="0"/>
          </a:p>
        </p:txBody>
      </p:sp>
      <p:sp>
        <p:nvSpPr>
          <p:cNvPr id="10" name="icon-book"/>
          <p:cNvSpPr/>
          <p:nvPr/>
        </p:nvSpPr>
        <p:spPr>
          <a:xfrm>
            <a:off x="8919972" y="1691640"/>
            <a:ext cx="768096" cy="7680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mage 1" descr="/tmp/claude-0/-home-user/11b98046-3116-585b-b221-e5c2e170e62a/scratchpad/deck/assets/i-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996" y="1883664"/>
            <a:ext cx="384048" cy="384048"/>
          </a:xfrm>
          <a:prstGeom prst="rect">
            <a:avLst/>
          </a:prstGeom>
        </p:spPr>
      </p:pic>
      <p:sp>
        <p:nvSpPr>
          <p:cNvPr id="12" name="num-2"/>
          <p:cNvSpPr/>
          <p:nvPr/>
        </p:nvSpPr>
        <p:spPr>
          <a:xfrm>
            <a:off x="9578340" y="157276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57834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57250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المصادر</a:t>
            </a:r>
            <a:endParaRPr lang="ar-AE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572500" y="3063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chemeClr val="tx2"/>
                </a:solidFill>
                <a:latin typeface="Noto Naskh Arabic"/>
                <a:cs typeface="adwa-assalaf"/>
              </a:rPr>
              <a:t>تسجيلها وتصنيفها في الهرم</a:t>
            </a:r>
            <a:endParaRPr lang="ar-AE" sz="1300" dirty="0"/>
          </a:p>
        </p:txBody>
      </p:sp>
      <p:sp>
        <p:nvSpPr>
          <p:cNvPr id="16" name="icon-handshake"/>
          <p:cNvSpPr/>
          <p:nvPr/>
        </p:nvSpPr>
        <p:spPr>
          <a:xfrm>
            <a:off x="7315200" y="1691640"/>
            <a:ext cx="768096" cy="76809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Image 2" descr="/tmp/claude-0/-home-user/11b98046-3116-585b-b221-e5c2e170e62a/scratchpad/deck/assets/i-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1883664"/>
            <a:ext cx="384048" cy="384048"/>
          </a:xfrm>
          <a:prstGeom prst="rect">
            <a:avLst/>
          </a:prstGeom>
        </p:spPr>
      </p:pic>
      <p:sp>
        <p:nvSpPr>
          <p:cNvPr id="18" name="num-3"/>
          <p:cNvSpPr/>
          <p:nvPr/>
        </p:nvSpPr>
        <p:spPr>
          <a:xfrm>
            <a:off x="7973568" y="157276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9735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967728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الموافقات</a:t>
            </a:r>
            <a:endParaRPr lang="ar-AE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967728" y="3063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chemeClr val="tx2"/>
                </a:solidFill>
                <a:latin typeface="Noto Naskh Arabic"/>
                <a:cs typeface="adwa-assalaf"/>
              </a:rPr>
              <a:t>قبل أي تسجيل</a:t>
            </a:r>
            <a:endParaRPr lang="ar-AE" sz="1300" dirty="0"/>
          </a:p>
        </p:txBody>
      </p:sp>
      <p:sp>
        <p:nvSpPr>
          <p:cNvPr id="22" name="icon-mic"/>
          <p:cNvSpPr/>
          <p:nvPr/>
        </p:nvSpPr>
        <p:spPr>
          <a:xfrm>
            <a:off x="5710428" y="1691640"/>
            <a:ext cx="768096" cy="7680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Image 3" descr="/tmp/claude-0/-home-user/11b98046-3116-585b-b221-e5c2e170e62a/scratchpad/deck/assets/i-m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452" y="1883664"/>
            <a:ext cx="384048" cy="384048"/>
          </a:xfrm>
          <a:prstGeom prst="rect">
            <a:avLst/>
          </a:prstGeom>
        </p:spPr>
      </p:pic>
      <p:sp>
        <p:nvSpPr>
          <p:cNvPr id="24" name="num-4"/>
          <p:cNvSpPr/>
          <p:nvPr/>
        </p:nvSpPr>
        <p:spPr>
          <a:xfrm>
            <a:off x="6368796" y="157276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368796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362956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الجمع والتفريغ</a:t>
            </a:r>
            <a:endParaRPr lang="ar-AE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5362956" y="3063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chemeClr val="tx2"/>
                </a:solidFill>
                <a:latin typeface="Noto Naskh Arabic"/>
                <a:cs typeface="adwa-assalaf"/>
              </a:rPr>
              <a:t>الخزنة ثم المختبر</a:t>
            </a:r>
            <a:endParaRPr lang="ar-AE" sz="1300" dirty="0"/>
          </a:p>
        </p:txBody>
      </p:sp>
      <p:sp>
        <p:nvSpPr>
          <p:cNvPr id="28" name="icon-shield"/>
          <p:cNvSpPr/>
          <p:nvPr/>
        </p:nvSpPr>
        <p:spPr>
          <a:xfrm>
            <a:off x="4105656" y="1691640"/>
            <a:ext cx="768096" cy="76809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9" name="Image 4" descr="/tmp/claude-0/-home-user/11b98046-3116-585b-b221-e5c2e170e62a/scratchpad/deck/assets/i-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883664"/>
            <a:ext cx="384048" cy="384048"/>
          </a:xfrm>
          <a:prstGeom prst="rect">
            <a:avLst/>
          </a:prstGeom>
        </p:spPr>
      </p:pic>
      <p:sp>
        <p:nvSpPr>
          <p:cNvPr id="30" name="num-5"/>
          <p:cNvSpPr/>
          <p:nvPr/>
        </p:nvSpPr>
        <p:spPr>
          <a:xfrm>
            <a:off x="4764024" y="157276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4764024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3758184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الادعاءات والأدلة</a:t>
            </a:r>
            <a:endParaRPr lang="ar-AE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3758184" y="3063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chemeClr val="tx2"/>
                </a:solidFill>
                <a:latin typeface="Noto Naskh Arabic"/>
                <a:cs typeface="adwa-assalaf"/>
              </a:rPr>
              <a:t>التثليث والتعارضات</a:t>
            </a:r>
            <a:endParaRPr lang="ar-AE" sz="1300" dirty="0"/>
          </a:p>
        </p:txBody>
      </p:sp>
      <p:sp>
        <p:nvSpPr>
          <p:cNvPr id="34" name="icon-people"/>
          <p:cNvSpPr/>
          <p:nvPr/>
        </p:nvSpPr>
        <p:spPr>
          <a:xfrm>
            <a:off x="2500884" y="1691640"/>
            <a:ext cx="768096" cy="7680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mage 5" descr="/tmp/claude-0/-home-user/11b98046-3116-585b-b221-e5c2e170e62a/scratchpad/deck/assets/i-peo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2908" y="1883664"/>
            <a:ext cx="384048" cy="384048"/>
          </a:xfrm>
          <a:prstGeom prst="rect">
            <a:avLst/>
          </a:prstGeom>
        </p:spPr>
      </p:pic>
      <p:sp>
        <p:nvSpPr>
          <p:cNvPr id="36" name="num-6"/>
          <p:cNvSpPr/>
          <p:nvPr/>
        </p:nvSpPr>
        <p:spPr>
          <a:xfrm>
            <a:off x="3159252" y="157276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315925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2153412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الكتابة والتحكيم</a:t>
            </a:r>
            <a:endParaRPr lang="ar-AE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2153412" y="3063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chemeClr val="tx2"/>
                </a:solidFill>
                <a:latin typeface="Noto Naskh Arabic"/>
                <a:cs typeface="adwa-assalaf"/>
              </a:rPr>
              <a:t>بالوكلاء والمحكّمين</a:t>
            </a:r>
            <a:endParaRPr lang="ar-AE" sz="1300" dirty="0"/>
          </a:p>
        </p:txBody>
      </p:sp>
      <p:sp>
        <p:nvSpPr>
          <p:cNvPr id="40" name="icon-check"/>
          <p:cNvSpPr/>
          <p:nvPr/>
        </p:nvSpPr>
        <p:spPr>
          <a:xfrm>
            <a:off x="896112" y="1691640"/>
            <a:ext cx="768096" cy="76809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1" name="Image 6" descr="/tmp/claude-0/-home-user/11b98046-3116-585b-b221-e5c2e170e62a/scratchpad/deck/assets/i-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136" y="1883664"/>
            <a:ext cx="384048" cy="384048"/>
          </a:xfrm>
          <a:prstGeom prst="rect">
            <a:avLst/>
          </a:prstGeom>
        </p:spPr>
      </p:pic>
      <p:sp>
        <p:nvSpPr>
          <p:cNvPr id="42" name="num-7"/>
          <p:cNvSpPr/>
          <p:nvPr/>
        </p:nvSpPr>
        <p:spPr>
          <a:xfrm>
            <a:off x="1554480" y="157276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155448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4" name="Text 35"/>
          <p:cNvSpPr txBox="1"/>
          <p:nvPr/>
        </p:nvSpPr>
        <p:spPr>
          <a:xfrm>
            <a:off x="54864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الاعتماد والنشر</a:t>
            </a:r>
            <a:endParaRPr lang="ar-AE" sz="1500" dirty="0"/>
          </a:p>
        </p:txBody>
      </p:sp>
      <p:sp>
        <p:nvSpPr>
          <p:cNvPr id="45" name="Text 36"/>
          <p:cNvSpPr txBox="1"/>
          <p:nvPr/>
        </p:nvSpPr>
        <p:spPr>
          <a:xfrm>
            <a:off x="548640" y="3063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chemeClr val="tx2"/>
                </a:solidFill>
                <a:latin typeface="Noto Naskh Arabic"/>
                <a:cs typeface="adwa-assalaf"/>
              </a:rPr>
              <a:t>قرار المراجع البشري</a:t>
            </a:r>
            <a:endParaRPr lang="ar-AE" sz="1300" dirty="0"/>
          </a:p>
        </p:txBody>
      </p:sp>
      <p:sp>
        <p:nvSpPr>
          <p:cNvPr id="46" name="journey-note"/>
          <p:cNvSpPr/>
          <p:nvPr/>
        </p:nvSpPr>
        <p:spPr>
          <a:xfrm>
            <a:off x="548640" y="4160520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7" name="icon-gate"/>
          <p:cNvSpPr/>
          <p:nvPr/>
        </p:nvSpPr>
        <p:spPr>
          <a:xfrm>
            <a:off x="10835640" y="44348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8" name="Image 7" descr="/tmp/claude-0/-home-user/11b98046-3116-585b-b221-e5c2e170e62a/scratchpad/deck/assets/i-ga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4230" y="4583430"/>
            <a:ext cx="297180" cy="297180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868680" y="434340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b="1" dirty="0">
                <a:solidFill>
                  <a:schemeClr val="accent1"/>
                </a:solidFill>
                <a:latin typeface="Noto Naskh Arabic"/>
                <a:cs typeface="adwa-assalaf"/>
              </a:rPr>
              <a:t>عند كل انتقال بوابة</a:t>
            </a:r>
            <a:endParaRPr lang="ar-AE" sz="1700" dirty="0"/>
          </a:p>
        </p:txBody>
      </p:sp>
      <p:sp>
        <p:nvSpPr>
          <p:cNvPr id="50" name="Text 40"/>
          <p:cNvSpPr txBox="1"/>
          <p:nvPr/>
        </p:nvSpPr>
        <p:spPr>
          <a:xfrm>
            <a:off x="868680" y="475488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لا ينتقل المشروع إلى المرحلة التالية قبل أن تجتاز فحوصها، وهي تُحسب من البيانات نفسها: سؤال مصوغ، ومصادر متحقق منها، وموافقات قائمة، وتفريغ روجع لهجياً، وادعاءات مرتبطة بأدلة مستقلة، وتحكيم واعتماد بشري.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النموذج التطبيقي: «التلي»</a:t>
            </a:r>
            <a:endParaRPr lang="ar-AE" sz="3200" dirty="0"/>
          </a:p>
        </p:txBody>
      </p:sp>
      <p:pic>
        <p:nvPicPr>
          <p:cNvPr id="3" name="pilot-art" descr="/tmp/claude-0/-home-user/11b98046-3116-585b-b221-e5c2e170e62a/scratchpad/deck/assets/photos/craft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4389120" cy="2743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2976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2"/>
                </a:solidFill>
                <a:latin typeface="Noto Naskh Arabic"/>
                <a:cs typeface="adwa-assalaf"/>
              </a:rPr>
              <a:t>دراسة وثائقية مبنية على مصادر فُتحت وتُحقّق منها، وكل ادعاء فيها مربوط بدليله. والجمع الميداني مصمَّم ولم يُنفَّذ.</a:t>
            </a:r>
            <a:endParaRPr lang="ar-AE" sz="1400" dirty="0"/>
          </a:p>
        </p:txBody>
      </p:sp>
      <p:sp>
        <p:nvSpPr>
          <p:cNvPr id="5" name="stat-0"/>
          <p:cNvSpPr/>
          <p:nvPr/>
        </p:nvSpPr>
        <p:spPr>
          <a:xfrm>
            <a:off x="8595360" y="1371600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ar-AE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2148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مصدراً متحققاً منه</a:t>
            </a:r>
            <a:endParaRPr lang="ar-AE" sz="1400" dirty="0"/>
          </a:p>
        </p:txBody>
      </p:sp>
      <p:sp>
        <p:nvSpPr>
          <p:cNvPr id="8" name="stat-1"/>
          <p:cNvSpPr/>
          <p:nvPr/>
        </p:nvSpPr>
        <p:spPr>
          <a:xfrm>
            <a:off x="5257800" y="1371600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257800" y="14630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ar-AE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5257800" y="2148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ادعاءً مربوطاً بدليل</a:t>
            </a:r>
            <a:endParaRPr lang="ar-AE" sz="1400" dirty="0"/>
          </a:p>
        </p:txBody>
      </p:sp>
      <p:sp>
        <p:nvSpPr>
          <p:cNvPr id="11" name="stat-2"/>
          <p:cNvSpPr/>
          <p:nvPr/>
        </p:nvSpPr>
        <p:spPr>
          <a:xfrm>
            <a:off x="8595360" y="2788920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95360" y="28803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ar-AE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3566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تعارضات محفوظة</a:t>
            </a:r>
            <a:endParaRPr lang="ar-AE" sz="1400" dirty="0"/>
          </a:p>
        </p:txBody>
      </p:sp>
      <p:sp>
        <p:nvSpPr>
          <p:cNvPr id="14" name="stat-3"/>
          <p:cNvSpPr/>
          <p:nvPr/>
        </p:nvSpPr>
        <p:spPr>
          <a:xfrm>
            <a:off x="5257800" y="2788920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57800" y="28803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ar-AE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5257800" y="3566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مفردة للتحقق الميداني</a:t>
            </a:r>
            <a:endParaRPr lang="ar-AE" sz="1400" dirty="0"/>
          </a:p>
        </p:txBody>
      </p:sp>
      <p:sp>
        <p:nvSpPr>
          <p:cNvPr id="17" name="pilot-correction"/>
          <p:cNvSpPr/>
          <p:nvPr/>
        </p:nvSpPr>
        <p:spPr>
          <a:xfrm>
            <a:off x="5257800" y="4343400"/>
            <a:ext cx="6382512" cy="1508760"/>
          </a:xfrm>
          <a:prstGeom prst="roundRect">
            <a:avLst>
              <a:gd name="adj" fmla="val 6061"/>
            </a:avLst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532120" y="446227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rgbClr val="F0D58A"/>
                </a:solidFill>
                <a:latin typeface="Noto Naskh Arabic"/>
                <a:cs typeface="adwa-assalaf"/>
              </a:rPr>
              <a:t>تصويب أثبته التحقق</a:t>
            </a:r>
            <a:endParaRPr lang="ar-AE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532120" y="48463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dirty="0">
                <a:solidFill>
                  <a:schemeClr val="bg1"/>
                </a:solidFill>
                <a:latin typeface="Noto Naskh Arabic"/>
                <a:cs typeface="adwa-assalaf"/>
              </a:rPr>
              <a:t>افتُرض في التكليف أن العنصر على قائمة الصون العاجل؛ فأثبتت وثائق اليونسكو أنه مُدرج على القائمة التمثيلية سنة </a:t>
            </a:r>
            <a:r>
              <a:rPr lang="ar-AE" altLang="en-US" sz="1300" dirty="0">
                <a:solidFill>
                  <a:schemeClr val="bg1"/>
                </a:solidFill>
                <a:latin typeface="Calibri"/>
                <a:cs typeface="Calibri"/>
              </a:rPr>
              <a:t>2022</a:t>
            </a:r>
            <a:r>
              <a:rPr lang="ar-AE" altLang="en-US" sz="1300" dirty="0">
                <a:solidFill>
                  <a:schemeClr val="bg1"/>
                </a:solidFill>
                <a:latin typeface="Noto Naskh Arabic"/>
                <a:cs typeface="adwa-assalaf"/>
              </a:rPr>
              <a:t>، في الدورة السابعة عشرة للجنة الحكومية الدولية. وهذا مثال على ما يعنيه «صفر تلفيق».</a:t>
            </a:r>
            <a:endParaRPr lang="ar-AE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قواعد لا تُكسر</a:t>
            </a:r>
            <a:endParaRPr lang="ar-AE" sz="3200" dirty="0"/>
          </a:p>
        </p:txBody>
      </p:sp>
      <p:sp>
        <p:nvSpPr>
          <p:cNvPr id="3" name="icon-alert"/>
          <p:cNvSpPr/>
          <p:nvPr/>
        </p:nvSpPr>
        <p:spPr>
          <a:xfrm>
            <a:off x="11018520" y="1371600"/>
            <a:ext cx="621792" cy="62179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Image 0" descr="/tmp/claude-0/-home-user/11b98046-3116-585b-b221-e5c2e170e62a/scratchpad/deck/assets/i-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3968" y="1527048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353312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b="1" dirty="0">
                <a:solidFill>
                  <a:schemeClr val="accent1"/>
                </a:solidFill>
                <a:latin typeface="Noto Naskh Arabic"/>
                <a:cs typeface="adwa-assalaf"/>
              </a:rPr>
              <a:t>صفر تلفيق</a:t>
            </a:r>
            <a:endParaRPr lang="ar-AE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0287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لا مرجع ولا راوٍ ولا مقابلة ولا صفحة ولا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DOI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مختلقة؛ والمجهول يُكتب «يُستكمل».</a:t>
            </a:r>
            <a:endParaRPr lang="ar-AE" sz="1400" dirty="0"/>
          </a:p>
        </p:txBody>
      </p:sp>
      <p:sp>
        <p:nvSpPr>
          <p:cNvPr id="7" name="icon-database"/>
          <p:cNvSpPr/>
          <p:nvPr/>
        </p:nvSpPr>
        <p:spPr>
          <a:xfrm>
            <a:off x="11018520" y="2286000"/>
            <a:ext cx="621792" cy="6217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/tmp/claude-0/-home-user/11b98046-3116-585b-b221-e5c2e170e62a/scratchpad/deck/assets/i-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968" y="244144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267712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الأرشيف هو المرجع</a:t>
            </a:r>
            <a:endParaRPr lang="ar-AE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651760"/>
            <a:ext cx="10287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كل إجابة تُتتبَّع إلى نص أو صورة أو تسجيل أصلي، لا إلى ذاكرة النموذج.</a:t>
            </a:r>
            <a:endParaRPr lang="ar-AE" sz="1400" dirty="0"/>
          </a:p>
        </p:txBody>
      </p:sp>
      <p:sp>
        <p:nvSpPr>
          <p:cNvPr id="11" name="icon-ear"/>
          <p:cNvSpPr/>
          <p:nvPr/>
        </p:nvSpPr>
        <p:spPr>
          <a:xfrm>
            <a:off x="11018520" y="3200400"/>
            <a:ext cx="621792" cy="62179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mage 2" descr="/tmp/claude-0/-home-user/11b98046-3116-585b-b221-e5c2e170e62a/scratchpad/deck/assets/i-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3968" y="3355848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8640" y="3182112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اللفظ المحلي كما نُطق</a:t>
            </a:r>
            <a:endParaRPr lang="ar-AE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3566160"/>
            <a:ext cx="10287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لا تفصيح في التفريغ الحرفي، ولا تخمين لمقطع غير مفهوم.</a:t>
            </a:r>
            <a:endParaRPr lang="ar-AE" sz="1400" dirty="0"/>
          </a:p>
        </p:txBody>
      </p:sp>
      <p:sp>
        <p:nvSpPr>
          <p:cNvPr id="15" name="icon-handshake"/>
          <p:cNvSpPr/>
          <p:nvPr/>
        </p:nvSpPr>
        <p:spPr>
          <a:xfrm>
            <a:off x="11018520" y="4114800"/>
            <a:ext cx="621792" cy="62179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mage 3" descr="/tmp/claude-0/-home-user/11b98046-3116-585b-b221-e5c2e170e62a/scratchpad/deck/assets/i-handsh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3968" y="4270248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" y="4096512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الموافقات الأربع منفصلة</a:t>
            </a:r>
            <a:endParaRPr lang="ar-AE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4480560"/>
            <a:ext cx="10287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التسجيل، والتفريغ، والنشر، والاستخدام التجاري؛ ولكل منها أثرها في البوابات.</a:t>
            </a:r>
            <a:endParaRPr lang="ar-AE" sz="1400" dirty="0"/>
          </a:p>
        </p:txBody>
      </p:sp>
      <p:sp>
        <p:nvSpPr>
          <p:cNvPr id="19" name="icon-check"/>
          <p:cNvSpPr/>
          <p:nvPr/>
        </p:nvSpPr>
        <p:spPr>
          <a:xfrm>
            <a:off x="11018520" y="5029200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4" descr="/tmp/claude-0/-home-user/11b98046-3116-585b-b221-e5c2e170e62a/scratchpad/deck/assets/i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3968" y="5184648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8640" y="5010912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السيادة البشرية</a:t>
            </a:r>
            <a:endParaRPr lang="ar-AE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5394960"/>
            <a:ext cx="10287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لا يُنشر شيء قبل اعتماد المراجع البشري المخوّل.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عند التعثر</a:t>
            </a:r>
            <a:endParaRPr lang="ar-AE" sz="3200" dirty="0"/>
          </a:p>
        </p:txBody>
      </p:sp>
      <p:sp>
        <p:nvSpPr>
          <p:cNvPr id="3" name="tip-0"/>
          <p:cNvSpPr/>
          <p:nvPr/>
        </p:nvSpPr>
        <p:spPr>
          <a:xfrm>
            <a:off x="6172200" y="1417320"/>
            <a:ext cx="5468112" cy="2011680"/>
          </a:xfrm>
          <a:prstGeom prst="roundRect">
            <a:avLst>
              <a:gd name="adj" fmla="val 545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icon-alert"/>
          <p:cNvSpPr/>
          <p:nvPr/>
        </p:nvSpPr>
        <p:spPr>
          <a:xfrm>
            <a:off x="10835640" y="1691640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/tmp/claude-0/-home-user/11b98046-3116-585b-b221-e5c2e170e62a/scratchpad/deck/assets/i-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372" y="183337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46520" y="1691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800" b="1" dirty="0">
                <a:solidFill>
                  <a:schemeClr val="accent1"/>
                </a:solidFill>
                <a:latin typeface="Noto Naskh Arabic"/>
                <a:cs typeface="adwa-assalaf"/>
              </a:rPr>
              <a:t>رسالة خطأ واضحة</a:t>
            </a:r>
            <a:endParaRPr lang="ar-AE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224028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إن منع خطأ فتح اللوحة ظهرت نافذة بالسبب وموضع السجل؛ فلا فشل صامت.</a:t>
            </a:r>
            <a:endParaRPr lang="ar-AE" sz="1400" dirty="0"/>
          </a:p>
        </p:txBody>
      </p:sp>
      <p:sp>
        <p:nvSpPr>
          <p:cNvPr id="8" name="tip-1"/>
          <p:cNvSpPr/>
          <p:nvPr/>
        </p:nvSpPr>
        <p:spPr>
          <a:xfrm>
            <a:off x="548640" y="1417320"/>
            <a:ext cx="5468112" cy="2011680"/>
          </a:xfrm>
          <a:prstGeom prst="roundRect">
            <a:avLst>
              <a:gd name="adj" fmla="val 545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icon-search"/>
          <p:cNvSpPr/>
          <p:nvPr/>
        </p:nvSpPr>
        <p:spPr>
          <a:xfrm>
            <a:off x="5212080" y="16916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/tmp/claude-0/-home-user/11b98046-3116-585b-b221-e5c2e170e62a/scratchpad/deck/assets/i-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812" y="183337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1691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800" b="1" dirty="0">
                <a:solidFill>
                  <a:schemeClr val="accent1"/>
                </a:solidFill>
                <a:latin typeface="Noto Naskh Arabic"/>
                <a:cs typeface="adwa-assalaf"/>
              </a:rPr>
              <a:t>أمر التشخيص</a:t>
            </a:r>
            <a:endParaRPr lang="ar-AE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24028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py -m turath doctor</a:t>
            </a:r>
            <a:endParaRPr lang="ar-AE" sz="1400" dirty="0"/>
          </a:p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يفحص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Python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والملفات والبيانات والمنفذ والأيقونة، ويعرض آخر السجل.</a:t>
            </a:r>
            <a:endParaRPr lang="ar-AE" sz="1400" dirty="0"/>
          </a:p>
        </p:txBody>
      </p:sp>
      <p:sp>
        <p:nvSpPr>
          <p:cNvPr id="13" name="tip-2"/>
          <p:cNvSpPr/>
          <p:nvPr/>
        </p:nvSpPr>
        <p:spPr>
          <a:xfrm>
            <a:off x="6172200" y="3657600"/>
            <a:ext cx="5468112" cy="2011680"/>
          </a:xfrm>
          <a:prstGeom prst="roundRect">
            <a:avLst>
              <a:gd name="adj" fmla="val 545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icon-download"/>
          <p:cNvSpPr/>
          <p:nvPr/>
        </p:nvSpPr>
        <p:spPr>
          <a:xfrm>
            <a:off x="10835640" y="393192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mage 2" descr="/tmp/claude-0/-home-user/11b98046-3116-585b-b221-e5c2e170e62a/scratchpad/deck/assets/i-down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7372" y="407365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46520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800" b="1" dirty="0">
                <a:solidFill>
                  <a:schemeClr val="accent1"/>
                </a:solidFill>
                <a:latin typeface="Noto Naskh Arabic"/>
                <a:cs typeface="adwa-assalaf"/>
              </a:rPr>
              <a:t>إعادة التثبيت</a:t>
            </a:r>
            <a:endParaRPr lang="ar-AE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46520" y="44805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السطر نفسه يحدّث البرنامج ويتحقق من قيامه، ولا يمسّ البيانات.</a:t>
            </a:r>
            <a:endParaRPr lang="ar-AE" sz="1400" dirty="0"/>
          </a:p>
        </p:txBody>
      </p:sp>
      <p:sp>
        <p:nvSpPr>
          <p:cNvPr id="18" name="tip-3"/>
          <p:cNvSpPr/>
          <p:nvPr/>
        </p:nvSpPr>
        <p:spPr>
          <a:xfrm>
            <a:off x="548640" y="3657600"/>
            <a:ext cx="5468112" cy="2011680"/>
          </a:xfrm>
          <a:prstGeom prst="roundRect">
            <a:avLst>
              <a:gd name="adj" fmla="val 545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icon-archive"/>
          <p:cNvSpPr/>
          <p:nvPr/>
        </p:nvSpPr>
        <p:spPr>
          <a:xfrm>
            <a:off x="5212080" y="393192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mage 3" descr="/tmp/claude-0/-home-user/11b98046-3116-585b-b221-e5c2e170e62a/scratchpad/deck/assets/i-archi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812" y="4073652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8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النسخ الاحتياطي</a:t>
            </a:r>
            <a:endParaRPr lang="ar-AE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4805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زر في الخزنة يحفظ القاعدة والأصول ببيان بصمات.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-art" descr="/tmp/claude-0/-home-user/11b98046-3116-585b-b221-e5c2e170e62a/scratchpad/deck/assets/photos/coast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losing-vei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F">
              <a:alpha val="70000"/>
            </a:srgbClr>
          </a:solidFill>
          <a:ln w="12700">
            <a:solidFill>
              <a:srgbClr val="12263F">
                <a:alpha val="0"/>
              </a:srgbClr>
            </a:solidFill>
            <a:prstDash val="solid"/>
          </a:ln>
        </p:spPr>
      </p:sp>
      <p:pic>
        <p:nvPicPr>
          <p:cNvPr id="4" name="Image 1" descr="/tmp/claude-0/-home-user/11b98046-3116-585b-b221-e5c2e170e62a/scratchpad/deck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976" y="1097280"/>
            <a:ext cx="1143000" cy="1143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371600" y="251460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4000" b="1" dirty="0">
                <a:solidFill>
                  <a:schemeClr val="bg1"/>
                </a:solidFill>
                <a:latin typeface="Noto Naskh Arabic"/>
                <a:cs typeface="adwa-assalaf"/>
              </a:rPr>
              <a:t>ابدؤوا بالنموذج التطبيقي</a:t>
            </a:r>
            <a:endParaRPr lang="ar-AE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1371600" y="338328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2200" dirty="0">
                <a:solidFill>
                  <a:srgbClr val="F0D58A"/>
                </a:solidFill>
                <a:latin typeface="Noto Naskh Arabic"/>
                <a:cs typeface="adwa-assalaf"/>
              </a:rPr>
              <a:t>ثم افتحوا مشروعكم الأول بالأمر «ابحث تراثياً»</a:t>
            </a:r>
            <a:endParaRPr lang="ar-AE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1371600" y="5120640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dirty="0">
                <a:solidFill>
                  <a:srgbClr val="D9E4F0"/>
                </a:solidFill>
                <a:latin typeface="Noto Naskh Arabic"/>
                <a:cs typeface="adwa-assalaf"/>
              </a:rPr>
              <a:t>دليل التنصيب: </a:t>
            </a:r>
            <a:r>
              <a:rPr lang="ar-AE" altLang="en-US" sz="1400" dirty="0">
                <a:solidFill>
                  <a:srgbClr val="D9E4F0"/>
                </a:solidFill>
                <a:latin typeface="Calibri"/>
                <a:cs typeface="Calibri"/>
              </a:rPr>
              <a:t>INSTALL.md</a:t>
            </a:r>
            <a:r>
              <a:rPr lang="ar-AE" altLang="en-US" sz="1400" dirty="0">
                <a:solidFill>
                  <a:srgbClr val="D9E4F0"/>
                </a:solidFill>
                <a:latin typeface="Noto Naskh Arabic"/>
                <a:cs typeface="adwa-assalaf"/>
              </a:rPr>
              <a:t> · الوثائق: قسم «الوثائق والاستمارات» في اللوحة</a:t>
            </a:r>
            <a:endParaRPr lang="ar-AE" sz="1400" dirty="0"/>
          </a:p>
        </p:txBody>
      </p:sp>
      <p:pic>
        <p:nvPicPr>
          <p:cNvPr id="8" name="Image 2" descr="/tmp/claude-0/-home-user/11b98046-3116-585b-b221-e5c2e170e62a/scratchpad/deck/assets/sad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83680"/>
            <a:ext cx="12191695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urath">
  <a:themeElements>
    <a:clrScheme name="Turath">
      <a:dk1>
        <a:srgbClr val="1A2433"/>
      </a:dk1>
      <a:lt1>
        <a:srgbClr val="FFFFFF"/>
      </a:lt1>
      <a:dk2>
        <a:srgbClr val="12263F"/>
      </a:dk2>
      <a:lt2>
        <a:srgbClr val="EEF3F8"/>
      </a:lt2>
      <a:accent1>
        <a:srgbClr val="1F4E79"/>
      </a:accent1>
      <a:accent2>
        <a:srgbClr val="B8860B"/>
      </a:accent2>
      <a:accent3>
        <a:srgbClr val="0E7C86"/>
      </a:accent3>
      <a:accent4>
        <a:srgbClr val="A0522D"/>
      </a:accent4>
      <a:accent5>
        <a:srgbClr val="3E7C3A"/>
      </a:accent5>
      <a:accent6>
        <a:srgbClr val="8B1E3F"/>
      </a:accent6>
      <a:hlink>
        <a:srgbClr val="1F4E79"/>
      </a:hlink>
      <a:folHlink>
        <a:srgbClr val="5B3A7A"/>
      </a:folHlink>
    </a:clrScheme>
    <a:fontScheme name="Turath">
      <a:majorFont>
        <a:latin typeface="Noto Naskh Arabic"/>
        <a:ea typeface=""/>
        <a:cs typeface="adwa-assalaf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Naskh Arabic"/>
        <a:ea typeface=""/>
        <a:cs typeface="adwa-assalaf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تراث — دليل المنصة واستخدامها</dc:title>
  <dc:subject>PptxGenJS Presentation</dc:subject>
  <dc:creator>إدارة الدراسات والبحوث التراثية الإماراتية</dc:creator>
  <cp:lastModifiedBy>إدارة الدراسات والبحوث التراثية الإماراتية</cp:lastModifiedBy>
  <cp:revision>1</cp:revision>
  <dcterms:created xsi:type="dcterms:W3CDTF">2026-10-15T13:46:52Z</dcterms:created>
  <dcterms:modified xsi:type="dcterms:W3CDTF">2026-10-15T13:46:52Z</dcterms:modified>
</cp:coreProperties>
</file>