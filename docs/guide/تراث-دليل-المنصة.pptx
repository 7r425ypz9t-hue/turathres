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2058148d-e80c-93b3-913e-0771f6fe3ef8}">
          <p14:sldIdLst>
            <p14:sldId id="256"/>
            <p14:sldId id="257"/>
            <p14:sldId id="258"/>
          </p14:sldIdLst>
        </p14:section>
        <p14:section name="البدء" id="{9e5161b2-e0cc-53d0-bd7d-d53755f5f9f2}">
          <p14:sldIdLst>
            <p14:sldId id="259"/>
            <p14:sldId id="260"/>
            <p14:sldId id="261"/>
            <p14:sldId id="262"/>
          </p14:sldIdLst>
        </p14:section>
        <p14:section name="الشاشات" id="{36def6dd-6353-58d3-95f7-9178902dc336}">
          <p14:sldIdLst>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الاستخدام" id="{eb0e2380-027a-6905-327e-dcc1902137de}">
          <p14:sldIdLst>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يعرّف هذا الدليل بمنصة «تراث»: ما هي، وكيف تُنصَّب، وما شاشاتها، وكيف يسير فيها بحث تراثي من الفكرة إلى النشر.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تعمل على جهاز الباحث دون أي خدمة خارجية. الأرقام هنا من الإصدار الحالي.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إعادة تشغيل المثبّت تحدّث البرنامج دون مساس البيانات. وفي آخره يتحقق من أن اللوحة قامت فعلاً، وإلا طبع تقرير تشخيص.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المثبّت يهيّئ النمط الفردي. والانتقال إلى نمط آخر بأمر واحد، والبيانات نفسها تبقى.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السجل في مجلد Turath داخل المجلد الشخصي: turath.log. وتقرير التشخيص يكفي لمعرفة أغلب الأعطال.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rtlCol="0" anchor="ctr"/>
          <a:lstStyle/>
          <a:p>
            <a:pPr algn="l" indent="0" marL="0">
              <a:buNone/>
            </a:pPr>
            <a:r>
              <a:rPr lang="ar-AE" altLang="en-US" sz="1000" dirty="0">
                <a:solidFill>
                  <a:schemeClr val="tx2"/>
                </a:solidFill>
              </a:rPr>
              <a:t>تراث — دليل المنصة</a:t>
            </a:r>
            <a:endParaRPr lang="ar-AE" sz="1000" dirty="0"/>
          </a:p>
        </p:txBody>
      </p:sp>
      <p:pic>
        <p:nvPicPr>
          <p:cNvPr id="3" name="Image 0" descr="/tmp/claude-0/-home-user/11b98046-3116-585b-b221-e5c2e170e62a/scratchpad/deck/assets/logo.png">    </p:cNvPr>
          <p:cNvPicPr>
            <a:picLocks noChangeAspect="1"/>
          </p:cNvPicPr>
          <p:nvPr/>
        </p:nvPicPr>
        <p:blipFill>
          <a:blip r:embed="rId1"/>
          <a:stretch>
            <a:fillRect/>
          </a:stretch>
        </p:blipFill>
        <p:spPr>
          <a:xfrm>
            <a:off x="11320272" y="6327648"/>
            <a:ext cx="347472" cy="347472"/>
          </a:xfrm>
          <a:prstGeom prst="rect">
            <a:avLst/>
          </a:prstGeom>
        </p:spPr>
      </p:pic>
      <p:sp>
        <p:nvSpPr>
          <p:cNvPr id="4" name="Text 1"/>
          <p:cNvSpPr/>
          <p:nvPr>
            <p:ph idx="102" type="title" hasCustomPrompt="1"/>
          </p:nvPr>
        </p:nvSpPr>
        <p:spPr>
          <a:xfrm>
            <a:off x="548640" y="347472"/>
            <a:ext cx="11091672" cy="777240"/>
          </a:xfrm>
          <a:prstGeom prst="rect">
            <a:avLst/>
          </a:prstGeom>
          <a:noFill/>
          <a:ln/>
        </p:spPr>
        <p:txBody>
          <a:bodyPr wrap="square" rtlCol="0"/>
          <a:lstStyle>
            <a:lvl1pPr rtl="1" algn="r" indent="0" marL="0">
              <a:buNone/>
              <a:defRPr lang="ar-AE" altLang="en-US" sz="3200" b="1" dirty="0">
                <a:solidFill>
                  <a:schemeClr val="accent1"/>
                </a:solidFill>
              </a:defRPr>
            </a:lvl1pPr>
          </a:lstStyle>
          <a:p>
            <a:pPr algn="r" indent="0" marL="0">
              <a:buNone/>
            </a:pPr>
            <a:endParaRPr lang="ar-AE" sz="32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2263F"/>
        </a:solidFill>
      </p:bgPr>
    </p:bg>
    <p:spTree>
      <p:nvGrpSpPr>
        <p:cNvPr id="1" name=""/>
        <p:cNvGrpSpPr/>
        <p:nvPr/>
      </p:nvGrpSpPr>
      <p:grpSpPr>
        <a:xfrm>
          <a:off x="0" y="0"/>
          <a:ext cx="0" cy="0"/>
          <a:chOff x="0" y="0"/>
          <a:chExt cx="0" cy="0"/>
        </a:xfrm>
      </p:grpSpPr>
      <p:pic>
        <p:nvPicPr>
          <p:cNvPr id="2" name="Image 0" descr="/tmp/claude-0/-home-user/11b98046-3116-585b-b221-e5c2e170e62a/scratchpad/deck/assets/sadu.png">    </p:cNvPr>
          <p:cNvPicPr>
            <a:picLocks noChangeAspect="1"/>
          </p:cNvPicPr>
          <p:nvPr/>
        </p:nvPicPr>
        <p:blipFill>
          <a:blip r:embed="rId1"/>
          <a:stretch>
            <a:fillRect/>
          </a:stretch>
        </p:blipFill>
        <p:spPr>
          <a:xfrm>
            <a:off x="0" y="6583680"/>
            <a:ext cx="12191695" cy="274320"/>
          </a:xfrm>
          <a:prstGeom prst="rect">
            <a:avLst/>
          </a:prstGeom>
        </p:spPr>
      </p:pic>
      <p:sp>
        <p:nvSpPr>
          <p:cNvPr id="3" name="Text 0"/>
          <p:cNvSpPr/>
          <p:nvPr>
            <p:ph idx="101" type="title" hasCustomPrompt="1"/>
          </p:nvPr>
        </p:nvSpPr>
        <p:spPr>
          <a:xfrm>
            <a:off x="6035040" y="2514600"/>
            <a:ext cx="5577840" cy="1097280"/>
          </a:xfrm>
          <a:prstGeom prst="rect">
            <a:avLst/>
          </a:prstGeom>
          <a:noFill/>
          <a:ln/>
        </p:spPr>
        <p:txBody>
          <a:bodyPr wrap="square" rtlCol="0"/>
          <a:lstStyle>
            <a:lvl1pPr rtl="1" algn="r" indent="0" marL="0">
              <a:buNone/>
              <a:defRPr lang="ar-AE" altLang="en-US" sz="4000" b="1" dirty="0">
                <a:solidFill>
                  <a:schemeClr val="bg1"/>
                </a:solidFill>
              </a:defRPr>
            </a:lvl1pPr>
          </a:lstStyle>
          <a:p>
            <a:pPr algn="r" indent="0" marL="0">
              <a:buNone/>
            </a:pPr>
            <a:endParaRPr lang="ar-AE" sz="4000" dirty="0"/>
          </a:p>
        </p:txBody>
      </p:sp>
      <p:sp>
        <p:nvSpPr>
          <p:cNvPr id="4" name="Text 0"/>
          <p:cNvSpPr/>
          <p:nvPr>
            <p:ph idx="102" type="body" hasCustomPrompt="1"/>
          </p:nvPr>
        </p:nvSpPr>
        <p:spPr>
          <a:xfrm>
            <a:off x="6035040" y="3611880"/>
            <a:ext cx="5577840" cy="1097280"/>
          </a:xfrm>
          <a:prstGeom prst="rect">
            <a:avLst/>
          </a:prstGeom>
          <a:noFill/>
          <a:ln/>
        </p:spPr>
        <p:txBody>
          <a:bodyPr wrap="square" rtlCol="0"/>
          <a:lstStyle>
            <a:lvl1pPr rtl="1" algn="r" indent="0" marL="0">
              <a:buNone/>
              <a:defRPr lang="ar-AE" altLang="en-US" sz="1800" dirty="0">
                <a:solidFill>
                  <a:srgbClr val="D9E4F0"/>
                </a:solidFill>
              </a:defRPr>
            </a:lvl1pPr>
          </a:lstStyle>
          <a:p>
            <a:pPr algn="r" indent="0" marL="0">
              <a:buNone/>
            </a:pPr>
            <a:endParaRPr lang="ar-AE"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2.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art" descr="/tmp/claude-0/-home-user/11b98046-3116-585b-b221-e5c2e170e62a/scratchpad/deck/assets/photos/hero.jpg">    </p:cNvPr>
          <p:cNvPicPr>
            <a:picLocks noChangeAspect="1"/>
          </p:cNvPicPr>
          <p:nvPr/>
        </p:nvPicPr>
        <p:blipFill>
          <a:blip r:embed="rId1"/>
          <a:srcRect l="0" r="0" t="0" b="0"/>
          <a:stretch/>
        </p:blipFill>
        <p:spPr>
          <a:xfrm>
            <a:off x="0" y="0"/>
            <a:ext cx="12191695" cy="6858000"/>
          </a:xfrm>
          <a:prstGeom prst="rect">
            <a:avLst/>
          </a:prstGeom>
        </p:spPr>
      </p:pic>
      <p:sp>
        <p:nvSpPr>
          <p:cNvPr id="3" name="concept-label"/>
          <p:cNvSpPr txBox="1"/>
          <p:nvPr/>
        </p:nvSpPr>
        <p:spPr>
          <a:xfrm>
            <a:off x="320040" y="274320"/>
            <a:ext cx="1737360" cy="329184"/>
          </a:xfrm>
          <a:prstGeom prst="rect">
            <a:avLst/>
          </a:prstGeom>
          <a:solidFill>
            <a:srgbClr val="12263F">
              <a:alpha val="70000"/>
            </a:srgbClr>
          </a:solidFill>
          <a:ln/>
        </p:spPr>
        <p:txBody>
          <a:bodyPr wrap="square" lIns="0" tIns="0" rIns="0" bIns="0" rtlCol="0" anchor="ctr"/>
          <a:lstStyle/>
          <a:p>
            <a:pPr rtl="1" algn="ctr" indent="0" marL="0">
              <a:buNone/>
            </a:pPr>
            <a:r>
              <a:rPr lang="ar-AE" altLang="en-US" sz="1100" dirty="0">
                <a:solidFill>
                  <a:srgbClr val="FFFFFF"/>
                </a:solidFill>
              </a:rPr>
              <a:t>إعادة بناء تصورية</a:t>
            </a:r>
            <a:endParaRPr lang="ar-AE" sz="1100" dirty="0"/>
          </a:p>
        </p:txBody>
      </p:sp>
      <p:sp>
        <p:nvSpPr>
          <p:cNvPr id="4" name="cover-veil"/>
          <p:cNvSpPr/>
          <p:nvPr/>
        </p:nvSpPr>
        <p:spPr>
          <a:xfrm>
            <a:off x="5669280" y="0"/>
            <a:ext cx="6522415" cy="6858000"/>
          </a:xfrm>
          <a:prstGeom prst="rect">
            <a:avLst/>
          </a:prstGeom>
          <a:solidFill>
            <a:srgbClr val="12263F">
              <a:alpha val="82000"/>
            </a:srgbClr>
          </a:solidFill>
          <a:ln w="12700">
            <a:solidFill>
              <a:srgbClr val="12263F">
                <a:alpha val="0"/>
              </a:srgbClr>
            </a:solidFill>
            <a:prstDash val="solid"/>
          </a:ln>
        </p:spPr>
      </p:sp>
      <p:pic>
        <p:nvPicPr>
          <p:cNvPr id="5" name="Image 1" descr="/tmp/claude-0/-home-user/11b98046-3116-585b-b221-e5c2e170e62a/scratchpad/deck/assets/logo.png">    </p:cNvPr>
          <p:cNvPicPr>
            <a:picLocks noChangeAspect="1"/>
          </p:cNvPicPr>
          <p:nvPr/>
        </p:nvPicPr>
        <p:blipFill>
          <a:blip r:embed="rId2"/>
          <a:stretch>
            <a:fillRect/>
          </a:stretch>
        </p:blipFill>
        <p:spPr>
          <a:xfrm>
            <a:off x="10469880" y="822960"/>
            <a:ext cx="1143000" cy="1143000"/>
          </a:xfrm>
          <a:prstGeom prst="rect">
            <a:avLst/>
          </a:prstGeom>
        </p:spPr>
      </p:pic>
      <p:sp>
        <p:nvSpPr>
          <p:cNvPr id="6" name="Text 2"/>
          <p:cNvSpPr txBox="1"/>
          <p:nvPr/>
        </p:nvSpPr>
        <p:spPr>
          <a:xfrm>
            <a:off x="6126480" y="2103120"/>
            <a:ext cx="5486400" cy="1005840"/>
          </a:xfrm>
          <a:prstGeom prst="rect">
            <a:avLst/>
          </a:prstGeom>
          <a:noFill/>
          <a:ln/>
        </p:spPr>
        <p:txBody>
          <a:bodyPr wrap="square" lIns="0" tIns="0" rIns="0" bIns="0" rtlCol="0" anchor="ctr"/>
          <a:lstStyle/>
          <a:p>
            <a:pPr rtl="1" algn="r" indent="0" marL="0">
              <a:buNone/>
            </a:pPr>
            <a:r>
              <a:rPr lang="ar-AE" altLang="en-US" sz="6000" b="1" dirty="0">
                <a:solidFill>
                  <a:schemeClr val="bg1"/>
                </a:solidFill>
              </a:rPr>
              <a:t>تراث</a:t>
            </a:r>
            <a:endParaRPr lang="ar-AE" sz="6000" dirty="0"/>
          </a:p>
        </p:txBody>
      </p:sp>
      <p:sp>
        <p:nvSpPr>
          <p:cNvPr id="7" name="Text 3"/>
          <p:cNvSpPr txBox="1"/>
          <p:nvPr/>
        </p:nvSpPr>
        <p:spPr>
          <a:xfrm>
            <a:off x="6126480" y="3154680"/>
            <a:ext cx="5486400" cy="640080"/>
          </a:xfrm>
          <a:prstGeom prst="rect">
            <a:avLst/>
          </a:prstGeom>
          <a:noFill/>
          <a:ln/>
        </p:spPr>
        <p:txBody>
          <a:bodyPr wrap="square" lIns="0" tIns="0" rIns="0" bIns="0" rtlCol="0" anchor="ctr"/>
          <a:lstStyle/>
          <a:p>
            <a:pPr rtl="1" algn="r" indent="0" marL="0">
              <a:buNone/>
            </a:pPr>
            <a:r>
              <a:rPr lang="ar-AE" altLang="en-US" sz="2600" dirty="0">
                <a:solidFill>
                  <a:srgbClr val="F0D58A"/>
                </a:solidFill>
              </a:rPr>
              <a:t>دليل المنصة: الشاشات وطريقة الاستخدام</a:t>
            </a:r>
            <a:endParaRPr lang="ar-AE" sz="2600" dirty="0"/>
          </a:p>
        </p:txBody>
      </p:sp>
      <p:sp>
        <p:nvSpPr>
          <p:cNvPr id="8" name="Text 4"/>
          <p:cNvSpPr txBox="1"/>
          <p:nvPr/>
        </p:nvSpPr>
        <p:spPr>
          <a:xfrm>
            <a:off x="6126480" y="3886200"/>
            <a:ext cx="5486400" cy="457200"/>
          </a:xfrm>
          <a:prstGeom prst="rect">
            <a:avLst/>
          </a:prstGeom>
          <a:noFill/>
          <a:ln/>
        </p:spPr>
        <p:txBody>
          <a:bodyPr wrap="square" lIns="0" tIns="0" rIns="0" bIns="0" rtlCol="0" anchor="ctr"/>
          <a:lstStyle/>
          <a:p>
            <a:pPr rtl="1" algn="r" indent="0" marL="0">
              <a:buNone/>
            </a:pPr>
            <a:r>
              <a:rPr lang="ar-AE" altLang="en-US" sz="1800" dirty="0">
                <a:solidFill>
                  <a:srgbClr val="D9E4F0"/>
                </a:solidFill>
              </a:rPr>
              <a:t>إدارة الدراسات والبحوث التراثية الإماراتية</a:t>
            </a:r>
            <a:endParaRPr lang="ar-AE" sz="1800" dirty="0"/>
          </a:p>
        </p:txBody>
      </p:sp>
      <p:sp>
        <p:nvSpPr>
          <p:cNvPr id="9" name="Text 5"/>
          <p:cNvSpPr txBox="1"/>
          <p:nvPr/>
        </p:nvSpPr>
        <p:spPr>
          <a:xfrm>
            <a:off x="6126480" y="5760720"/>
            <a:ext cx="5486400" cy="365760"/>
          </a:xfrm>
          <a:prstGeom prst="rect">
            <a:avLst/>
          </a:prstGeom>
          <a:noFill/>
          <a:ln/>
        </p:spPr>
        <p:txBody>
          <a:bodyPr wrap="square" lIns="0" tIns="0" rIns="0" bIns="0" rtlCol="0" anchor="ctr"/>
          <a:lstStyle/>
          <a:p>
            <a:pPr rtl="1" algn="r" indent="0" marL="0">
              <a:buNone/>
            </a:pPr>
            <a:r>
              <a:rPr lang="ar-AE" altLang="en-US" sz="1300" dirty="0">
                <a:solidFill>
                  <a:srgbClr val="AFC2D6"/>
                </a:solidFill>
              </a:rPr>
              <a:t>الإصدار 1.4 · أكتوبر 2026</a:t>
            </a:r>
            <a:endParaRPr lang="ar-AE" sz="1300" dirty="0"/>
          </a:p>
        </p:txBody>
      </p:sp>
      <p:pic>
        <p:nvPicPr>
          <p:cNvPr id="10" name="Image 2" descr="/tmp/claude-0/-home-user/11b98046-3116-585b-b221-e5c2e170e62a/scratchpad/deck/assets/sadu.png">    </p:cNvPr>
          <p:cNvPicPr>
            <a:picLocks noChangeAspect="1"/>
          </p:cNvPicPr>
          <p:nvPr/>
        </p:nvPicPr>
        <p:blipFill>
          <a:blip r:embed="rId3"/>
          <a:stretch>
            <a:fillRect/>
          </a:stretch>
        </p:blipFill>
        <p:spPr>
          <a:xfrm>
            <a:off x="0" y="6583680"/>
            <a:ext cx="12191695"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مؤسسة بحثية رقمية لتراث الإمارات</a:t>
            </a:r>
            <a:endParaRPr lang="ar-AE" sz="3200" dirty="0"/>
          </a:p>
        </p:txBody>
      </p:sp>
      <p:pic>
        <p:nvPicPr>
          <p:cNvPr id="3" name="intro-art" descr="/tmp/claude-0/-home-user/11b98046-3116-585b-b221-e5c2e170e62a/scratchpad/deck/assets/photos/urban.jpg">    </p:cNvPr>
          <p:cNvPicPr>
            <a:picLocks noChangeAspect="1"/>
          </p:cNvPicPr>
          <p:nvPr/>
        </p:nvPicPr>
        <p:blipFill>
          <a:blip r:embed="rId1"/>
          <a:srcRect l="0" r="0" t="0" b="0"/>
          <a:stretch/>
        </p:blipFill>
        <p:spPr>
          <a:xfrm>
            <a:off x="548640" y="1325880"/>
            <a:ext cx="4754880" cy="2971800"/>
          </a:xfrm>
          <a:prstGeom prst="rect">
            <a:avLst/>
          </a:prstGeom>
        </p:spPr>
      </p:pic>
      <p:sp>
        <p:nvSpPr>
          <p:cNvPr id="4" name="Text 1"/>
          <p:cNvSpPr txBox="1"/>
          <p:nvPr/>
        </p:nvSpPr>
        <p:spPr>
          <a:xfrm>
            <a:off x="5669280" y="1371600"/>
            <a:ext cx="5971032" cy="1188720"/>
          </a:xfrm>
          <a:prstGeom prst="rect">
            <a:avLst/>
          </a:prstGeom>
          <a:noFill/>
          <a:ln/>
        </p:spPr>
        <p:txBody>
          <a:bodyPr wrap="square" lIns="0" tIns="0" rIns="0" bIns="0" rtlCol="0" anchor="ctr"/>
          <a:lstStyle/>
          <a:p>
            <a:pPr rtl="1" algn="r" indent="0" marL="0">
              <a:buNone/>
            </a:pPr>
            <a:r>
              <a:rPr lang="ar-AE" altLang="en-US" sz="1700" dirty="0">
                <a:solidFill>
                  <a:schemeClr val="tx1"/>
                </a:solidFill>
              </a:rPr>
              <a:t>ليست مولّد نصوص عن التراث، بل منظومة عاملة للبحث والتحقيق والجمع الميداني والتوثيق والتحليل والنشر، تحفظ الأدلة الأولية وتربط كل استنتاج علمي بأصله.</a:t>
            </a:r>
            <a:endParaRPr lang="ar-AE" sz="1700" dirty="0"/>
          </a:p>
        </p:txBody>
      </p:sp>
      <p:sp>
        <p:nvSpPr>
          <p:cNvPr id="5" name="icon-database"/>
          <p:cNvSpPr/>
          <p:nvPr/>
        </p:nvSpPr>
        <p:spPr>
          <a:xfrm>
            <a:off x="10680192" y="2788920"/>
            <a:ext cx="548640" cy="548640"/>
          </a:xfrm>
          <a:prstGeom prst="ellipse">
            <a:avLst/>
          </a:prstGeom>
          <a:solidFill>
            <a:schemeClr val="accent1"/>
          </a:solidFill>
          <a:ln w="12700">
            <a:solidFill>
              <a:schemeClr val="accent1"/>
            </a:solidFill>
            <a:prstDash val="solid"/>
          </a:ln>
        </p:spPr>
      </p:sp>
      <p:pic>
        <p:nvPicPr>
          <p:cNvPr id="6" name="Image 1" descr="/tmp/claude-0/-home-user/11b98046-3116-585b-b221-e5c2e170e62a/scratchpad/deck/assets/i-database.png">    </p:cNvPr>
          <p:cNvPicPr>
            <a:picLocks noChangeAspect="1"/>
          </p:cNvPicPr>
          <p:nvPr/>
        </p:nvPicPr>
        <p:blipFill>
          <a:blip r:embed="rId2"/>
          <a:stretch>
            <a:fillRect/>
          </a:stretch>
        </p:blipFill>
        <p:spPr>
          <a:xfrm>
            <a:off x="10817352" y="2926080"/>
            <a:ext cx="274320" cy="274320"/>
          </a:xfrm>
          <a:prstGeom prst="rect">
            <a:avLst/>
          </a:prstGeom>
        </p:spPr>
      </p:pic>
      <p:sp>
        <p:nvSpPr>
          <p:cNvPr id="7" name="Text 3"/>
          <p:cNvSpPr txBox="1"/>
          <p:nvPr/>
        </p:nvSpPr>
        <p:spPr>
          <a:xfrm>
            <a:off x="10222992" y="3429000"/>
            <a:ext cx="1463040" cy="548640"/>
          </a:xfrm>
          <a:prstGeom prst="rect">
            <a:avLst/>
          </a:prstGeom>
          <a:noFill/>
          <a:ln/>
        </p:spPr>
        <p:txBody>
          <a:bodyPr wrap="square" lIns="0" tIns="0" rIns="0" bIns="0" rtlCol="0" anchor="ctr"/>
          <a:lstStyle/>
          <a:p>
            <a:pPr rtl="1" algn="ctr" indent="0" marL="0">
              <a:buNone/>
            </a:pPr>
            <a:r>
              <a:rPr lang="ar-AE" altLang="en-US" sz="3000" b="1" dirty="0">
                <a:solidFill>
                  <a:schemeClr val="accent1"/>
                </a:solidFill>
                <a:latin typeface="Calibri" pitchFamily="34" charset="0"/>
                <a:ea typeface="Calibri" pitchFamily="34" charset="-122"/>
                <a:cs typeface="Calibri" pitchFamily="34" charset="-120"/>
              </a:rPr>
              <a:t>39</a:t>
            </a:r>
            <a:endParaRPr lang="ar-AE" sz="3000" dirty="0"/>
          </a:p>
        </p:txBody>
      </p:sp>
      <p:sp>
        <p:nvSpPr>
          <p:cNvPr id="8" name="Text 4"/>
          <p:cNvSpPr txBox="1"/>
          <p:nvPr/>
        </p:nvSpPr>
        <p:spPr>
          <a:xfrm>
            <a:off x="10222992" y="3977640"/>
            <a:ext cx="1463040" cy="548640"/>
          </a:xfrm>
          <a:prstGeom prst="rect">
            <a:avLst/>
          </a:prstGeom>
          <a:noFill/>
          <a:ln/>
        </p:spPr>
        <p:txBody>
          <a:bodyPr wrap="square" lIns="0" tIns="0" rIns="0" bIns="0" rtlCol="0" anchor="ctr"/>
          <a:lstStyle/>
          <a:p>
            <a:pPr rtl="1" algn="ctr" indent="0" marL="0">
              <a:buNone/>
            </a:pPr>
            <a:r>
              <a:rPr lang="ar-AE" altLang="en-US" sz="1200" dirty="0">
                <a:solidFill>
                  <a:schemeClr val="tx2"/>
                </a:solidFill>
              </a:rPr>
              <a:t>جدولاً في الأرشيف المعرفي</a:t>
            </a:r>
            <a:endParaRPr lang="ar-AE" sz="1200" dirty="0"/>
          </a:p>
        </p:txBody>
      </p:sp>
      <p:sp>
        <p:nvSpPr>
          <p:cNvPr id="9" name="icon-people"/>
          <p:cNvSpPr/>
          <p:nvPr/>
        </p:nvSpPr>
        <p:spPr>
          <a:xfrm>
            <a:off x="9162288" y="2788920"/>
            <a:ext cx="548640" cy="548640"/>
          </a:xfrm>
          <a:prstGeom prst="ellipse">
            <a:avLst/>
          </a:prstGeom>
          <a:solidFill>
            <a:schemeClr val="accent3"/>
          </a:solidFill>
          <a:ln w="12700">
            <a:solidFill>
              <a:schemeClr val="accent3"/>
            </a:solidFill>
            <a:prstDash val="solid"/>
          </a:ln>
        </p:spPr>
      </p:sp>
      <p:pic>
        <p:nvPicPr>
          <p:cNvPr id="10" name="Image 2" descr="/tmp/claude-0/-home-user/11b98046-3116-585b-b221-e5c2e170e62a/scratchpad/deck/assets/i-people.png">    </p:cNvPr>
          <p:cNvPicPr>
            <a:picLocks noChangeAspect="1"/>
          </p:cNvPicPr>
          <p:nvPr/>
        </p:nvPicPr>
        <p:blipFill>
          <a:blip r:embed="rId3"/>
          <a:stretch>
            <a:fillRect/>
          </a:stretch>
        </p:blipFill>
        <p:spPr>
          <a:xfrm>
            <a:off x="9299448" y="2926080"/>
            <a:ext cx="274320" cy="274320"/>
          </a:xfrm>
          <a:prstGeom prst="rect">
            <a:avLst/>
          </a:prstGeom>
        </p:spPr>
      </p:pic>
      <p:sp>
        <p:nvSpPr>
          <p:cNvPr id="11" name="Text 6"/>
          <p:cNvSpPr txBox="1"/>
          <p:nvPr/>
        </p:nvSpPr>
        <p:spPr>
          <a:xfrm>
            <a:off x="8705088" y="3429000"/>
            <a:ext cx="1463040" cy="548640"/>
          </a:xfrm>
          <a:prstGeom prst="rect">
            <a:avLst/>
          </a:prstGeom>
          <a:noFill/>
          <a:ln/>
        </p:spPr>
        <p:txBody>
          <a:bodyPr wrap="square" lIns="0" tIns="0" rIns="0" bIns="0" rtlCol="0" anchor="ctr"/>
          <a:lstStyle/>
          <a:p>
            <a:pPr rtl="1" algn="ctr" indent="0" marL="0">
              <a:buNone/>
            </a:pPr>
            <a:r>
              <a:rPr lang="ar-AE" altLang="en-US" sz="3000" b="1" dirty="0">
                <a:solidFill>
                  <a:schemeClr val="accent1"/>
                </a:solidFill>
                <a:latin typeface="Calibri" pitchFamily="34" charset="0"/>
                <a:ea typeface="Calibri" pitchFamily="34" charset="-122"/>
                <a:cs typeface="Calibri" pitchFamily="34" charset="-120"/>
              </a:rPr>
              <a:t>20</a:t>
            </a:r>
            <a:endParaRPr lang="ar-AE" sz="3000" dirty="0"/>
          </a:p>
        </p:txBody>
      </p:sp>
      <p:sp>
        <p:nvSpPr>
          <p:cNvPr id="12" name="Text 7"/>
          <p:cNvSpPr txBox="1"/>
          <p:nvPr/>
        </p:nvSpPr>
        <p:spPr>
          <a:xfrm>
            <a:off x="8705088" y="3977640"/>
            <a:ext cx="1463040" cy="548640"/>
          </a:xfrm>
          <a:prstGeom prst="rect">
            <a:avLst/>
          </a:prstGeom>
          <a:noFill/>
          <a:ln/>
        </p:spPr>
        <p:txBody>
          <a:bodyPr wrap="square" lIns="0" tIns="0" rIns="0" bIns="0" rtlCol="0" anchor="ctr"/>
          <a:lstStyle/>
          <a:p>
            <a:pPr rtl="1" algn="ctr" indent="0" marL="0">
              <a:buNone/>
            </a:pPr>
            <a:r>
              <a:rPr lang="ar-AE" altLang="en-US" sz="1200" dirty="0">
                <a:solidFill>
                  <a:schemeClr val="tx2"/>
                </a:solidFill>
              </a:rPr>
              <a:t>وكيلاً ببطاقات تشغيلية</a:t>
            </a:r>
            <a:endParaRPr lang="ar-AE" sz="1200" dirty="0"/>
          </a:p>
        </p:txBody>
      </p:sp>
      <p:sp>
        <p:nvSpPr>
          <p:cNvPr id="13" name="icon-star"/>
          <p:cNvSpPr/>
          <p:nvPr/>
        </p:nvSpPr>
        <p:spPr>
          <a:xfrm>
            <a:off x="7644384" y="2788920"/>
            <a:ext cx="548640" cy="548640"/>
          </a:xfrm>
          <a:prstGeom prst="ellipse">
            <a:avLst/>
          </a:prstGeom>
          <a:solidFill>
            <a:schemeClr val="accent5"/>
          </a:solidFill>
          <a:ln w="12700">
            <a:solidFill>
              <a:schemeClr val="accent5"/>
            </a:solidFill>
            <a:prstDash val="solid"/>
          </a:ln>
        </p:spPr>
      </p:sp>
      <p:pic>
        <p:nvPicPr>
          <p:cNvPr id="14" name="Image 3" descr="/tmp/claude-0/-home-user/11b98046-3116-585b-b221-e5c2e170e62a/scratchpad/deck/assets/i-star.png">    </p:cNvPr>
          <p:cNvPicPr>
            <a:picLocks noChangeAspect="1"/>
          </p:cNvPicPr>
          <p:nvPr/>
        </p:nvPicPr>
        <p:blipFill>
          <a:blip r:embed="rId4"/>
          <a:stretch>
            <a:fillRect/>
          </a:stretch>
        </p:blipFill>
        <p:spPr>
          <a:xfrm>
            <a:off x="7781544" y="2926080"/>
            <a:ext cx="274320" cy="274320"/>
          </a:xfrm>
          <a:prstGeom prst="rect">
            <a:avLst/>
          </a:prstGeom>
        </p:spPr>
      </p:pic>
      <p:sp>
        <p:nvSpPr>
          <p:cNvPr id="15" name="Text 9"/>
          <p:cNvSpPr txBox="1"/>
          <p:nvPr/>
        </p:nvSpPr>
        <p:spPr>
          <a:xfrm>
            <a:off x="7187184" y="3429000"/>
            <a:ext cx="1463040" cy="548640"/>
          </a:xfrm>
          <a:prstGeom prst="rect">
            <a:avLst/>
          </a:prstGeom>
          <a:noFill/>
          <a:ln/>
        </p:spPr>
        <p:txBody>
          <a:bodyPr wrap="square" lIns="0" tIns="0" rIns="0" bIns="0" rtlCol="0" anchor="ctr"/>
          <a:lstStyle/>
          <a:p>
            <a:pPr rtl="1" algn="ctr" indent="0" marL="0">
              <a:buNone/>
            </a:pPr>
            <a:r>
              <a:rPr lang="ar-AE" altLang="en-US" sz="3000" b="1" dirty="0">
                <a:solidFill>
                  <a:schemeClr val="accent1"/>
                </a:solidFill>
                <a:latin typeface="Calibri" pitchFamily="34" charset="0"/>
                <a:ea typeface="Calibri" pitchFamily="34" charset="-122"/>
                <a:cs typeface="Calibri" pitchFamily="34" charset="-120"/>
              </a:rPr>
              <a:t>14</a:t>
            </a:r>
            <a:endParaRPr lang="ar-AE" sz="3000" dirty="0"/>
          </a:p>
        </p:txBody>
      </p:sp>
      <p:sp>
        <p:nvSpPr>
          <p:cNvPr id="16" name="Text 10"/>
          <p:cNvSpPr txBox="1"/>
          <p:nvPr/>
        </p:nvSpPr>
        <p:spPr>
          <a:xfrm>
            <a:off x="7187184" y="3977640"/>
            <a:ext cx="1463040" cy="548640"/>
          </a:xfrm>
          <a:prstGeom prst="rect">
            <a:avLst/>
          </a:prstGeom>
          <a:noFill/>
          <a:ln/>
        </p:spPr>
        <p:txBody>
          <a:bodyPr wrap="square" lIns="0" tIns="0" rIns="0" bIns="0" rtlCol="0" anchor="ctr"/>
          <a:lstStyle/>
          <a:p>
            <a:pPr rtl="1" algn="ctr" indent="0" marL="0">
              <a:buNone/>
            </a:pPr>
            <a:r>
              <a:rPr lang="ar-AE" altLang="en-US" sz="1200" dirty="0">
                <a:solidFill>
                  <a:schemeClr val="tx2"/>
                </a:solidFill>
              </a:rPr>
              <a:t>مهارة قابلة للاستدعاء</a:t>
            </a:r>
            <a:endParaRPr lang="ar-AE" sz="1200" dirty="0"/>
          </a:p>
        </p:txBody>
      </p:sp>
      <p:sp>
        <p:nvSpPr>
          <p:cNvPr id="17" name="icon-gate"/>
          <p:cNvSpPr/>
          <p:nvPr/>
        </p:nvSpPr>
        <p:spPr>
          <a:xfrm>
            <a:off x="6126480" y="2788920"/>
            <a:ext cx="548640" cy="548640"/>
          </a:xfrm>
          <a:prstGeom prst="ellipse">
            <a:avLst/>
          </a:prstGeom>
          <a:solidFill>
            <a:schemeClr val="accent2"/>
          </a:solidFill>
          <a:ln w="12700">
            <a:solidFill>
              <a:schemeClr val="accent2"/>
            </a:solidFill>
            <a:prstDash val="solid"/>
          </a:ln>
        </p:spPr>
      </p:sp>
      <p:pic>
        <p:nvPicPr>
          <p:cNvPr id="18" name="Image 4" descr="/tmp/claude-0/-home-user/11b98046-3116-585b-b221-e5c2e170e62a/scratchpad/deck/assets/i-gate.png">    </p:cNvPr>
          <p:cNvPicPr>
            <a:picLocks noChangeAspect="1"/>
          </p:cNvPicPr>
          <p:nvPr/>
        </p:nvPicPr>
        <p:blipFill>
          <a:blip r:embed="rId5"/>
          <a:stretch>
            <a:fillRect/>
          </a:stretch>
        </p:blipFill>
        <p:spPr>
          <a:xfrm>
            <a:off x="6263640" y="2926080"/>
            <a:ext cx="274320" cy="274320"/>
          </a:xfrm>
          <a:prstGeom prst="rect">
            <a:avLst/>
          </a:prstGeom>
        </p:spPr>
      </p:pic>
      <p:sp>
        <p:nvSpPr>
          <p:cNvPr id="19" name="Text 12"/>
          <p:cNvSpPr txBox="1"/>
          <p:nvPr/>
        </p:nvSpPr>
        <p:spPr>
          <a:xfrm>
            <a:off x="5669280" y="3429000"/>
            <a:ext cx="1463040" cy="548640"/>
          </a:xfrm>
          <a:prstGeom prst="rect">
            <a:avLst/>
          </a:prstGeom>
          <a:noFill/>
          <a:ln/>
        </p:spPr>
        <p:txBody>
          <a:bodyPr wrap="square" lIns="0" tIns="0" rIns="0" bIns="0" rtlCol="0" anchor="ctr"/>
          <a:lstStyle/>
          <a:p>
            <a:pPr rtl="1" algn="ctr" indent="0" marL="0">
              <a:buNone/>
            </a:pPr>
            <a:r>
              <a:rPr lang="ar-AE" altLang="en-US" sz="3000" b="1" dirty="0">
                <a:solidFill>
                  <a:schemeClr val="accent1"/>
                </a:solidFill>
                <a:latin typeface="Calibri" pitchFamily="34" charset="0"/>
                <a:ea typeface="Calibri" pitchFamily="34" charset="-122"/>
                <a:cs typeface="Calibri" pitchFamily="34" charset="-120"/>
              </a:rPr>
              <a:t>16</a:t>
            </a:r>
            <a:endParaRPr lang="ar-AE" sz="3000" dirty="0"/>
          </a:p>
        </p:txBody>
      </p:sp>
      <p:sp>
        <p:nvSpPr>
          <p:cNvPr id="20" name="Text 13"/>
          <p:cNvSpPr txBox="1"/>
          <p:nvPr/>
        </p:nvSpPr>
        <p:spPr>
          <a:xfrm>
            <a:off x="5669280" y="3977640"/>
            <a:ext cx="1463040" cy="548640"/>
          </a:xfrm>
          <a:prstGeom prst="rect">
            <a:avLst/>
          </a:prstGeom>
          <a:noFill/>
          <a:ln/>
        </p:spPr>
        <p:txBody>
          <a:bodyPr wrap="square" lIns="0" tIns="0" rIns="0" bIns="0" rtlCol="0" anchor="ctr"/>
          <a:lstStyle/>
          <a:p>
            <a:pPr rtl="1" algn="ctr" indent="0" marL="0">
              <a:buNone/>
            </a:pPr>
            <a:r>
              <a:rPr lang="ar-AE" altLang="en-US" sz="1200" dirty="0">
                <a:solidFill>
                  <a:schemeClr val="tx2"/>
                </a:solidFill>
              </a:rPr>
              <a:t>مرحلة ببوابات جودة</a:t>
            </a:r>
            <a:endParaRPr lang="ar-AE" sz="1200" dirty="0"/>
          </a:p>
        </p:txBody>
      </p:sp>
      <p:sp>
        <p:nvSpPr>
          <p:cNvPr id="21" name="Text 14"/>
          <p:cNvSpPr txBox="1"/>
          <p:nvPr/>
        </p:nvSpPr>
        <p:spPr>
          <a:xfrm>
            <a:off x="548640" y="4617720"/>
            <a:ext cx="11091672" cy="365760"/>
          </a:xfrm>
          <a:prstGeom prst="rect">
            <a:avLst/>
          </a:prstGeom>
          <a:noFill/>
          <a:ln/>
        </p:spPr>
        <p:txBody>
          <a:bodyPr wrap="square" lIns="0" tIns="0" rIns="0" bIns="0" rtlCol="0" anchor="ctr"/>
          <a:lstStyle/>
          <a:p>
            <a:pPr rtl="1" algn="r" indent="0" marL="0">
              <a:buNone/>
            </a:pPr>
            <a:r>
              <a:rPr lang="ar-AE" altLang="en-US" sz="1600" b="1" dirty="0">
                <a:solidFill>
                  <a:schemeClr val="accent1"/>
                </a:solidFill>
              </a:rPr>
              <a:t>المبادئ غير القابلة للتفاوض</a:t>
            </a:r>
            <a:endParaRPr lang="ar-AE" sz="1600" dirty="0"/>
          </a:p>
        </p:txBody>
      </p:sp>
      <p:sp>
        <p:nvSpPr>
          <p:cNvPr id="22" name="principle-0"/>
          <p:cNvSpPr/>
          <p:nvPr/>
        </p:nvSpPr>
        <p:spPr>
          <a:xfrm>
            <a:off x="9509760" y="5074920"/>
            <a:ext cx="2103120" cy="566928"/>
          </a:xfrm>
          <a:prstGeom prst="roundRect">
            <a:avLst>
              <a:gd name="adj" fmla="val 19355"/>
            </a:avLst>
          </a:prstGeom>
          <a:solidFill>
            <a:srgbClr val="EEF3F8"/>
          </a:solidFill>
          <a:ln w="12700">
            <a:solidFill>
              <a:srgbClr val="D9E1EA"/>
            </a:solidFill>
            <a:prstDash val="solid"/>
          </a:ln>
        </p:spPr>
      </p:sp>
      <p:sp>
        <p:nvSpPr>
          <p:cNvPr id="23" name="Text 16"/>
          <p:cNvSpPr txBox="1"/>
          <p:nvPr/>
        </p:nvSpPr>
        <p:spPr>
          <a:xfrm>
            <a:off x="9509760" y="5074920"/>
            <a:ext cx="2103120" cy="566928"/>
          </a:xfrm>
          <a:prstGeom prst="rect">
            <a:avLst/>
          </a:prstGeom>
          <a:noFill/>
          <a:ln/>
        </p:spPr>
        <p:txBody>
          <a:bodyPr wrap="square" lIns="0" tIns="0" rIns="0" bIns="0" rtlCol="0" anchor="ctr"/>
          <a:lstStyle/>
          <a:p>
            <a:pPr rtl="1" algn="ctr" indent="0" marL="0">
              <a:buNone/>
            </a:pPr>
            <a:r>
              <a:rPr lang="ar-AE" altLang="en-US" sz="1400" b="1" dirty="0">
                <a:solidFill>
                  <a:schemeClr val="accent1"/>
                </a:solidFill>
              </a:rPr>
              <a:t>صفر تلفيق</a:t>
            </a:r>
            <a:endParaRPr lang="ar-AE" sz="1400" dirty="0"/>
          </a:p>
        </p:txBody>
      </p:sp>
      <p:sp>
        <p:nvSpPr>
          <p:cNvPr id="24" name="principle-1"/>
          <p:cNvSpPr/>
          <p:nvPr/>
        </p:nvSpPr>
        <p:spPr>
          <a:xfrm>
            <a:off x="7269480" y="5074920"/>
            <a:ext cx="2103120" cy="566928"/>
          </a:xfrm>
          <a:prstGeom prst="roundRect">
            <a:avLst>
              <a:gd name="adj" fmla="val 19355"/>
            </a:avLst>
          </a:prstGeom>
          <a:solidFill>
            <a:srgbClr val="EEF3F8"/>
          </a:solidFill>
          <a:ln w="12700">
            <a:solidFill>
              <a:srgbClr val="D9E1EA"/>
            </a:solidFill>
            <a:prstDash val="solid"/>
          </a:ln>
        </p:spPr>
      </p:sp>
      <p:sp>
        <p:nvSpPr>
          <p:cNvPr id="25" name="Text 18"/>
          <p:cNvSpPr txBox="1"/>
          <p:nvPr/>
        </p:nvSpPr>
        <p:spPr>
          <a:xfrm>
            <a:off x="7269480" y="5074920"/>
            <a:ext cx="2103120" cy="566928"/>
          </a:xfrm>
          <a:prstGeom prst="rect">
            <a:avLst/>
          </a:prstGeom>
          <a:noFill/>
          <a:ln/>
        </p:spPr>
        <p:txBody>
          <a:bodyPr wrap="square" lIns="0" tIns="0" rIns="0" bIns="0" rtlCol="0" anchor="ctr"/>
          <a:lstStyle/>
          <a:p>
            <a:pPr rtl="1" algn="ctr" indent="0" marL="0">
              <a:buNone/>
            </a:pPr>
            <a:r>
              <a:rPr lang="ar-AE" altLang="en-US" sz="1400" b="1" dirty="0">
                <a:solidFill>
                  <a:schemeClr val="accent1"/>
                </a:solidFill>
              </a:rPr>
              <a:t>الأرشيف هو المرجع</a:t>
            </a:r>
            <a:endParaRPr lang="ar-AE" sz="1400" dirty="0"/>
          </a:p>
        </p:txBody>
      </p:sp>
      <p:sp>
        <p:nvSpPr>
          <p:cNvPr id="26" name="principle-2"/>
          <p:cNvSpPr/>
          <p:nvPr/>
        </p:nvSpPr>
        <p:spPr>
          <a:xfrm>
            <a:off x="5029200" y="5074920"/>
            <a:ext cx="2103120" cy="566928"/>
          </a:xfrm>
          <a:prstGeom prst="roundRect">
            <a:avLst>
              <a:gd name="adj" fmla="val 19355"/>
            </a:avLst>
          </a:prstGeom>
          <a:solidFill>
            <a:srgbClr val="EEF3F8"/>
          </a:solidFill>
          <a:ln w="12700">
            <a:solidFill>
              <a:srgbClr val="D9E1EA"/>
            </a:solidFill>
            <a:prstDash val="solid"/>
          </a:ln>
        </p:spPr>
      </p:sp>
      <p:sp>
        <p:nvSpPr>
          <p:cNvPr id="27" name="Text 20"/>
          <p:cNvSpPr txBox="1"/>
          <p:nvPr/>
        </p:nvSpPr>
        <p:spPr>
          <a:xfrm>
            <a:off x="5029200" y="5074920"/>
            <a:ext cx="2103120" cy="566928"/>
          </a:xfrm>
          <a:prstGeom prst="rect">
            <a:avLst/>
          </a:prstGeom>
          <a:noFill/>
          <a:ln/>
        </p:spPr>
        <p:txBody>
          <a:bodyPr wrap="square" lIns="0" tIns="0" rIns="0" bIns="0" rtlCol="0" anchor="ctr"/>
          <a:lstStyle/>
          <a:p>
            <a:pPr rtl="1" algn="ctr" indent="0" marL="0">
              <a:buNone/>
            </a:pPr>
            <a:r>
              <a:rPr lang="ar-AE" altLang="en-US" sz="1400" b="1" dirty="0">
                <a:solidFill>
                  <a:schemeClr val="accent1"/>
                </a:solidFill>
              </a:rPr>
              <a:t>اللفظ المحلي كما نُطق</a:t>
            </a:r>
            <a:endParaRPr lang="ar-AE" sz="1400" dirty="0"/>
          </a:p>
        </p:txBody>
      </p:sp>
      <p:sp>
        <p:nvSpPr>
          <p:cNvPr id="28" name="principle-3"/>
          <p:cNvSpPr/>
          <p:nvPr/>
        </p:nvSpPr>
        <p:spPr>
          <a:xfrm>
            <a:off x="2788920" y="5074920"/>
            <a:ext cx="2103120" cy="566928"/>
          </a:xfrm>
          <a:prstGeom prst="roundRect">
            <a:avLst>
              <a:gd name="adj" fmla="val 19355"/>
            </a:avLst>
          </a:prstGeom>
          <a:solidFill>
            <a:srgbClr val="EEF3F8"/>
          </a:solidFill>
          <a:ln w="12700">
            <a:solidFill>
              <a:srgbClr val="D9E1EA"/>
            </a:solidFill>
            <a:prstDash val="solid"/>
          </a:ln>
        </p:spPr>
      </p:sp>
      <p:sp>
        <p:nvSpPr>
          <p:cNvPr id="29" name="Text 22"/>
          <p:cNvSpPr txBox="1"/>
          <p:nvPr/>
        </p:nvSpPr>
        <p:spPr>
          <a:xfrm>
            <a:off x="2788920" y="5074920"/>
            <a:ext cx="2103120" cy="566928"/>
          </a:xfrm>
          <a:prstGeom prst="rect">
            <a:avLst/>
          </a:prstGeom>
          <a:noFill/>
          <a:ln/>
        </p:spPr>
        <p:txBody>
          <a:bodyPr wrap="square" lIns="0" tIns="0" rIns="0" bIns="0" rtlCol="0" anchor="ctr"/>
          <a:lstStyle/>
          <a:p>
            <a:pPr rtl="1" algn="ctr" indent="0" marL="0">
              <a:buNone/>
            </a:pPr>
            <a:r>
              <a:rPr lang="ar-AE" altLang="en-US" sz="1400" b="1" dirty="0">
                <a:solidFill>
                  <a:schemeClr val="accent1"/>
                </a:solidFill>
              </a:rPr>
              <a:t>الاعتماد للإنسان</a:t>
            </a:r>
            <a:endParaRPr lang="ar-AE" sz="1400" dirty="0"/>
          </a:p>
        </p:txBody>
      </p:sp>
      <p:sp>
        <p:nvSpPr>
          <p:cNvPr id="30" name="principle-4"/>
          <p:cNvSpPr/>
          <p:nvPr/>
        </p:nvSpPr>
        <p:spPr>
          <a:xfrm>
            <a:off x="548640" y="5074920"/>
            <a:ext cx="2103120" cy="566928"/>
          </a:xfrm>
          <a:prstGeom prst="roundRect">
            <a:avLst>
              <a:gd name="adj" fmla="val 19355"/>
            </a:avLst>
          </a:prstGeom>
          <a:solidFill>
            <a:srgbClr val="EEF3F8"/>
          </a:solidFill>
          <a:ln w="12700">
            <a:solidFill>
              <a:srgbClr val="D9E1EA"/>
            </a:solidFill>
            <a:prstDash val="solid"/>
          </a:ln>
        </p:spPr>
      </p:sp>
      <p:sp>
        <p:nvSpPr>
          <p:cNvPr id="31" name="Text 24"/>
          <p:cNvSpPr txBox="1"/>
          <p:nvPr/>
        </p:nvSpPr>
        <p:spPr>
          <a:xfrm>
            <a:off x="548640" y="5074920"/>
            <a:ext cx="2103120" cy="566928"/>
          </a:xfrm>
          <a:prstGeom prst="rect">
            <a:avLst/>
          </a:prstGeom>
          <a:noFill/>
          <a:ln/>
        </p:spPr>
        <p:txBody>
          <a:bodyPr wrap="square" lIns="0" tIns="0" rIns="0" bIns="0" rtlCol="0" anchor="ctr"/>
          <a:lstStyle/>
          <a:p>
            <a:pPr rtl="1" algn="ctr" indent="0" marL="0">
              <a:buNone/>
            </a:pPr>
            <a:r>
              <a:rPr lang="ar-AE" altLang="en-US" sz="1400" b="1" dirty="0">
                <a:solidFill>
                  <a:schemeClr val="accent1"/>
                </a:solidFill>
              </a:rPr>
              <a:t>ما صُمّم غير ما نُفّذ</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خريطة هذا الدليل</a:t>
            </a:r>
            <a:endParaRPr lang="ar-AE" sz="3200" dirty="0"/>
          </a:p>
        </p:txBody>
      </p:sp>
      <p:sp>
        <p:nvSpPr>
          <p:cNvPr id="3" name="part-card-0"/>
          <p:cNvSpPr/>
          <p:nvPr/>
        </p:nvSpPr>
        <p:spPr>
          <a:xfrm>
            <a:off x="8046720" y="1371600"/>
            <a:ext cx="3520440" cy="4663440"/>
          </a:xfrm>
          <a:prstGeom prst="roundRect">
            <a:avLst>
              <a:gd name="adj" fmla="val 3117"/>
            </a:avLst>
          </a:prstGeom>
          <a:solidFill>
            <a:srgbClr val="FFFFFF"/>
          </a:solidFill>
          <a:ln w="12700">
            <a:solidFill>
              <a:srgbClr val="D9E1EA"/>
            </a:solidFill>
            <a:prstDash val="solid"/>
          </a:ln>
          <a:effectLst>
            <a:outerShdw sx="100000" sy="100000" kx="0" ky="0" algn="bl" rotWithShape="0" blurRad="101600" dist="25400" dir="5400000">
              <a:srgbClr val="12263F">
                <a:alpha val="14000"/>
              </a:srgbClr>
            </a:outerShdw>
          </a:effectLst>
        </p:spPr>
      </p:sp>
      <p:pic>
        <p:nvPicPr>
          <p:cNvPr id="4" name="Image 0" descr="/tmp/claude-0/-home-user/11b98046-3116-585b-b221-e5c2e170e62a/scratchpad/deck/assets/photos/material.jpg">    </p:cNvPr>
          <p:cNvPicPr>
            <a:picLocks noChangeAspect="1"/>
          </p:cNvPicPr>
          <p:nvPr/>
        </p:nvPicPr>
        <p:blipFill>
          <a:blip r:embed="rId1"/>
          <a:srcRect l="0" r="0" t="0" b="0"/>
          <a:stretch/>
        </p:blipFill>
        <p:spPr>
          <a:xfrm>
            <a:off x="8183880" y="1508760"/>
            <a:ext cx="3246120" cy="2011680"/>
          </a:xfrm>
          <a:prstGeom prst="rect">
            <a:avLst/>
          </a:prstGeom>
        </p:spPr>
      </p:pic>
      <p:sp>
        <p:nvSpPr>
          <p:cNvPr id="5" name="num-1"/>
          <p:cNvSpPr/>
          <p:nvPr/>
        </p:nvSpPr>
        <p:spPr>
          <a:xfrm>
            <a:off x="10972800" y="3749040"/>
            <a:ext cx="457200" cy="457200"/>
          </a:xfrm>
          <a:prstGeom prst="ellipse">
            <a:avLst/>
          </a:prstGeom>
          <a:solidFill>
            <a:schemeClr val="accent2"/>
          </a:solidFill>
          <a:ln w="12700">
            <a:solidFill>
              <a:schemeClr val="accent2"/>
            </a:solidFill>
            <a:prstDash val="solid"/>
          </a:ln>
        </p:spPr>
      </p:sp>
      <p:sp>
        <p:nvSpPr>
          <p:cNvPr id="6" name="Text 3"/>
          <p:cNvSpPr txBox="1"/>
          <p:nvPr/>
        </p:nvSpPr>
        <p:spPr>
          <a:xfrm>
            <a:off x="10972800" y="3749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275320" y="3730752"/>
            <a:ext cx="2606040" cy="502920"/>
          </a:xfrm>
          <a:prstGeom prst="rect">
            <a:avLst/>
          </a:prstGeom>
          <a:noFill/>
          <a:ln/>
        </p:spPr>
        <p:txBody>
          <a:bodyPr wrap="square" lIns="0" tIns="0" rIns="0" bIns="0" rtlCol="0" anchor="ctr"/>
          <a:lstStyle/>
          <a:p>
            <a:pPr rtl="1" algn="r" indent="0" marL="0">
              <a:buNone/>
            </a:pPr>
            <a:r>
              <a:rPr lang="ar-AE" altLang="en-US" sz="2200" b="1" dirty="0">
                <a:solidFill>
                  <a:schemeClr val="accent1"/>
                </a:solidFill>
              </a:rPr>
              <a:t>البدء</a:t>
            </a:r>
            <a:endParaRPr lang="ar-AE" sz="2200" dirty="0"/>
          </a:p>
        </p:txBody>
      </p:sp>
      <p:sp>
        <p:nvSpPr>
          <p:cNvPr id="8" name="Text 5"/>
          <p:cNvSpPr txBox="1"/>
          <p:nvPr/>
        </p:nvSpPr>
        <p:spPr>
          <a:xfrm>
            <a:off x="8275320" y="4343400"/>
            <a:ext cx="3063240" cy="1463040"/>
          </a:xfrm>
          <a:prstGeom prst="rect">
            <a:avLst/>
          </a:prstGeom>
          <a:noFill/>
          <a:ln/>
        </p:spPr>
        <p:txBody>
          <a:bodyPr wrap="square" lIns="0" tIns="0" rIns="0" bIns="0" rtlCol="0" anchor="ctr"/>
          <a:lstStyle/>
          <a:p>
            <a:pPr rtl="1" algn="r" indent="0" marL="0">
              <a:buNone/>
            </a:pPr>
            <a:r>
              <a:rPr lang="ar-AE" altLang="en-US" sz="1400" dirty="0">
                <a:solidFill>
                  <a:schemeClr val="tx1"/>
                </a:solidFill>
              </a:rPr>
              <a:t>التنصيب، والأيقونة، وأنماط التشغيل، ودليل البدء</a:t>
            </a:r>
            <a:endParaRPr lang="ar-AE" sz="1400" dirty="0"/>
          </a:p>
        </p:txBody>
      </p:sp>
      <p:sp>
        <p:nvSpPr>
          <p:cNvPr id="9" name="part-card-1"/>
          <p:cNvSpPr/>
          <p:nvPr/>
        </p:nvSpPr>
        <p:spPr>
          <a:xfrm>
            <a:off x="4297680" y="1371600"/>
            <a:ext cx="3520440" cy="4663440"/>
          </a:xfrm>
          <a:prstGeom prst="roundRect">
            <a:avLst>
              <a:gd name="adj" fmla="val 3117"/>
            </a:avLst>
          </a:prstGeom>
          <a:solidFill>
            <a:srgbClr val="FFFFFF"/>
          </a:solidFill>
          <a:ln w="12700">
            <a:solidFill>
              <a:srgbClr val="D9E1EA"/>
            </a:solidFill>
            <a:prstDash val="solid"/>
          </a:ln>
          <a:effectLst>
            <a:outerShdw sx="100000" sy="100000" kx="0" ky="0" algn="bl" rotWithShape="0" blurRad="101600" dist="25400" dir="5400000">
              <a:srgbClr val="12263F">
                <a:alpha val="14000"/>
              </a:srgbClr>
            </a:outerShdw>
          </a:effectLst>
        </p:spPr>
      </p:sp>
      <p:pic>
        <p:nvPicPr>
          <p:cNvPr id="10" name="Image 1" descr="/tmp/claude-0/-home-user/11b98046-3116-585b-b221-e5c2e170e62a/scratchpad/deck/assets/photos/contact.jpg">    </p:cNvPr>
          <p:cNvPicPr>
            <a:picLocks noChangeAspect="1"/>
          </p:cNvPicPr>
          <p:nvPr/>
        </p:nvPicPr>
        <p:blipFill>
          <a:blip r:embed="rId2"/>
          <a:srcRect l="0" r="0" t="0" b="0"/>
          <a:stretch/>
        </p:blipFill>
        <p:spPr>
          <a:xfrm>
            <a:off x="4434840" y="1508760"/>
            <a:ext cx="3246120" cy="2011680"/>
          </a:xfrm>
          <a:prstGeom prst="rect">
            <a:avLst/>
          </a:prstGeom>
        </p:spPr>
      </p:pic>
      <p:sp>
        <p:nvSpPr>
          <p:cNvPr id="11" name="num-2"/>
          <p:cNvSpPr/>
          <p:nvPr/>
        </p:nvSpPr>
        <p:spPr>
          <a:xfrm>
            <a:off x="7223760" y="3749040"/>
            <a:ext cx="457200" cy="457200"/>
          </a:xfrm>
          <a:prstGeom prst="ellipse">
            <a:avLst/>
          </a:prstGeom>
          <a:solidFill>
            <a:schemeClr val="accent2"/>
          </a:solidFill>
          <a:ln w="12700">
            <a:solidFill>
              <a:schemeClr val="accent2"/>
            </a:solidFill>
            <a:prstDash val="solid"/>
          </a:ln>
        </p:spPr>
      </p:sp>
      <p:sp>
        <p:nvSpPr>
          <p:cNvPr id="12" name="Text 8"/>
          <p:cNvSpPr txBox="1"/>
          <p:nvPr/>
        </p:nvSpPr>
        <p:spPr>
          <a:xfrm>
            <a:off x="7223760" y="3749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4526280" y="3730752"/>
            <a:ext cx="2606040" cy="502920"/>
          </a:xfrm>
          <a:prstGeom prst="rect">
            <a:avLst/>
          </a:prstGeom>
          <a:noFill/>
          <a:ln/>
        </p:spPr>
        <p:txBody>
          <a:bodyPr wrap="square" lIns="0" tIns="0" rIns="0" bIns="0" rtlCol="0" anchor="ctr"/>
          <a:lstStyle/>
          <a:p>
            <a:pPr rtl="1" algn="r" indent="0" marL="0">
              <a:buNone/>
            </a:pPr>
            <a:r>
              <a:rPr lang="ar-AE" altLang="en-US" sz="2200" b="1" dirty="0">
                <a:solidFill>
                  <a:schemeClr val="accent1"/>
                </a:solidFill>
              </a:rPr>
              <a:t>الشاشات</a:t>
            </a:r>
            <a:endParaRPr lang="ar-AE" sz="2200" dirty="0"/>
          </a:p>
        </p:txBody>
      </p:sp>
      <p:sp>
        <p:nvSpPr>
          <p:cNvPr id="14" name="Text 10"/>
          <p:cNvSpPr txBox="1"/>
          <p:nvPr/>
        </p:nvSpPr>
        <p:spPr>
          <a:xfrm>
            <a:off x="4526280" y="4343400"/>
            <a:ext cx="3063240" cy="1463040"/>
          </a:xfrm>
          <a:prstGeom prst="rect">
            <a:avLst/>
          </a:prstGeom>
          <a:noFill/>
          <a:ln/>
        </p:spPr>
        <p:txBody>
          <a:bodyPr wrap="square" lIns="0" tIns="0" rIns="0" bIns="0" rtlCol="0" anchor="ctr"/>
          <a:lstStyle/>
          <a:p>
            <a:pPr rtl="1" algn="r" indent="0" marL="0">
              <a:buNone/>
            </a:pPr>
            <a:r>
              <a:rPr lang="ar-AE" altLang="en-US" sz="1400" dirty="0">
                <a:solidFill>
                  <a:schemeClr val="tx1"/>
                </a:solidFill>
              </a:rPr>
              <a:t>الرئيسية، والمشاريع، والسجلات، والخزنة، والمختبر، والأدلة، والوكلاء، والمهارات</a:t>
            </a:r>
            <a:endParaRPr lang="ar-AE" sz="1400" dirty="0"/>
          </a:p>
        </p:txBody>
      </p:sp>
      <p:sp>
        <p:nvSpPr>
          <p:cNvPr id="15" name="part-card-2"/>
          <p:cNvSpPr/>
          <p:nvPr/>
        </p:nvSpPr>
        <p:spPr>
          <a:xfrm>
            <a:off x="548640" y="1371600"/>
            <a:ext cx="3520440" cy="4663440"/>
          </a:xfrm>
          <a:prstGeom prst="roundRect">
            <a:avLst>
              <a:gd name="adj" fmla="val 3117"/>
            </a:avLst>
          </a:prstGeom>
          <a:solidFill>
            <a:srgbClr val="FFFFFF"/>
          </a:solidFill>
          <a:ln w="12700">
            <a:solidFill>
              <a:srgbClr val="D9E1EA"/>
            </a:solidFill>
            <a:prstDash val="solid"/>
          </a:ln>
          <a:effectLst>
            <a:outerShdw sx="100000" sy="100000" kx="0" ky="0" algn="bl" rotWithShape="0" blurRad="101600" dist="25400" dir="5400000">
              <a:srgbClr val="12263F">
                <a:alpha val="14000"/>
              </a:srgbClr>
            </a:outerShdw>
          </a:effectLst>
        </p:spPr>
      </p:sp>
      <p:pic>
        <p:nvPicPr>
          <p:cNvPr id="16" name="Image 2" descr="/tmp/claude-0/-home-user/11b98046-3116-585b-b221-e5c2e170e62a/scratchpad/deck/assets/photos/lab.jpg">    </p:cNvPr>
          <p:cNvPicPr>
            <a:picLocks noChangeAspect="1"/>
          </p:cNvPicPr>
          <p:nvPr/>
        </p:nvPicPr>
        <p:blipFill>
          <a:blip r:embed="rId3"/>
          <a:srcRect l="0" r="0" t="0" b="0"/>
          <a:stretch/>
        </p:blipFill>
        <p:spPr>
          <a:xfrm>
            <a:off x="685800" y="1508760"/>
            <a:ext cx="3246120" cy="2011680"/>
          </a:xfrm>
          <a:prstGeom prst="rect">
            <a:avLst/>
          </a:prstGeom>
        </p:spPr>
      </p:pic>
      <p:sp>
        <p:nvSpPr>
          <p:cNvPr id="17" name="num-3"/>
          <p:cNvSpPr/>
          <p:nvPr/>
        </p:nvSpPr>
        <p:spPr>
          <a:xfrm>
            <a:off x="3474720" y="3749040"/>
            <a:ext cx="457200" cy="457200"/>
          </a:xfrm>
          <a:prstGeom prst="ellipse">
            <a:avLst/>
          </a:prstGeom>
          <a:solidFill>
            <a:schemeClr val="accent2"/>
          </a:solidFill>
          <a:ln w="12700">
            <a:solidFill>
              <a:schemeClr val="accent2"/>
            </a:solidFill>
            <a:prstDash val="solid"/>
          </a:ln>
        </p:spPr>
      </p:sp>
      <p:sp>
        <p:nvSpPr>
          <p:cNvPr id="18" name="Text 13"/>
          <p:cNvSpPr txBox="1"/>
          <p:nvPr/>
        </p:nvSpPr>
        <p:spPr>
          <a:xfrm>
            <a:off x="3474720" y="3749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Text 14"/>
          <p:cNvSpPr txBox="1"/>
          <p:nvPr/>
        </p:nvSpPr>
        <p:spPr>
          <a:xfrm>
            <a:off x="777240" y="3730752"/>
            <a:ext cx="2606040" cy="502920"/>
          </a:xfrm>
          <a:prstGeom prst="rect">
            <a:avLst/>
          </a:prstGeom>
          <a:noFill/>
          <a:ln/>
        </p:spPr>
        <p:txBody>
          <a:bodyPr wrap="square" lIns="0" tIns="0" rIns="0" bIns="0" rtlCol="0" anchor="ctr"/>
          <a:lstStyle/>
          <a:p>
            <a:pPr rtl="1" algn="r" indent="0" marL="0">
              <a:buNone/>
            </a:pPr>
            <a:r>
              <a:rPr lang="ar-AE" altLang="en-US" sz="2200" b="1" dirty="0">
                <a:solidFill>
                  <a:schemeClr val="accent1"/>
                </a:solidFill>
              </a:rPr>
              <a:t>الاستخدام</a:t>
            </a:r>
            <a:endParaRPr lang="ar-AE" sz="2200" dirty="0"/>
          </a:p>
        </p:txBody>
      </p:sp>
      <p:sp>
        <p:nvSpPr>
          <p:cNvPr id="20" name="Text 15"/>
          <p:cNvSpPr txBox="1"/>
          <p:nvPr/>
        </p:nvSpPr>
        <p:spPr>
          <a:xfrm>
            <a:off x="777240" y="4343400"/>
            <a:ext cx="3063240" cy="1463040"/>
          </a:xfrm>
          <a:prstGeom prst="rect">
            <a:avLst/>
          </a:prstGeom>
          <a:noFill/>
          <a:ln/>
        </p:spPr>
        <p:txBody>
          <a:bodyPr wrap="square" lIns="0" tIns="0" rIns="0" bIns="0" rtlCol="0" anchor="ctr"/>
          <a:lstStyle/>
          <a:p>
            <a:pPr rtl="1" algn="r" indent="0" marL="0">
              <a:buNone/>
            </a:pPr>
            <a:r>
              <a:rPr lang="ar-AE" altLang="en-US" sz="1400" dirty="0">
                <a:solidFill>
                  <a:schemeClr val="tx1"/>
                </a:solidFill>
              </a:rPr>
              <a:t>رحلة بحث كاملة، والنموذج التطبيقي، والقواعد، وعند التعثر</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ection-art" descr="/tmp/claude-0/-home-user/11b98046-3116-585b-b221-e5c2e170e62a/scratchpad/deck/assets/photos/login.jpg">    </p:cNvPr>
          <p:cNvPicPr>
            <a:picLocks noChangeAspect="1"/>
          </p:cNvPicPr>
          <p:nvPr/>
        </p:nvPicPr>
        <p:blipFill>
          <a:blip r:embed="rId1"/>
          <a:srcRect l="0" r="0" t="0" b="0"/>
          <a:stretch/>
        </p:blipFill>
        <p:spPr>
          <a:xfrm>
            <a:off x="0" y="0"/>
            <a:ext cx="5486400" cy="6583680"/>
          </a:xfrm>
          <a:prstGeom prst="rect">
            <a:avLst/>
          </a:prstGeom>
        </p:spPr>
      </p:pic>
      <p:sp>
        <p:nvSpPr>
          <p:cNvPr id="3" name="Text 0"/>
          <p:cNvSpPr/>
          <p:nvPr>
            <p:ph idx="101" type="title" hasCustomPrompt="1"/>
          </p:nvPr>
        </p:nvSpPr>
        <p:spPr>
          <a:xfrm>
            <a:off x="6035040" y="2514600"/>
            <a:ext cx="5577840" cy="1097280"/>
          </a:xfrm>
          <a:prstGeom prst="rect">
            <a:avLst/>
          </a:prstGeom>
          <a:noFill/>
          <a:ln/>
        </p:spPr>
        <p:txBody>
          <a:bodyPr wrap="square" rtlCol="0" anchor="ctr"/>
          <a:lstStyle/>
          <a:p>
            <a:pPr rtl="1" algn="r" indent="0" marL="0">
              <a:buNone/>
            </a:pPr>
            <a:r>
              <a:rPr lang="ar-AE" altLang="en-US" sz="4000" b="1" dirty="0">
                <a:solidFill>
                  <a:schemeClr val="bg1"/>
                </a:solidFill>
              </a:rPr>
              <a:t>البدء</a:t>
            </a:r>
            <a:endParaRPr lang="ar-AE" sz="4000" dirty="0"/>
          </a:p>
        </p:txBody>
      </p:sp>
      <p:sp>
        <p:nvSpPr>
          <p:cNvPr id="4" name="Text 0"/>
          <p:cNvSpPr/>
          <p:nvPr>
            <p:ph idx="102" type="body" hasCustomPrompt="1"/>
          </p:nvPr>
        </p:nvSpPr>
        <p:spPr>
          <a:xfrm>
            <a:off x="6035040" y="3611880"/>
            <a:ext cx="5577840" cy="1097280"/>
          </a:xfrm>
          <a:prstGeom prst="rect">
            <a:avLst/>
          </a:prstGeom>
          <a:noFill/>
          <a:ln/>
        </p:spPr>
        <p:txBody>
          <a:bodyPr wrap="square" rtlCol="0" anchor="t"/>
          <a:lstStyle/>
          <a:p>
            <a:pPr rtl="1" algn="r" indent="0" marL="0">
              <a:buNone/>
            </a:pPr>
            <a:r>
              <a:rPr lang="ar-AE" altLang="en-US" sz="1800" dirty="0">
                <a:solidFill>
                  <a:srgbClr val="D9E4F0"/>
                </a:solidFill>
              </a:rPr>
              <a:t>تنصيب على جهاز واحد بأيقونة على سطح المكتب، ثم جولة تعريفية.</a:t>
            </a:r>
            <a:endParaRPr lang="ar-AE"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التنصيب في ثلاث خطوات</a:t>
            </a:r>
            <a:endParaRPr lang="ar-AE" sz="3200" dirty="0"/>
          </a:p>
        </p:txBody>
      </p:sp>
      <p:sp>
        <p:nvSpPr>
          <p:cNvPr id="3" name="step-0"/>
          <p:cNvSpPr/>
          <p:nvPr/>
        </p:nvSpPr>
        <p:spPr>
          <a:xfrm>
            <a:off x="8046720" y="1417320"/>
            <a:ext cx="3520440" cy="2834640"/>
          </a:xfrm>
          <a:prstGeom prst="roundRect">
            <a:avLst>
              <a:gd name="adj" fmla="val 3871"/>
            </a:avLst>
          </a:prstGeom>
          <a:solidFill>
            <a:srgbClr val="EEF3F8"/>
          </a:solidFill>
          <a:ln w="12700">
            <a:solidFill>
              <a:srgbClr val="D9E1EA"/>
            </a:solidFill>
            <a:prstDash val="solid"/>
          </a:ln>
        </p:spPr>
      </p:sp>
      <p:sp>
        <p:nvSpPr>
          <p:cNvPr id="4" name="icon-lock"/>
          <p:cNvSpPr/>
          <p:nvPr/>
        </p:nvSpPr>
        <p:spPr>
          <a:xfrm>
            <a:off x="10744200" y="1645920"/>
            <a:ext cx="640080" cy="640080"/>
          </a:xfrm>
          <a:prstGeom prst="ellipse">
            <a:avLst/>
          </a:prstGeom>
          <a:solidFill>
            <a:schemeClr val="accent1"/>
          </a:solidFill>
          <a:ln w="12700">
            <a:solidFill>
              <a:schemeClr val="accent1"/>
            </a:solidFill>
            <a:prstDash val="solid"/>
          </a:ln>
        </p:spPr>
      </p:sp>
      <p:pic>
        <p:nvPicPr>
          <p:cNvPr id="5" name="Image 0" descr="/tmp/claude-0/-home-user/11b98046-3116-585b-b221-e5c2e170e62a/scratchpad/deck/assets/i-lock.png">    </p:cNvPr>
          <p:cNvPicPr>
            <a:picLocks noChangeAspect="1"/>
          </p:cNvPicPr>
          <p:nvPr/>
        </p:nvPicPr>
        <p:blipFill>
          <a:blip r:embed="rId1"/>
          <a:stretch>
            <a:fillRect/>
          </a:stretch>
        </p:blipFill>
        <p:spPr>
          <a:xfrm>
            <a:off x="10904220" y="1805940"/>
            <a:ext cx="320040" cy="320040"/>
          </a:xfrm>
          <a:prstGeom prst="rect">
            <a:avLst/>
          </a:prstGeom>
        </p:spPr>
      </p:pic>
      <p:sp>
        <p:nvSpPr>
          <p:cNvPr id="6" name="num-1"/>
          <p:cNvSpPr/>
          <p:nvPr/>
        </p:nvSpPr>
        <p:spPr>
          <a:xfrm>
            <a:off x="8321040" y="1737360"/>
            <a:ext cx="420624" cy="420624"/>
          </a:xfrm>
          <a:prstGeom prst="ellipse">
            <a:avLst/>
          </a:prstGeom>
          <a:solidFill>
            <a:schemeClr val="accent1"/>
          </a:solidFill>
          <a:ln w="12700">
            <a:solidFill>
              <a:schemeClr val="accent1"/>
            </a:solidFill>
            <a:prstDash val="solid"/>
          </a:ln>
        </p:spPr>
      </p:sp>
      <p:sp>
        <p:nvSpPr>
          <p:cNvPr id="7" name="Text 4"/>
          <p:cNvSpPr txBox="1"/>
          <p:nvPr/>
        </p:nvSpPr>
        <p:spPr>
          <a:xfrm>
            <a:off x="8321040" y="17373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8321040" y="2468880"/>
            <a:ext cx="2971800" cy="457200"/>
          </a:xfrm>
          <a:prstGeom prst="rect">
            <a:avLst/>
          </a:prstGeom>
          <a:noFill/>
          <a:ln/>
        </p:spPr>
        <p:txBody>
          <a:bodyPr wrap="square" lIns="0" tIns="0" rIns="0" bIns="0" rtlCol="0" anchor="ctr"/>
          <a:lstStyle/>
          <a:p>
            <a:pPr rtl="1" algn="r" indent="0" marL="0">
              <a:buNone/>
            </a:pPr>
            <a:r>
              <a:rPr lang="ar-AE" altLang="en-US" sz="1900" b="1" dirty="0">
                <a:solidFill>
                  <a:schemeClr val="accent1"/>
                </a:solidFill>
              </a:rPr>
              <a:t>افتحوا PowerShell</a:t>
            </a:r>
            <a:endParaRPr lang="ar-AE" sz="1900" dirty="0"/>
          </a:p>
        </p:txBody>
      </p:sp>
      <p:sp>
        <p:nvSpPr>
          <p:cNvPr id="9" name="Text 6"/>
          <p:cNvSpPr txBox="1"/>
          <p:nvPr/>
        </p:nvSpPr>
        <p:spPr>
          <a:xfrm>
            <a:off x="8321040" y="2971800"/>
            <a:ext cx="2971800" cy="1143000"/>
          </a:xfrm>
          <a:prstGeom prst="rect">
            <a:avLst/>
          </a:prstGeom>
          <a:noFill/>
          <a:ln/>
        </p:spPr>
        <p:txBody>
          <a:bodyPr wrap="square" lIns="0" tIns="0" rIns="0" bIns="0" rtlCol="0" anchor="ctr"/>
          <a:lstStyle/>
          <a:p>
            <a:pPr rtl="1" algn="r" indent="0" marL="0">
              <a:buNone/>
            </a:pPr>
            <a:r>
              <a:rPr lang="ar-AE" altLang="en-US" sz="1400" dirty="0">
                <a:solidFill>
                  <a:schemeClr val="tx1"/>
                </a:solidFill>
              </a:rPr>
              <a:t>من قائمة «ابدأ»، نافذة عادية لا «كمسؤول». وفي ماك: Terminal.</a:t>
            </a:r>
            <a:endParaRPr lang="ar-AE" sz="1400" dirty="0"/>
          </a:p>
        </p:txBody>
      </p:sp>
      <p:sp>
        <p:nvSpPr>
          <p:cNvPr id="10" name="step-1"/>
          <p:cNvSpPr/>
          <p:nvPr/>
        </p:nvSpPr>
        <p:spPr>
          <a:xfrm>
            <a:off x="4297680" y="1417320"/>
            <a:ext cx="3520440" cy="2834640"/>
          </a:xfrm>
          <a:prstGeom prst="roundRect">
            <a:avLst>
              <a:gd name="adj" fmla="val 3871"/>
            </a:avLst>
          </a:prstGeom>
          <a:solidFill>
            <a:srgbClr val="EEF3F8"/>
          </a:solidFill>
          <a:ln w="12700">
            <a:solidFill>
              <a:srgbClr val="D9E1EA"/>
            </a:solidFill>
            <a:prstDash val="solid"/>
          </a:ln>
        </p:spPr>
      </p:sp>
      <p:sp>
        <p:nvSpPr>
          <p:cNvPr id="11" name="icon-download"/>
          <p:cNvSpPr/>
          <p:nvPr/>
        </p:nvSpPr>
        <p:spPr>
          <a:xfrm>
            <a:off x="6995160" y="1645920"/>
            <a:ext cx="640080" cy="640080"/>
          </a:xfrm>
          <a:prstGeom prst="ellipse">
            <a:avLst/>
          </a:prstGeom>
          <a:solidFill>
            <a:schemeClr val="accent2"/>
          </a:solidFill>
          <a:ln w="12700">
            <a:solidFill>
              <a:schemeClr val="accent2"/>
            </a:solidFill>
            <a:prstDash val="solid"/>
          </a:ln>
        </p:spPr>
      </p:sp>
      <p:pic>
        <p:nvPicPr>
          <p:cNvPr id="12" name="Image 1" descr="/tmp/claude-0/-home-user/11b98046-3116-585b-b221-e5c2e170e62a/scratchpad/deck/assets/i-download.png">    </p:cNvPr>
          <p:cNvPicPr>
            <a:picLocks noChangeAspect="1"/>
          </p:cNvPicPr>
          <p:nvPr/>
        </p:nvPicPr>
        <p:blipFill>
          <a:blip r:embed="rId2"/>
          <a:stretch>
            <a:fillRect/>
          </a:stretch>
        </p:blipFill>
        <p:spPr>
          <a:xfrm>
            <a:off x="7155180" y="1805940"/>
            <a:ext cx="320040" cy="320040"/>
          </a:xfrm>
          <a:prstGeom prst="rect">
            <a:avLst/>
          </a:prstGeom>
        </p:spPr>
      </p:pic>
      <p:sp>
        <p:nvSpPr>
          <p:cNvPr id="13" name="num-2"/>
          <p:cNvSpPr/>
          <p:nvPr/>
        </p:nvSpPr>
        <p:spPr>
          <a:xfrm>
            <a:off x="4572000" y="1737360"/>
            <a:ext cx="420624" cy="420624"/>
          </a:xfrm>
          <a:prstGeom prst="ellipse">
            <a:avLst/>
          </a:prstGeom>
          <a:solidFill>
            <a:schemeClr val="accent1"/>
          </a:solidFill>
          <a:ln w="12700">
            <a:solidFill>
              <a:schemeClr val="accent1"/>
            </a:solidFill>
            <a:prstDash val="solid"/>
          </a:ln>
        </p:spPr>
      </p:sp>
      <p:sp>
        <p:nvSpPr>
          <p:cNvPr id="14" name="Text 10"/>
          <p:cNvSpPr txBox="1"/>
          <p:nvPr/>
        </p:nvSpPr>
        <p:spPr>
          <a:xfrm>
            <a:off x="4572000" y="17373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5" name="Text 11"/>
          <p:cNvSpPr txBox="1"/>
          <p:nvPr/>
        </p:nvSpPr>
        <p:spPr>
          <a:xfrm>
            <a:off x="4572000" y="2468880"/>
            <a:ext cx="2971800" cy="457200"/>
          </a:xfrm>
          <a:prstGeom prst="rect">
            <a:avLst/>
          </a:prstGeom>
          <a:noFill/>
          <a:ln/>
        </p:spPr>
        <p:txBody>
          <a:bodyPr wrap="square" lIns="0" tIns="0" rIns="0" bIns="0" rtlCol="0" anchor="ctr"/>
          <a:lstStyle/>
          <a:p>
            <a:pPr rtl="1" algn="r" indent="0" marL="0">
              <a:buNone/>
            </a:pPr>
            <a:r>
              <a:rPr lang="ar-AE" altLang="en-US" sz="1900" b="1" dirty="0">
                <a:solidFill>
                  <a:schemeClr val="accent1"/>
                </a:solidFill>
              </a:rPr>
              <a:t>الصقوا سطر التنصيب</a:t>
            </a:r>
            <a:endParaRPr lang="ar-AE" sz="1900" dirty="0"/>
          </a:p>
        </p:txBody>
      </p:sp>
      <p:sp>
        <p:nvSpPr>
          <p:cNvPr id="16" name="Text 12"/>
          <p:cNvSpPr txBox="1"/>
          <p:nvPr/>
        </p:nvSpPr>
        <p:spPr>
          <a:xfrm>
            <a:off x="4572000" y="2971800"/>
            <a:ext cx="2971800" cy="1143000"/>
          </a:xfrm>
          <a:prstGeom prst="rect">
            <a:avLst/>
          </a:prstGeom>
          <a:noFill/>
          <a:ln/>
        </p:spPr>
        <p:txBody>
          <a:bodyPr wrap="square" lIns="0" tIns="0" rIns="0" bIns="0" rtlCol="0" anchor="ctr"/>
          <a:lstStyle/>
          <a:p>
            <a:pPr rtl="1" algn="r" indent="0" marL="0">
              <a:buNone/>
            </a:pPr>
            <a:r>
              <a:rPr lang="ar-AE" altLang="en-US" sz="1400" dirty="0">
                <a:solidFill>
                  <a:schemeClr val="tx1"/>
                </a:solidFill>
              </a:rPr>
              <a:t>يتحقق من Python ويثبّته إن لزم، وينزّل البرنامج، ويهيّئ النمط الفردي.</a:t>
            </a:r>
            <a:endParaRPr lang="ar-AE" sz="1400" dirty="0"/>
          </a:p>
        </p:txBody>
      </p:sp>
      <p:sp>
        <p:nvSpPr>
          <p:cNvPr id="17" name="step-2"/>
          <p:cNvSpPr/>
          <p:nvPr/>
        </p:nvSpPr>
        <p:spPr>
          <a:xfrm>
            <a:off x="548640" y="1417320"/>
            <a:ext cx="3520440" cy="2834640"/>
          </a:xfrm>
          <a:prstGeom prst="roundRect">
            <a:avLst>
              <a:gd name="adj" fmla="val 3871"/>
            </a:avLst>
          </a:prstGeom>
          <a:solidFill>
            <a:srgbClr val="EEF3F8"/>
          </a:solidFill>
          <a:ln w="12700">
            <a:solidFill>
              <a:srgbClr val="D9E1EA"/>
            </a:solidFill>
            <a:prstDash val="solid"/>
          </a:ln>
        </p:spPr>
      </p:sp>
      <p:sp>
        <p:nvSpPr>
          <p:cNvPr id="18" name="icon-home"/>
          <p:cNvSpPr/>
          <p:nvPr/>
        </p:nvSpPr>
        <p:spPr>
          <a:xfrm>
            <a:off x="3246120" y="1645920"/>
            <a:ext cx="640080" cy="640080"/>
          </a:xfrm>
          <a:prstGeom prst="ellipse">
            <a:avLst/>
          </a:prstGeom>
          <a:solidFill>
            <a:schemeClr val="accent5"/>
          </a:solidFill>
          <a:ln w="12700">
            <a:solidFill>
              <a:schemeClr val="accent5"/>
            </a:solidFill>
            <a:prstDash val="solid"/>
          </a:ln>
        </p:spPr>
      </p:sp>
      <p:pic>
        <p:nvPicPr>
          <p:cNvPr id="19" name="Image 2" descr="/tmp/claude-0/-home-user/11b98046-3116-585b-b221-e5c2e170e62a/scratchpad/deck/assets/i-home.png">    </p:cNvPr>
          <p:cNvPicPr>
            <a:picLocks noChangeAspect="1"/>
          </p:cNvPicPr>
          <p:nvPr/>
        </p:nvPicPr>
        <p:blipFill>
          <a:blip r:embed="rId3"/>
          <a:stretch>
            <a:fillRect/>
          </a:stretch>
        </p:blipFill>
        <p:spPr>
          <a:xfrm>
            <a:off x="3406140" y="1805940"/>
            <a:ext cx="320040" cy="320040"/>
          </a:xfrm>
          <a:prstGeom prst="rect">
            <a:avLst/>
          </a:prstGeom>
        </p:spPr>
      </p:pic>
      <p:sp>
        <p:nvSpPr>
          <p:cNvPr id="20" name="num-3"/>
          <p:cNvSpPr/>
          <p:nvPr/>
        </p:nvSpPr>
        <p:spPr>
          <a:xfrm>
            <a:off x="822960" y="1737360"/>
            <a:ext cx="420624" cy="420624"/>
          </a:xfrm>
          <a:prstGeom prst="ellipse">
            <a:avLst/>
          </a:prstGeom>
          <a:solidFill>
            <a:schemeClr val="accent1"/>
          </a:solidFill>
          <a:ln w="12700">
            <a:solidFill>
              <a:schemeClr val="accent1"/>
            </a:solidFill>
            <a:prstDash val="solid"/>
          </a:ln>
        </p:spPr>
      </p:sp>
      <p:sp>
        <p:nvSpPr>
          <p:cNvPr id="21" name="Text 16"/>
          <p:cNvSpPr txBox="1"/>
          <p:nvPr/>
        </p:nvSpPr>
        <p:spPr>
          <a:xfrm>
            <a:off x="822960" y="17373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22" name="Text 17"/>
          <p:cNvSpPr txBox="1"/>
          <p:nvPr/>
        </p:nvSpPr>
        <p:spPr>
          <a:xfrm>
            <a:off x="822960" y="2468880"/>
            <a:ext cx="2971800" cy="457200"/>
          </a:xfrm>
          <a:prstGeom prst="rect">
            <a:avLst/>
          </a:prstGeom>
          <a:noFill/>
          <a:ln/>
        </p:spPr>
        <p:txBody>
          <a:bodyPr wrap="square" lIns="0" tIns="0" rIns="0" bIns="0" rtlCol="0" anchor="ctr"/>
          <a:lstStyle/>
          <a:p>
            <a:pPr rtl="1" algn="r" indent="0" marL="0">
              <a:buNone/>
            </a:pPr>
            <a:r>
              <a:rPr lang="ar-AE" altLang="en-US" sz="1900" b="1" dirty="0">
                <a:solidFill>
                  <a:schemeClr val="accent1"/>
                </a:solidFill>
              </a:rPr>
              <a:t>انقروا أيقونة «تراث»</a:t>
            </a:r>
            <a:endParaRPr lang="ar-AE" sz="1900" dirty="0"/>
          </a:p>
        </p:txBody>
      </p:sp>
      <p:sp>
        <p:nvSpPr>
          <p:cNvPr id="23" name="Text 18"/>
          <p:cNvSpPr txBox="1"/>
          <p:nvPr/>
        </p:nvSpPr>
        <p:spPr>
          <a:xfrm>
            <a:off x="822960" y="2971800"/>
            <a:ext cx="2971800" cy="1143000"/>
          </a:xfrm>
          <a:prstGeom prst="rect">
            <a:avLst/>
          </a:prstGeom>
          <a:noFill/>
          <a:ln/>
        </p:spPr>
        <p:txBody>
          <a:bodyPr wrap="square" lIns="0" tIns="0" rIns="0" bIns="0" rtlCol="0" anchor="ctr"/>
          <a:lstStyle/>
          <a:p>
            <a:pPr rtl="1" algn="r" indent="0" marL="0">
              <a:buNone/>
            </a:pPr>
            <a:r>
              <a:rPr lang="ar-AE" altLang="en-US" sz="1400" dirty="0">
                <a:solidFill>
                  <a:schemeClr val="tx1"/>
                </a:solidFill>
              </a:rPr>
              <a:t>تظهر على سطح المكتب وفي قائمة «ابدأ»، وتفتح اللوحة في نافذة مستقلة.</a:t>
            </a:r>
            <a:endParaRPr lang="ar-AE" sz="1400" dirty="0"/>
          </a:p>
        </p:txBody>
      </p:sp>
      <p:sp>
        <p:nvSpPr>
          <p:cNvPr id="24" name="install-line"/>
          <p:cNvSpPr/>
          <p:nvPr/>
        </p:nvSpPr>
        <p:spPr>
          <a:xfrm>
            <a:off x="548640" y="4526280"/>
            <a:ext cx="11091672" cy="1417320"/>
          </a:xfrm>
          <a:prstGeom prst="roundRect">
            <a:avLst>
              <a:gd name="adj" fmla="val 6452"/>
            </a:avLst>
          </a:prstGeom>
          <a:solidFill>
            <a:srgbClr val="12263F"/>
          </a:solidFill>
          <a:ln w="12700">
            <a:solidFill>
              <a:srgbClr val="12263F"/>
            </a:solidFill>
            <a:prstDash val="solid"/>
          </a:ln>
        </p:spPr>
      </p:sp>
      <p:sp>
        <p:nvSpPr>
          <p:cNvPr id="25" name="Text 20"/>
          <p:cNvSpPr txBox="1"/>
          <p:nvPr/>
        </p:nvSpPr>
        <p:spPr>
          <a:xfrm>
            <a:off x="822960" y="4617720"/>
            <a:ext cx="10607040" cy="365760"/>
          </a:xfrm>
          <a:prstGeom prst="rect">
            <a:avLst/>
          </a:prstGeom>
          <a:noFill/>
          <a:ln/>
        </p:spPr>
        <p:txBody>
          <a:bodyPr wrap="square" lIns="0" tIns="0" rIns="0" bIns="0" rtlCol="0" anchor="ctr"/>
          <a:lstStyle/>
          <a:p>
            <a:pPr rtl="1" algn="r" indent="0" marL="0">
              <a:buNone/>
            </a:pPr>
            <a:r>
              <a:rPr lang="ar-AE" altLang="en-US" sz="1300" b="1" dirty="0">
                <a:solidFill>
                  <a:srgbClr val="F0D58A"/>
                </a:solidFill>
              </a:rPr>
              <a:t>سطر التنصيب في ويندوز (موجود كاملاً في INSTALL.md)</a:t>
            </a:r>
            <a:endParaRPr lang="ar-AE" sz="1300" dirty="0"/>
          </a:p>
        </p:txBody>
      </p:sp>
      <p:sp>
        <p:nvSpPr>
          <p:cNvPr id="26" name="Text 21"/>
          <p:cNvSpPr txBox="1"/>
          <p:nvPr/>
        </p:nvSpPr>
        <p:spPr>
          <a:xfrm>
            <a:off x="822960" y="4983480"/>
            <a:ext cx="10607040" cy="868680"/>
          </a:xfrm>
          <a:prstGeom prst="rect">
            <a:avLst/>
          </a:prstGeom>
          <a:noFill/>
          <a:ln/>
        </p:spPr>
        <p:txBody>
          <a:bodyPr wrap="square" lIns="0" tIns="0" rIns="0" bIns="0" rtlCol="0" anchor="t"/>
          <a:lstStyle/>
          <a:p>
            <a:pPr algn="l" indent="0" marL="0">
              <a:buNone/>
            </a:pPr>
            <a:r>
              <a:rPr lang="en-US" sz="1100" dirty="0">
                <a:solidFill>
                  <a:srgbClr val="FFFFFF"/>
                </a:solidFill>
                <a:latin typeface="Courier New" pitchFamily="34" charset="0"/>
                <a:ea typeface="Courier New" pitchFamily="34" charset="-122"/>
                <a:cs typeface="Courier New" pitchFamily="34" charset="-120"/>
              </a:rPr>
              <a:t>$f="$env:TEMP\turath-install.ps1"; iwr https://raw.githubusercontent.com/7r425ypz9t-hue/turathres/refs/heads/claude/clever-carson-78yimu/launchers/install_windows.ps1 -OutFile $f; powershell -NoProfile -ExecutionPolicy Bypass -File $f</a:t>
            </a:r>
            <a:endParaRPr lang="en-US" sz="11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ثلاثة أنماط تشغيل لثلاث حاجات</a:t>
            </a:r>
            <a:endParaRPr lang="ar-AE" sz="3200" dirty="0"/>
          </a:p>
        </p:txBody>
      </p:sp>
      <p:sp>
        <p:nvSpPr>
          <p:cNvPr id="3" name="mode-0"/>
          <p:cNvSpPr/>
          <p:nvPr/>
        </p:nvSpPr>
        <p:spPr>
          <a:xfrm>
            <a:off x="8046720" y="1417320"/>
            <a:ext cx="3520440" cy="4480560"/>
          </a:xfrm>
          <a:prstGeom prst="roundRect">
            <a:avLst>
              <a:gd name="adj" fmla="val 3117"/>
            </a:avLst>
          </a:prstGeom>
          <a:solidFill>
            <a:srgbClr val="FFFFFF"/>
          </a:solidFill>
          <a:ln w="12700">
            <a:solidFill>
              <a:srgbClr val="D9E1EA"/>
            </a:solidFill>
            <a:prstDash val="solid"/>
          </a:ln>
          <a:effectLst>
            <a:outerShdw sx="100000" sy="100000" kx="0" ky="0" algn="bl" rotWithShape="0" blurRad="101600" dist="25400" dir="5400000">
              <a:srgbClr val="12263F">
                <a:alpha val="14000"/>
              </a:srgbClr>
            </a:outerShdw>
          </a:effectLst>
        </p:spPr>
      </p:sp>
      <p:sp>
        <p:nvSpPr>
          <p:cNvPr id="4" name="icon-home"/>
          <p:cNvSpPr/>
          <p:nvPr/>
        </p:nvSpPr>
        <p:spPr>
          <a:xfrm>
            <a:off x="9390888" y="1691640"/>
            <a:ext cx="822960" cy="822960"/>
          </a:xfrm>
          <a:prstGeom prst="ellipse">
            <a:avLst/>
          </a:prstGeom>
          <a:solidFill>
            <a:schemeClr val="accent1"/>
          </a:solidFill>
          <a:ln w="12700">
            <a:solidFill>
              <a:schemeClr val="accent1"/>
            </a:solidFill>
            <a:prstDash val="solid"/>
          </a:ln>
        </p:spPr>
      </p:sp>
      <p:pic>
        <p:nvPicPr>
          <p:cNvPr id="5" name="Image 0" descr="/tmp/claude-0/-home-user/11b98046-3116-585b-b221-e5c2e170e62a/scratchpad/deck/assets/i-home.png">    </p:cNvPr>
          <p:cNvPicPr>
            <a:picLocks noChangeAspect="1"/>
          </p:cNvPicPr>
          <p:nvPr/>
        </p:nvPicPr>
        <p:blipFill>
          <a:blip r:embed="rId1"/>
          <a:stretch>
            <a:fillRect/>
          </a:stretch>
        </p:blipFill>
        <p:spPr>
          <a:xfrm>
            <a:off x="9596628" y="1897380"/>
            <a:ext cx="411480" cy="411480"/>
          </a:xfrm>
          <a:prstGeom prst="rect">
            <a:avLst/>
          </a:prstGeom>
        </p:spPr>
      </p:pic>
      <p:sp>
        <p:nvSpPr>
          <p:cNvPr id="6" name="Text 3"/>
          <p:cNvSpPr txBox="1"/>
          <p:nvPr/>
        </p:nvSpPr>
        <p:spPr>
          <a:xfrm>
            <a:off x="8275320" y="2697480"/>
            <a:ext cx="3063240" cy="502920"/>
          </a:xfrm>
          <a:prstGeom prst="rect">
            <a:avLst/>
          </a:prstGeom>
          <a:noFill/>
          <a:ln/>
        </p:spPr>
        <p:txBody>
          <a:bodyPr wrap="square" lIns="0" tIns="0" rIns="0" bIns="0" rtlCol="0" anchor="ctr"/>
          <a:lstStyle/>
          <a:p>
            <a:pPr rtl="1" algn="ctr" indent="0" marL="0">
              <a:buNone/>
            </a:pPr>
            <a:r>
              <a:rPr lang="ar-AE" altLang="en-US" sz="1800" b="1" dirty="0">
                <a:solidFill>
                  <a:schemeClr val="accent1"/>
                </a:solidFill>
              </a:rPr>
              <a:t>مستخدم واحد · حاسوب واحد</a:t>
            </a:r>
            <a:endParaRPr lang="ar-AE" sz="1800" dirty="0"/>
          </a:p>
        </p:txBody>
      </p:sp>
      <p:sp>
        <p:nvSpPr>
          <p:cNvPr id="7" name="Text 4"/>
          <p:cNvSpPr txBox="1"/>
          <p:nvPr/>
        </p:nvSpPr>
        <p:spPr>
          <a:xfrm>
            <a:off x="8321040" y="3246120"/>
            <a:ext cx="2971800" cy="1737360"/>
          </a:xfrm>
          <a:prstGeom prst="rect">
            <a:avLst/>
          </a:prstGeom>
          <a:noFill/>
          <a:ln/>
        </p:spPr>
        <p:txBody>
          <a:bodyPr wrap="square" lIns="0" tIns="0" rIns="0" bIns="0" rtlCol="0" anchor="ctr"/>
          <a:lstStyle/>
          <a:p>
            <a:pPr rtl="1" algn="r" indent="0" marL="0">
              <a:buNone/>
            </a:pPr>
            <a:r>
              <a:rPr lang="ar-AE" altLang="en-US" sz="1400" dirty="0">
                <a:solidFill>
                  <a:schemeClr val="tx1"/>
                </a:solidFill>
              </a:rPr>
              <a:t>النمط الافتراضي. الخادم على الجهاز وحده، والدخول برمز يتولد عند كل تشغيل، فلا كلمات مرور.</a:t>
            </a:r>
            <a:endParaRPr lang="ar-AE" sz="1400" dirty="0"/>
          </a:p>
        </p:txBody>
      </p:sp>
      <p:sp>
        <p:nvSpPr>
          <p:cNvPr id="8" name="Text 5"/>
          <p:cNvSpPr txBox="1"/>
          <p:nvPr/>
        </p:nvSpPr>
        <p:spPr>
          <a:xfrm>
            <a:off x="8321040" y="5120640"/>
            <a:ext cx="2971800" cy="457200"/>
          </a:xfrm>
          <a:prstGeom prst="rect">
            <a:avLst/>
          </a:prstGeom>
          <a:solidFill>
            <a:srgbClr val="EEF3F8"/>
          </a:solid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turath setup solo</a:t>
            </a:r>
            <a:endParaRPr lang="en-US" sz="1300" dirty="0"/>
          </a:p>
        </p:txBody>
      </p:sp>
      <p:sp>
        <p:nvSpPr>
          <p:cNvPr id="9" name="mode-1"/>
          <p:cNvSpPr/>
          <p:nvPr/>
        </p:nvSpPr>
        <p:spPr>
          <a:xfrm>
            <a:off x="4297680" y="1417320"/>
            <a:ext cx="3520440" cy="4480560"/>
          </a:xfrm>
          <a:prstGeom prst="roundRect">
            <a:avLst>
              <a:gd name="adj" fmla="val 3117"/>
            </a:avLst>
          </a:prstGeom>
          <a:solidFill>
            <a:srgbClr val="FFFFFF"/>
          </a:solidFill>
          <a:ln w="12700">
            <a:solidFill>
              <a:srgbClr val="D9E1EA"/>
            </a:solidFill>
            <a:prstDash val="solid"/>
          </a:ln>
          <a:effectLst>
            <a:outerShdw sx="100000" sy="100000" kx="0" ky="0" algn="bl" rotWithShape="0" blurRad="101600" dist="25400" dir="5400000">
              <a:srgbClr val="12263F">
                <a:alpha val="14000"/>
              </a:srgbClr>
            </a:outerShdw>
          </a:effectLst>
        </p:spPr>
      </p:sp>
      <p:sp>
        <p:nvSpPr>
          <p:cNvPr id="10" name="icon-layers"/>
          <p:cNvSpPr/>
          <p:nvPr/>
        </p:nvSpPr>
        <p:spPr>
          <a:xfrm>
            <a:off x="5641848" y="1691640"/>
            <a:ext cx="822960" cy="822960"/>
          </a:xfrm>
          <a:prstGeom prst="ellipse">
            <a:avLst/>
          </a:prstGeom>
          <a:solidFill>
            <a:schemeClr val="accent3"/>
          </a:solidFill>
          <a:ln w="12700">
            <a:solidFill>
              <a:schemeClr val="accent3"/>
            </a:solidFill>
            <a:prstDash val="solid"/>
          </a:ln>
        </p:spPr>
      </p:sp>
      <p:pic>
        <p:nvPicPr>
          <p:cNvPr id="11" name="Image 1" descr="/tmp/claude-0/-home-user/11b98046-3116-585b-b221-e5c2e170e62a/scratchpad/deck/assets/i-layers.png">    </p:cNvPr>
          <p:cNvPicPr>
            <a:picLocks noChangeAspect="1"/>
          </p:cNvPicPr>
          <p:nvPr/>
        </p:nvPicPr>
        <p:blipFill>
          <a:blip r:embed="rId2"/>
          <a:stretch>
            <a:fillRect/>
          </a:stretch>
        </p:blipFill>
        <p:spPr>
          <a:xfrm>
            <a:off x="5847588" y="1897380"/>
            <a:ext cx="411480" cy="411480"/>
          </a:xfrm>
          <a:prstGeom prst="rect">
            <a:avLst/>
          </a:prstGeom>
        </p:spPr>
      </p:pic>
      <p:sp>
        <p:nvSpPr>
          <p:cNvPr id="12" name="Text 8"/>
          <p:cNvSpPr txBox="1"/>
          <p:nvPr/>
        </p:nvSpPr>
        <p:spPr>
          <a:xfrm>
            <a:off x="4526280" y="2697480"/>
            <a:ext cx="3063240" cy="502920"/>
          </a:xfrm>
          <a:prstGeom prst="rect">
            <a:avLst/>
          </a:prstGeom>
          <a:noFill/>
          <a:ln/>
        </p:spPr>
        <p:txBody>
          <a:bodyPr wrap="square" lIns="0" tIns="0" rIns="0" bIns="0" rtlCol="0" anchor="ctr"/>
          <a:lstStyle/>
          <a:p>
            <a:pPr rtl="1" algn="ctr" indent="0" marL="0">
              <a:buNone/>
            </a:pPr>
            <a:r>
              <a:rPr lang="ar-AE" altLang="en-US" sz="1800" b="1" dirty="0">
                <a:solidFill>
                  <a:schemeClr val="accent1"/>
                </a:solidFill>
              </a:rPr>
              <a:t>مستخدم واحد · أجهزة متعددة</a:t>
            </a:r>
            <a:endParaRPr lang="ar-AE" sz="1800" dirty="0"/>
          </a:p>
        </p:txBody>
      </p:sp>
      <p:sp>
        <p:nvSpPr>
          <p:cNvPr id="13" name="Text 9"/>
          <p:cNvSpPr txBox="1"/>
          <p:nvPr/>
        </p:nvSpPr>
        <p:spPr>
          <a:xfrm>
            <a:off x="4572000" y="3246120"/>
            <a:ext cx="2971800" cy="1737360"/>
          </a:xfrm>
          <a:prstGeom prst="rect">
            <a:avLst/>
          </a:prstGeom>
          <a:noFill/>
          <a:ln/>
        </p:spPr>
        <p:txBody>
          <a:bodyPr wrap="square" lIns="0" tIns="0" rIns="0" bIns="0" rtlCol="0" anchor="ctr"/>
          <a:lstStyle/>
          <a:p>
            <a:pPr rtl="1" algn="r" indent="0" marL="0">
              <a:buNone/>
            </a:pPr>
            <a:r>
              <a:rPr lang="ar-AE" altLang="en-US" sz="1400" dirty="0">
                <a:solidFill>
                  <a:schemeClr val="tx1"/>
                </a:solidFill>
              </a:rPr>
              <a:t>خادم محلي في البيت أو المكتب، تصله أجهزتكم عبر الشبكة بكلمة مرور، مع تشفير اختياري.</a:t>
            </a:r>
            <a:endParaRPr lang="ar-AE" sz="1400" dirty="0"/>
          </a:p>
        </p:txBody>
      </p:sp>
      <p:sp>
        <p:nvSpPr>
          <p:cNvPr id="14" name="Text 10"/>
          <p:cNvSpPr txBox="1"/>
          <p:nvPr/>
        </p:nvSpPr>
        <p:spPr>
          <a:xfrm>
            <a:off x="4572000" y="5120640"/>
            <a:ext cx="2971800" cy="457200"/>
          </a:xfrm>
          <a:prstGeom prst="rect">
            <a:avLst/>
          </a:prstGeom>
          <a:solidFill>
            <a:srgbClr val="EEF3F8"/>
          </a:solid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turath setup lan</a:t>
            </a:r>
            <a:endParaRPr lang="en-US" sz="1300" dirty="0"/>
          </a:p>
        </p:txBody>
      </p:sp>
      <p:sp>
        <p:nvSpPr>
          <p:cNvPr id="15" name="mode-2"/>
          <p:cNvSpPr/>
          <p:nvPr/>
        </p:nvSpPr>
        <p:spPr>
          <a:xfrm>
            <a:off x="548640" y="1417320"/>
            <a:ext cx="3520440" cy="4480560"/>
          </a:xfrm>
          <a:prstGeom prst="roundRect">
            <a:avLst>
              <a:gd name="adj" fmla="val 3117"/>
            </a:avLst>
          </a:prstGeom>
          <a:solidFill>
            <a:srgbClr val="FFFFFF"/>
          </a:solidFill>
          <a:ln w="12700">
            <a:solidFill>
              <a:srgbClr val="D9E1EA"/>
            </a:solidFill>
            <a:prstDash val="solid"/>
          </a:ln>
          <a:effectLst>
            <a:outerShdw sx="100000" sy="100000" kx="0" ky="0" algn="bl" rotWithShape="0" blurRad="101600" dist="25400" dir="5400000">
              <a:srgbClr val="12263F">
                <a:alpha val="14000"/>
              </a:srgbClr>
            </a:outerShdw>
          </a:effectLst>
        </p:spPr>
      </p:sp>
      <p:sp>
        <p:nvSpPr>
          <p:cNvPr id="16" name="icon-people"/>
          <p:cNvSpPr/>
          <p:nvPr/>
        </p:nvSpPr>
        <p:spPr>
          <a:xfrm>
            <a:off x="1892808" y="1691640"/>
            <a:ext cx="822960" cy="822960"/>
          </a:xfrm>
          <a:prstGeom prst="ellipse">
            <a:avLst/>
          </a:prstGeom>
          <a:solidFill>
            <a:schemeClr val="accent6"/>
          </a:solidFill>
          <a:ln w="12700">
            <a:solidFill>
              <a:schemeClr val="accent6"/>
            </a:solidFill>
            <a:prstDash val="solid"/>
          </a:ln>
        </p:spPr>
      </p:sp>
      <p:pic>
        <p:nvPicPr>
          <p:cNvPr id="17" name="Image 2" descr="/tmp/claude-0/-home-user/11b98046-3116-585b-b221-e5c2e170e62a/scratchpad/deck/assets/i-people.png">    </p:cNvPr>
          <p:cNvPicPr>
            <a:picLocks noChangeAspect="1"/>
          </p:cNvPicPr>
          <p:nvPr/>
        </p:nvPicPr>
        <p:blipFill>
          <a:blip r:embed="rId3"/>
          <a:stretch>
            <a:fillRect/>
          </a:stretch>
        </p:blipFill>
        <p:spPr>
          <a:xfrm>
            <a:off x="2098548" y="1897380"/>
            <a:ext cx="411480" cy="411480"/>
          </a:xfrm>
          <a:prstGeom prst="rect">
            <a:avLst/>
          </a:prstGeom>
        </p:spPr>
      </p:pic>
      <p:sp>
        <p:nvSpPr>
          <p:cNvPr id="18" name="Text 13"/>
          <p:cNvSpPr txBox="1"/>
          <p:nvPr/>
        </p:nvSpPr>
        <p:spPr>
          <a:xfrm>
            <a:off x="777240" y="2697480"/>
            <a:ext cx="3063240" cy="502920"/>
          </a:xfrm>
          <a:prstGeom prst="rect">
            <a:avLst/>
          </a:prstGeom>
          <a:noFill/>
          <a:ln/>
        </p:spPr>
        <p:txBody>
          <a:bodyPr wrap="square" lIns="0" tIns="0" rIns="0" bIns="0" rtlCol="0" anchor="ctr"/>
          <a:lstStyle/>
          <a:p>
            <a:pPr rtl="1" algn="ctr" indent="0" marL="0">
              <a:buNone/>
            </a:pPr>
            <a:r>
              <a:rPr lang="ar-AE" altLang="en-US" sz="1800" b="1" dirty="0">
                <a:solidFill>
                  <a:schemeClr val="accent1"/>
                </a:solidFill>
              </a:rPr>
              <a:t>عدة مستخدمين</a:t>
            </a:r>
            <a:endParaRPr lang="ar-AE" sz="1800" dirty="0"/>
          </a:p>
        </p:txBody>
      </p:sp>
      <p:sp>
        <p:nvSpPr>
          <p:cNvPr id="19" name="Text 14"/>
          <p:cNvSpPr txBox="1"/>
          <p:nvPr/>
        </p:nvSpPr>
        <p:spPr>
          <a:xfrm>
            <a:off x="822960" y="3246120"/>
            <a:ext cx="2971800" cy="1737360"/>
          </a:xfrm>
          <a:prstGeom prst="rect">
            <a:avLst/>
          </a:prstGeom>
          <a:noFill/>
          <a:ln/>
        </p:spPr>
        <p:txBody>
          <a:bodyPr wrap="square" lIns="0" tIns="0" rIns="0" bIns="0" rtlCol="0" anchor="ctr"/>
          <a:lstStyle/>
          <a:p>
            <a:pPr rtl="1" algn="r" indent="0" marL="0">
              <a:buNone/>
            </a:pPr>
            <a:r>
              <a:rPr lang="ar-AE" altLang="en-US" sz="1400" dirty="0">
                <a:solidFill>
                  <a:schemeClr val="tx1"/>
                </a:solidFill>
              </a:rPr>
              <a:t>حساب لكل باحث، وبحوثه خاصة لا يراها غيره، ومشاركة المصادر بالاختيار، والتأليف المشترك بالدعوة.</a:t>
            </a:r>
            <a:endParaRPr lang="ar-AE" sz="1400" dirty="0"/>
          </a:p>
        </p:txBody>
      </p:sp>
      <p:sp>
        <p:nvSpPr>
          <p:cNvPr id="20" name="Text 15"/>
          <p:cNvSpPr txBox="1"/>
          <p:nvPr/>
        </p:nvSpPr>
        <p:spPr>
          <a:xfrm>
            <a:off x="822960" y="5120640"/>
            <a:ext cx="2971800" cy="457200"/>
          </a:xfrm>
          <a:prstGeom prst="rect">
            <a:avLst/>
          </a:prstGeom>
          <a:solidFill>
            <a:srgbClr val="EEF3F8"/>
          </a:solidFill>
          <a:ln/>
        </p:spPr>
        <p:txBody>
          <a:bodyPr wrap="square" lIns="0" tIns="0" rIns="0" bIns="0" rtlCol="0" anchor="ctr"/>
          <a:lstStyle/>
          <a:p>
            <a:pPr algn="ctr" indent="0" marL="0">
              <a:buNone/>
            </a:pPr>
            <a:r>
              <a:rPr lang="en-US" sz="1300" dirty="0">
                <a:solidFill>
                  <a:schemeClr val="accent1"/>
                </a:solidFill>
                <a:latin typeface="Courier New" pitchFamily="34" charset="0"/>
                <a:ea typeface="Courier New" pitchFamily="34" charset="-122"/>
                <a:cs typeface="Courier New" pitchFamily="34" charset="-120"/>
              </a:rPr>
              <a:t>turath setup team</a:t>
            </a:r>
            <a:endParaRPr lang="en-US" sz="13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دليل البدء عند أول فتح</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1_tour.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جولة من ست بطاقات</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تظهر تلقائياً أول مرة، وتعرّف بالمشروع والخزنة والمختبر والأدلة والوكلاء.</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تنتهي بالنموذج التطبيقي</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زر واحد يستورد دراسة «التلي» بمصادرها المتحقق منها، لتروا المنظومة تعمل.</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تُعاد متى شئتم</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من الإعدادات: زر «دليل البدء».</a:t>
            </a:r>
            <a:endParaRPr lang="ar-AE" sz="1400" dirty="0"/>
          </a:p>
        </p:txBody>
      </p:sp>
      <p:sp>
        <p:nvSpPr>
          <p:cNvPr id="17" name="Text 14"/>
          <p:cNvSpPr txBox="1"/>
          <p:nvPr/>
        </p:nvSpPr>
        <p:spPr>
          <a:xfrm>
            <a:off x="548640" y="5596128"/>
            <a:ext cx="7315200" cy="365760"/>
          </a:xfrm>
          <a:prstGeom prst="rect">
            <a:avLst/>
          </a:prstGeom>
          <a:noFill/>
          <a:ln/>
        </p:spPr>
        <p:txBody>
          <a:bodyPr wrap="square" lIns="0" tIns="0" rIns="0" bIns="0" rtlCol="0" anchor="ctr"/>
          <a:lstStyle/>
          <a:p>
            <a:pPr rtl="1" algn="r" indent="0" marL="0">
              <a:buNone/>
            </a:pPr>
            <a:r>
              <a:rPr lang="ar-AE" altLang="en-US" sz="1200" i="1" dirty="0">
                <a:solidFill>
                  <a:schemeClr val="tx2"/>
                </a:solidFill>
              </a:rPr>
              <a:t>اللوحة تُفتح في نافذة تطبيق مستقلة، والنقر الثاني على الأيقونة يفتح نافذة للخادم نفسه.</a:t>
            </a:r>
            <a:endParaRPr lang="ar-AE" sz="12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ection-art" descr="/tmp/claude-0/-home-user/11b98046-3116-585b-b221-e5c2e170e62a/scratchpad/deck/assets/photos/contact.jpg">    </p:cNvPr>
          <p:cNvPicPr>
            <a:picLocks noChangeAspect="1"/>
          </p:cNvPicPr>
          <p:nvPr/>
        </p:nvPicPr>
        <p:blipFill>
          <a:blip r:embed="rId1"/>
          <a:srcRect l="0" r="0" t="0" b="0"/>
          <a:stretch/>
        </p:blipFill>
        <p:spPr>
          <a:xfrm>
            <a:off x="0" y="0"/>
            <a:ext cx="5486400" cy="6583680"/>
          </a:xfrm>
          <a:prstGeom prst="rect">
            <a:avLst/>
          </a:prstGeom>
        </p:spPr>
      </p:pic>
      <p:sp>
        <p:nvSpPr>
          <p:cNvPr id="3" name="Text 0"/>
          <p:cNvSpPr/>
          <p:nvPr>
            <p:ph idx="101" type="title" hasCustomPrompt="1"/>
          </p:nvPr>
        </p:nvSpPr>
        <p:spPr>
          <a:xfrm>
            <a:off x="6035040" y="2514600"/>
            <a:ext cx="5577840" cy="1097280"/>
          </a:xfrm>
          <a:prstGeom prst="rect">
            <a:avLst/>
          </a:prstGeom>
          <a:noFill/>
          <a:ln/>
        </p:spPr>
        <p:txBody>
          <a:bodyPr wrap="square" rtlCol="0" anchor="ctr"/>
          <a:lstStyle/>
          <a:p>
            <a:pPr rtl="1" algn="r" indent="0" marL="0">
              <a:buNone/>
            </a:pPr>
            <a:r>
              <a:rPr lang="ar-AE" altLang="en-US" sz="4000" b="1" dirty="0">
                <a:solidFill>
                  <a:schemeClr val="bg1"/>
                </a:solidFill>
              </a:rPr>
              <a:t>الشاشات</a:t>
            </a:r>
            <a:endParaRPr lang="ar-AE" sz="4000" dirty="0"/>
          </a:p>
        </p:txBody>
      </p:sp>
      <p:sp>
        <p:nvSpPr>
          <p:cNvPr id="4" name="Text 0"/>
          <p:cNvSpPr/>
          <p:nvPr>
            <p:ph idx="102" type="body" hasCustomPrompt="1"/>
          </p:nvPr>
        </p:nvSpPr>
        <p:spPr>
          <a:xfrm>
            <a:off x="6035040" y="3611880"/>
            <a:ext cx="5577840" cy="1097280"/>
          </a:xfrm>
          <a:prstGeom prst="rect">
            <a:avLst/>
          </a:prstGeom>
          <a:noFill/>
          <a:ln/>
        </p:spPr>
        <p:txBody>
          <a:bodyPr wrap="square" rtlCol="0" anchor="t"/>
          <a:lstStyle/>
          <a:p>
            <a:pPr rtl="1" algn="r" indent="0" marL="0">
              <a:buNone/>
            </a:pPr>
            <a:r>
              <a:rPr lang="ar-AE" altLang="en-US" sz="1800" dirty="0">
                <a:solidFill>
                  <a:srgbClr val="D9E4F0"/>
                </a:solidFill>
              </a:rPr>
              <a:t>ثلاث عشرة شاشة، لكل منها وظيفة في دورة البحث.</a:t>
            </a:r>
            <a:endParaRPr lang="ar-AE"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الواجهة العامة</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2_home.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الشريط الجانبي</a:t>
            </a:r>
            <a:endParaRPr lang="ar-AE" sz="1600" dirty="0"/>
          </a:p>
        </p:txBody>
      </p:sp>
      <p:sp>
        <p:nvSpPr>
          <p:cNvPr id="8" name="Text 5"/>
          <p:cNvSpPr txBox="1"/>
          <p:nvPr/>
        </p:nvSpPr>
        <p:spPr>
          <a:xfrm>
            <a:off x="8183880" y="168249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ثلاث مجموعات: المؤسسة، والأرشيف المعرفي، والمنظومة.</a:t>
            </a:r>
            <a:endParaRPr lang="ar-AE" sz="1400" dirty="0"/>
          </a:p>
        </p:txBody>
      </p:sp>
      <p:sp>
        <p:nvSpPr>
          <p:cNvPr id="9" name="num-2"/>
          <p:cNvSpPr/>
          <p:nvPr/>
        </p:nvSpPr>
        <p:spPr>
          <a:xfrm>
            <a:off x="11219688" y="236829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36829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35000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البحث الشامل</a:t>
            </a:r>
            <a:endParaRPr lang="ar-AE" sz="1600" dirty="0"/>
          </a:p>
        </p:txBody>
      </p:sp>
      <p:sp>
        <p:nvSpPr>
          <p:cNvPr id="12" name="Text 9"/>
          <p:cNvSpPr txBox="1"/>
          <p:nvPr/>
        </p:nvSpPr>
        <p:spPr>
          <a:xfrm>
            <a:off x="8183880" y="273405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في المصادر والتفريغات والمفردات والروايات، وكل نتيجة تعود إلى سجلها.</a:t>
            </a:r>
            <a:endParaRPr lang="ar-AE" sz="1400" dirty="0"/>
          </a:p>
        </p:txBody>
      </p:sp>
      <p:sp>
        <p:nvSpPr>
          <p:cNvPr id="13" name="num-3"/>
          <p:cNvSpPr/>
          <p:nvPr/>
        </p:nvSpPr>
        <p:spPr>
          <a:xfrm>
            <a:off x="11219688" y="341985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4198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40156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أزرار البدء</a:t>
            </a:r>
            <a:endParaRPr lang="ar-AE" sz="1600" dirty="0"/>
          </a:p>
        </p:txBody>
      </p:sp>
      <p:sp>
        <p:nvSpPr>
          <p:cNvPr id="16" name="Text 13"/>
          <p:cNvSpPr txBox="1"/>
          <p:nvPr/>
        </p:nvSpPr>
        <p:spPr>
          <a:xfrm>
            <a:off x="8183880" y="378561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مشروع جديد، وأرشفة مادة، والمختبر الشفهي.</a:t>
            </a:r>
            <a:endParaRPr lang="ar-AE" sz="1400" dirty="0"/>
          </a:p>
        </p:txBody>
      </p:sp>
      <p:sp>
        <p:nvSpPr>
          <p:cNvPr id="17" name="num-4"/>
          <p:cNvSpPr/>
          <p:nvPr/>
        </p:nvSpPr>
        <p:spPr>
          <a:xfrm>
            <a:off x="11219688" y="4471416"/>
            <a:ext cx="420624" cy="420624"/>
          </a:xfrm>
          <a:prstGeom prst="ellipse">
            <a:avLst/>
          </a:prstGeom>
          <a:solidFill>
            <a:schemeClr val="accent2"/>
          </a:solidFill>
          <a:ln w="12700">
            <a:solidFill>
              <a:schemeClr val="accent2"/>
            </a:solidFill>
            <a:prstDash val="solid"/>
          </a:ln>
        </p:spPr>
      </p:sp>
      <p:sp>
        <p:nvSpPr>
          <p:cNvPr id="18" name="Text 15"/>
          <p:cNvSpPr txBox="1"/>
          <p:nvPr/>
        </p:nvSpPr>
        <p:spPr>
          <a:xfrm>
            <a:off x="11219688" y="447141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8183880" y="445312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الأرقام الكبرى</a:t>
            </a:r>
            <a:endParaRPr lang="ar-AE" sz="1600" dirty="0"/>
          </a:p>
        </p:txBody>
      </p:sp>
      <p:sp>
        <p:nvSpPr>
          <p:cNvPr id="20" name="Text 17"/>
          <p:cNvSpPr txBox="1"/>
          <p:nvPr/>
        </p:nvSpPr>
        <p:spPr>
          <a:xfrm>
            <a:off x="8183880" y="483717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المشاريع والمصادر والمقابلات والأصول والادعاءات والعناصر.</a:t>
            </a:r>
            <a:endParaRPr lang="ar-AE" sz="1400" dirty="0"/>
          </a:p>
        </p:txBody>
      </p:sp>
      <p:sp>
        <p:nvSpPr>
          <p:cNvPr id="21" name="Text 18"/>
          <p:cNvSpPr txBox="1"/>
          <p:nvPr/>
        </p:nvSpPr>
        <p:spPr>
          <a:xfrm>
            <a:off x="548640" y="5596128"/>
            <a:ext cx="7315200" cy="365760"/>
          </a:xfrm>
          <a:prstGeom prst="rect">
            <a:avLst/>
          </a:prstGeom>
          <a:noFill/>
          <a:ln/>
        </p:spPr>
        <p:txBody>
          <a:bodyPr wrap="square" lIns="0" tIns="0" rIns="0" bIns="0" rtlCol="0" anchor="ctr"/>
          <a:lstStyle/>
          <a:p>
            <a:pPr rtl="1" algn="r" indent="0" marL="0">
              <a:buNone/>
            </a:pPr>
            <a:r>
              <a:rPr lang="ar-AE" altLang="en-US" sz="1200" i="1" dirty="0">
                <a:solidFill>
                  <a:schemeClr val="tx2"/>
                </a:solidFill>
              </a:rPr>
              <a:t>الصفحة الرئيسية بعد استيراد النموذج التطبيقي.</a:t>
            </a:r>
            <a:endParaRPr lang="ar-AE" sz="1200" dirty="0"/>
          </a:p>
        </p:txBody>
      </p:sp>
      <p:sp>
        <p:nvSpPr>
          <p:cNvPr id="22" name="num-1"/>
          <p:cNvSpPr/>
          <p:nvPr/>
        </p:nvSpPr>
        <p:spPr>
          <a:xfrm>
            <a:off x="7388352" y="2057400"/>
            <a:ext cx="365760" cy="365760"/>
          </a:xfrm>
          <a:prstGeom prst="ellipse">
            <a:avLst/>
          </a:prstGeom>
          <a:solidFill>
            <a:schemeClr val="accent6"/>
          </a:solidFill>
          <a:ln w="12700">
            <a:solidFill>
              <a:schemeClr val="accent6"/>
            </a:solidFill>
            <a:prstDash val="solid"/>
          </a:ln>
        </p:spPr>
      </p:sp>
      <p:sp>
        <p:nvSpPr>
          <p:cNvPr id="23" name="Text 20"/>
          <p:cNvSpPr txBox="1"/>
          <p:nvPr/>
        </p:nvSpPr>
        <p:spPr>
          <a:xfrm>
            <a:off x="7388352" y="20574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24" name="num-2"/>
          <p:cNvSpPr/>
          <p:nvPr/>
        </p:nvSpPr>
        <p:spPr>
          <a:xfrm>
            <a:off x="6537960" y="1371600"/>
            <a:ext cx="365760" cy="365760"/>
          </a:xfrm>
          <a:prstGeom prst="ellipse">
            <a:avLst/>
          </a:prstGeom>
          <a:solidFill>
            <a:schemeClr val="accent6"/>
          </a:solidFill>
          <a:ln w="12700">
            <a:solidFill>
              <a:schemeClr val="accent6"/>
            </a:solidFill>
            <a:prstDash val="solid"/>
          </a:ln>
        </p:spPr>
      </p:sp>
      <p:sp>
        <p:nvSpPr>
          <p:cNvPr id="25" name="Text 22"/>
          <p:cNvSpPr txBox="1"/>
          <p:nvPr/>
        </p:nvSpPr>
        <p:spPr>
          <a:xfrm>
            <a:off x="6537960" y="13716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26" name="num-3"/>
          <p:cNvSpPr/>
          <p:nvPr/>
        </p:nvSpPr>
        <p:spPr>
          <a:xfrm>
            <a:off x="3291840" y="2788920"/>
            <a:ext cx="365760" cy="365760"/>
          </a:xfrm>
          <a:prstGeom prst="ellipse">
            <a:avLst/>
          </a:prstGeom>
          <a:solidFill>
            <a:schemeClr val="accent6"/>
          </a:solidFill>
          <a:ln w="12700">
            <a:solidFill>
              <a:schemeClr val="accent6"/>
            </a:solidFill>
            <a:prstDash val="solid"/>
          </a:ln>
        </p:spPr>
      </p:sp>
      <p:sp>
        <p:nvSpPr>
          <p:cNvPr id="27" name="Text 24"/>
          <p:cNvSpPr txBox="1"/>
          <p:nvPr/>
        </p:nvSpPr>
        <p:spPr>
          <a:xfrm>
            <a:off x="3291840" y="278892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28" name="num-4"/>
          <p:cNvSpPr/>
          <p:nvPr/>
        </p:nvSpPr>
        <p:spPr>
          <a:xfrm>
            <a:off x="6355080" y="3364992"/>
            <a:ext cx="365760" cy="365760"/>
          </a:xfrm>
          <a:prstGeom prst="ellipse">
            <a:avLst/>
          </a:prstGeom>
          <a:solidFill>
            <a:schemeClr val="accent6"/>
          </a:solidFill>
          <a:ln w="12700">
            <a:solidFill>
              <a:schemeClr val="accent6"/>
            </a:solidFill>
            <a:prstDash val="solid"/>
          </a:ln>
        </p:spPr>
      </p:sp>
      <p:sp>
        <p:nvSpPr>
          <p:cNvPr id="29" name="Text 26"/>
          <p:cNvSpPr txBox="1"/>
          <p:nvPr/>
        </p:nvSpPr>
        <p:spPr>
          <a:xfrm>
            <a:off x="6355080" y="336499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المؤشرات ودورة المشروع</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3_home_kpis.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اثنا عشر مؤشراً</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تُحسب من البيانات الفعلية، كالموافقات وسلامة الأصول.</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خط الأساس أولاً</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لا مستهدفات رقمية قبله؛ يثبّته المدير بعد الأشهر الأولى، ثم تُقارن القيم به.</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المراحل الست عشرة</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من الفكرة إلى النشر والأرشفة، والرقم داخل كل مرحلة عدد مشاريعها.</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صفحة المشروع</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6_project.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بطاقة المشروع</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السؤال البحثي والمجال والإمارة، مع تحرير البيانات.</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التصدير</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ملف Word بالهوية البصرية، وJSON، وGeoJSON للأطلس.</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مسار المشروع</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المرحلة الحالية مضاءة، وما قبلها منجز.</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بوابة الجودة وقرار المراجعة</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7_project_gate.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فحوص محسوبة</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لكل بوابة شروط تُحسب من البيانات؛ والزر لا يعمل قبل اكتمالها.</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قرار المراجعة</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يسجّله الوكيل المختص أو المراجع البشري، بالتعليل.</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الاعتماد لا يُنتحل</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قرار HUM-DIR لا يسجّله إلا حساب بصفة «مدير».</a:t>
            </a:r>
            <a:endParaRPr lang="ar-AE" sz="1400" dirty="0"/>
          </a:p>
        </p:txBody>
      </p:sp>
      <p:sp>
        <p:nvSpPr>
          <p:cNvPr id="17" name="Text 14"/>
          <p:cNvSpPr txBox="1"/>
          <p:nvPr/>
        </p:nvSpPr>
        <p:spPr>
          <a:xfrm>
            <a:off x="548640" y="5596128"/>
            <a:ext cx="7315200" cy="365760"/>
          </a:xfrm>
          <a:prstGeom prst="rect">
            <a:avLst/>
          </a:prstGeom>
          <a:noFill/>
          <a:ln/>
        </p:spPr>
        <p:txBody>
          <a:bodyPr wrap="square" lIns="0" tIns="0" rIns="0" bIns="0" rtlCol="0" anchor="ctr"/>
          <a:lstStyle/>
          <a:p>
            <a:pPr rtl="1" algn="r" indent="0" marL="0">
              <a:buNone/>
            </a:pPr>
            <a:r>
              <a:rPr lang="ar-AE" altLang="en-US" sz="1200" i="1" dirty="0">
                <a:solidFill>
                  <a:schemeClr val="tx2"/>
                </a:solidFill>
              </a:rPr>
              <a:t>مثال: بوابة «الموافقات» لا تُجتاز ما دامت مقابلة بلا موافقة تسجيل.</a:t>
            </a:r>
            <a:endParaRPr lang="ar-AE" sz="12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سجلات المشروع</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8_project_records.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كل الكيانات في مكان واحد</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المصادر والرواة والمقابلات والادعاءات والتعارضات والمعجم وغيرها، مع العدد.</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إضافة وتصدير</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سجل جديد مرتبط بالمشروع، وتصدير CSV لكل جدول.</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الشركاء</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دعوة مؤلف مشارك أو مطّلع في نمط الفريق.</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السجلات المعرفية</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09_archive.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سبعة وعشرون كياناً</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مجمّعة في عشر مجموعات: المصادر والأدلة، والتاريخ الشفهي، والوسائط، والوثائق…</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نماذج مولّدة من المخطط</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حقول كل كيان بأسمائها العربية وقوائمها المضبوطة.</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سجل التغييرات والمشاركة</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كل تعديل محفوظ بقيمته قبل وبعد، ومشاركة سجل بعينه لمستخدم بعينه.</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الخزنة والوسائط</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1_vault.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إيداع بالسحب والإفلات</a:t>
            </a:r>
            <a:endParaRPr lang="ar-AE" sz="1600" dirty="0"/>
          </a:p>
        </p:txBody>
      </p:sp>
      <p:sp>
        <p:nvSpPr>
          <p:cNvPr id="8" name="Text 5"/>
          <p:cNvSpPr txBox="1"/>
          <p:nvPr/>
        </p:nvSpPr>
        <p:spPr>
          <a:xfrm>
            <a:off x="8183880" y="168249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صوت وصورة وفيديو ووثائق، مع المصدر والحقوق والمودِع.</a:t>
            </a:r>
            <a:endParaRPr lang="ar-AE" sz="1400" dirty="0"/>
          </a:p>
        </p:txBody>
      </p:sp>
      <p:sp>
        <p:nvSpPr>
          <p:cNvPr id="9" name="num-2"/>
          <p:cNvSpPr/>
          <p:nvPr/>
        </p:nvSpPr>
        <p:spPr>
          <a:xfrm>
            <a:off x="11219688" y="236829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36829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35000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الأصل لا يُعدَّل</a:t>
            </a:r>
            <a:endParaRPr lang="ar-AE" sz="1600" dirty="0"/>
          </a:p>
        </p:txBody>
      </p:sp>
      <p:sp>
        <p:nvSpPr>
          <p:cNvPr id="12" name="Text 9"/>
          <p:cNvSpPr txBox="1"/>
          <p:nvPr/>
        </p:nvSpPr>
        <p:spPr>
          <a:xfrm>
            <a:off x="8183880" y="273405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بصمة SHA-256، ونسخة للقراءة فقط، وكشف أي عبث.</a:t>
            </a:r>
            <a:endParaRPr lang="ar-AE" sz="1400" dirty="0"/>
          </a:p>
        </p:txBody>
      </p:sp>
      <p:sp>
        <p:nvSpPr>
          <p:cNvPr id="13" name="num-3"/>
          <p:cNvSpPr/>
          <p:nvPr/>
        </p:nvSpPr>
        <p:spPr>
          <a:xfrm>
            <a:off x="11219688" y="341985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4198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40156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السلامة والنسخ الاحتياطي</a:t>
            </a:r>
            <a:endParaRPr lang="ar-AE" sz="1600" dirty="0"/>
          </a:p>
        </p:txBody>
      </p:sp>
      <p:sp>
        <p:nvSpPr>
          <p:cNvPr id="16" name="Text 13"/>
          <p:cNvSpPr txBox="1"/>
          <p:nvPr/>
        </p:nvSpPr>
        <p:spPr>
          <a:xfrm>
            <a:off x="8183880" y="378561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زر لكل منهما، والنسخة ببيان بصمات.</a:t>
            </a:r>
            <a:endParaRPr lang="ar-AE" sz="1400" dirty="0"/>
          </a:p>
        </p:txBody>
      </p:sp>
      <p:sp>
        <p:nvSpPr>
          <p:cNvPr id="17" name="num-4"/>
          <p:cNvSpPr/>
          <p:nvPr/>
        </p:nvSpPr>
        <p:spPr>
          <a:xfrm>
            <a:off x="11219688" y="4471416"/>
            <a:ext cx="420624" cy="420624"/>
          </a:xfrm>
          <a:prstGeom prst="ellipse">
            <a:avLst/>
          </a:prstGeom>
          <a:solidFill>
            <a:schemeClr val="accent2"/>
          </a:solidFill>
          <a:ln w="12700">
            <a:solidFill>
              <a:schemeClr val="accent2"/>
            </a:solidFill>
            <a:prstDash val="solid"/>
          </a:ln>
        </p:spPr>
      </p:sp>
      <p:sp>
        <p:nvSpPr>
          <p:cNvPr id="18" name="Text 15"/>
          <p:cNvSpPr txBox="1"/>
          <p:nvPr/>
        </p:nvSpPr>
        <p:spPr>
          <a:xfrm>
            <a:off x="11219688" y="447141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8183880" y="445312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حماية المواقع</a:t>
            </a:r>
            <a:endParaRPr lang="ar-AE" sz="1600" dirty="0"/>
          </a:p>
        </p:txBody>
      </p:sp>
      <p:sp>
        <p:nvSpPr>
          <p:cNvPr id="20" name="Text 17"/>
          <p:cNvSpPr txBox="1"/>
          <p:nvPr/>
        </p:nvSpPr>
        <p:spPr>
          <a:xfrm>
            <a:off x="8183880" y="483717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الصورة التي تحمل إحداثيات تُعلَّم «يحمل موقعاً» قبل أي نشر.</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المختبر السمعي واللغوي</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2_lab.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القاعدة الإلزامية</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لا يُستبدل اللفظ المحلي بالفصحى في التفريغ الحرفي، ولا يُخمَّن ما لم يُفهم.</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اثنتا عشرة خطوة</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من تسجيل المصدر والبصمة إلى المراجعة البشرية ومراجعة الخصوصية.</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قائمة المقابلات</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بحالة التفريغ: لا تفريغ، مسودة، روجع لهجياً، معتمد.</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تفريغ مقابلة</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3_lab_detail.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الأصل والتقدم</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مشغّل التسجيل، والبصمة، وعدد الخطوات المنجزة.</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الخطوات بالنقر</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الآلية تتم عند الإيداع، والبشرية مؤطرة بالذهبي.</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نسختان متوازيتان</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حرفية بطوابع زمنية، ومقروءة لا تحل محلها؛ وتصدير SRT.</a:t>
            </a:r>
            <a:endParaRPr lang="ar-AE" sz="1400" dirty="0"/>
          </a:p>
        </p:txBody>
      </p:sp>
      <p:sp>
        <p:nvSpPr>
          <p:cNvPr id="17" name="Text 14"/>
          <p:cNvSpPr txBox="1"/>
          <p:nvPr/>
        </p:nvSpPr>
        <p:spPr>
          <a:xfrm>
            <a:off x="548640" y="5596128"/>
            <a:ext cx="7315200" cy="365760"/>
          </a:xfrm>
          <a:prstGeom prst="rect">
            <a:avLst/>
          </a:prstGeom>
          <a:noFill/>
          <a:ln/>
        </p:spPr>
        <p:txBody>
          <a:bodyPr wrap="square" lIns="0" tIns="0" rIns="0" bIns="0" rtlCol="0" anchor="ctr"/>
          <a:lstStyle/>
          <a:p>
            <a:pPr rtl="1" algn="r" indent="0" marL="0">
              <a:buNone/>
            </a:pPr>
            <a:r>
              <a:rPr lang="ar-AE" altLang="en-US" sz="1200" i="1" dirty="0">
                <a:solidFill>
                  <a:schemeClr val="tx2"/>
                </a:solidFill>
              </a:rPr>
              <a:t>المقابلة في الصورة بيانات تجريبية للعرض، لا شهادة حقيقية.</a:t>
            </a:r>
            <a:endParaRPr lang="ar-AE" sz="12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الأدلة والتثليث</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6_claim_card.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أصناف الأدلة الستة</a:t>
            </a:r>
            <a:endParaRPr lang="ar-AE" sz="1600" dirty="0"/>
          </a:p>
        </p:txBody>
      </p:sp>
      <p:sp>
        <p:nvSpPr>
          <p:cNvPr id="8" name="Text 5"/>
          <p:cNvSpPr txBox="1"/>
          <p:nvPr/>
        </p:nvSpPr>
        <p:spPr>
          <a:xfrm>
            <a:off x="8183880" y="168249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شهادة، ووثيقة، ودليل مادي، وصورة، وشعر، ورواية مستقلة.</a:t>
            </a:r>
            <a:endParaRPr lang="ar-AE" sz="1400" dirty="0"/>
          </a:p>
        </p:txBody>
      </p:sp>
      <p:sp>
        <p:nvSpPr>
          <p:cNvPr id="9" name="num-2"/>
          <p:cNvSpPr/>
          <p:nvPr/>
        </p:nvSpPr>
        <p:spPr>
          <a:xfrm>
            <a:off x="11219688" y="236829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36829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35000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الاستقلال لا العدد</a:t>
            </a:r>
            <a:endParaRPr lang="ar-AE" sz="1600" dirty="0"/>
          </a:p>
        </p:txBody>
      </p:sp>
      <p:sp>
        <p:nvSpPr>
          <p:cNvPr id="12" name="Text 9"/>
          <p:cNvSpPr txBox="1"/>
          <p:nvPr/>
        </p:nvSpPr>
        <p:spPr>
          <a:xfrm>
            <a:off x="8183880" y="273405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الشهادات المنقولة عن أصل واحد تُعدّ شهادة واحدة.</a:t>
            </a:r>
            <a:endParaRPr lang="ar-AE" sz="1400" dirty="0"/>
          </a:p>
        </p:txBody>
      </p:sp>
      <p:sp>
        <p:nvSpPr>
          <p:cNvPr id="13" name="num-3"/>
          <p:cNvSpPr/>
          <p:nvPr/>
        </p:nvSpPr>
        <p:spPr>
          <a:xfrm>
            <a:off x="11219688" y="341985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41985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40156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حالة مقترحة من الأدلة</a:t>
            </a:r>
            <a:endParaRPr lang="ar-AE" sz="1600" dirty="0"/>
          </a:p>
        </p:txBody>
      </p:sp>
      <p:sp>
        <p:nvSpPr>
          <p:cNvPr id="16" name="Text 13"/>
          <p:cNvSpPr txBox="1"/>
          <p:nvPr/>
        </p:nvSpPr>
        <p:spPr>
          <a:xfrm>
            <a:off x="8183880" y="378561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والصحافة وحدها لا تُثبت واقعة جوهرية.</a:t>
            </a:r>
            <a:endParaRPr lang="ar-AE" sz="1400" dirty="0"/>
          </a:p>
        </p:txBody>
      </p:sp>
      <p:sp>
        <p:nvSpPr>
          <p:cNvPr id="17" name="num-4"/>
          <p:cNvSpPr/>
          <p:nvPr/>
        </p:nvSpPr>
        <p:spPr>
          <a:xfrm>
            <a:off x="11219688" y="4471416"/>
            <a:ext cx="420624" cy="420624"/>
          </a:xfrm>
          <a:prstGeom prst="ellipse">
            <a:avLst/>
          </a:prstGeom>
          <a:solidFill>
            <a:schemeClr val="accent2"/>
          </a:solidFill>
          <a:ln w="12700">
            <a:solidFill>
              <a:schemeClr val="accent2"/>
            </a:solidFill>
            <a:prstDash val="solid"/>
          </a:ln>
        </p:spPr>
      </p:sp>
      <p:sp>
        <p:nvSpPr>
          <p:cNvPr id="18" name="Text 15"/>
          <p:cNvSpPr txBox="1"/>
          <p:nvPr/>
        </p:nvSpPr>
        <p:spPr>
          <a:xfrm>
            <a:off x="11219688" y="447141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8183880" y="445312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ربط دليل جديد</a:t>
            </a:r>
            <a:endParaRPr lang="ar-AE" sz="1600" dirty="0"/>
          </a:p>
        </p:txBody>
      </p:sp>
      <p:sp>
        <p:nvSpPr>
          <p:cNvPr id="20" name="Text 17"/>
          <p:cNvSpPr txBox="1"/>
          <p:nvPr/>
        </p:nvSpPr>
        <p:spPr>
          <a:xfrm>
            <a:off x="8183880" y="4837176"/>
            <a:ext cx="2889504" cy="667512"/>
          </a:xfrm>
          <a:prstGeom prst="rect">
            <a:avLst/>
          </a:prstGeom>
          <a:noFill/>
          <a:ln/>
        </p:spPr>
        <p:txBody>
          <a:bodyPr wrap="square" lIns="0" tIns="0" rIns="0" bIns="0" rtlCol="0" anchor="t"/>
          <a:lstStyle/>
          <a:p>
            <a:pPr rtl="1" algn="r" indent="0" marL="0">
              <a:buNone/>
            </a:pPr>
            <a:r>
              <a:rPr lang="ar-AE" altLang="en-US" sz="1400" dirty="0">
                <a:solidFill>
                  <a:schemeClr val="tx1"/>
                </a:solidFill>
              </a:rPr>
              <a:t>بالموضع والشاهد وأصل الشهادة.</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سجل التعارضات</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7_conflicts.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لا تسوية مصطنعة</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تُحفظ الروايات المتباينة بأسانيدها، مفتوحة حتى يحسمها دليل.</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من النموذج التطبيقي</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سبعة تعارضات في «التلي»، منها عدد الخيوط ومعنى «الكاجوجة».</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شرط بوابة التحليل</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لا انتقال قبل تحليل كل تعارض.</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الوكلاء العشرون</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8_agents.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الهيكل التنظيمي</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المراجع البشري، فالمدير التنفيذي، فعشر وحدات متخصصة.</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بطاقات تشغيلية</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لكل وكيل موجه نظام مستقل، وصلاحيات ومحظورات، وإجراءات، وتسليم.</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سجل التكليفات</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كل تكليف محفوظ بمحركه وحالته؛ والمخرج مسودة حتى المراجعة.</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بطاقة الوكيل وتكليفه</a:t>
            </a:r>
            <a:endParaRPr lang="ar-AE" sz="3200" dirty="0"/>
          </a:p>
        </p:txBody>
      </p:sp>
      <p:sp>
        <p:nvSpPr>
          <p:cNvPr id="3" name="screen-frame"/>
          <p:cNvSpPr/>
          <p:nvPr/>
        </p:nvSpPr>
        <p:spPr>
          <a:xfrm>
            <a:off x="6117336" y="1316736"/>
            <a:ext cx="5577840" cy="3182112"/>
          </a:xfrm>
          <a:prstGeom prst="roundRect">
            <a:avLst>
              <a:gd name="adj" fmla="val 2299"/>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19_agent_card.jpg">    </p:cNvPr>
          <p:cNvPicPr>
            <a:picLocks noChangeAspect="1"/>
          </p:cNvPicPr>
          <p:nvPr/>
        </p:nvPicPr>
        <p:blipFill>
          <a:blip r:embed="rId1"/>
          <a:stretch>
            <a:fillRect/>
          </a:stretch>
        </p:blipFill>
        <p:spPr>
          <a:xfrm>
            <a:off x="6172200" y="1371600"/>
            <a:ext cx="5468112" cy="3072384"/>
          </a:xfrm>
          <a:prstGeom prst="rect">
            <a:avLst/>
          </a:prstGeom>
        </p:spPr>
      </p:pic>
      <p:sp>
        <p:nvSpPr>
          <p:cNvPr id="5" name="screen-frame"/>
          <p:cNvSpPr/>
          <p:nvPr/>
        </p:nvSpPr>
        <p:spPr>
          <a:xfrm>
            <a:off x="493776" y="1316736"/>
            <a:ext cx="5577840" cy="3182112"/>
          </a:xfrm>
          <a:prstGeom prst="roundRect">
            <a:avLst>
              <a:gd name="adj" fmla="val 2299"/>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6" name="screenshot" descr="/tmp/claude-0/-home-user/11b98046-3116-585b-b221-e5c2e170e62a/scratchpad/shots/21_agent_run_result.jpg">    </p:cNvPr>
          <p:cNvPicPr>
            <a:picLocks noChangeAspect="1"/>
          </p:cNvPicPr>
          <p:nvPr/>
        </p:nvPicPr>
        <p:blipFill>
          <a:blip r:embed="rId2"/>
          <a:stretch>
            <a:fillRect/>
          </a:stretch>
        </p:blipFill>
        <p:spPr>
          <a:xfrm>
            <a:off x="548640" y="1371600"/>
            <a:ext cx="5468112" cy="3072384"/>
          </a:xfrm>
          <a:prstGeom prst="rect">
            <a:avLst/>
          </a:prstGeom>
        </p:spPr>
      </p:pic>
      <p:sp>
        <p:nvSpPr>
          <p:cNvPr id="7" name="num-1"/>
          <p:cNvSpPr/>
          <p:nvPr/>
        </p:nvSpPr>
        <p:spPr>
          <a:xfrm>
            <a:off x="11219688" y="4709160"/>
            <a:ext cx="420624" cy="420624"/>
          </a:xfrm>
          <a:prstGeom prst="ellipse">
            <a:avLst/>
          </a:prstGeom>
          <a:solidFill>
            <a:schemeClr val="accent2"/>
          </a:solidFill>
          <a:ln w="12700">
            <a:solidFill>
              <a:schemeClr val="accent2"/>
            </a:solidFill>
            <a:prstDash val="solid"/>
          </a:ln>
        </p:spPr>
      </p:sp>
      <p:sp>
        <p:nvSpPr>
          <p:cNvPr id="8" name="Text 4"/>
          <p:cNvSpPr txBox="1"/>
          <p:nvPr/>
        </p:nvSpPr>
        <p:spPr>
          <a:xfrm>
            <a:off x="11219688" y="47091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6172200" y="4681728"/>
            <a:ext cx="4901184" cy="411480"/>
          </a:xfrm>
          <a:prstGeom prst="rect">
            <a:avLst/>
          </a:prstGeom>
          <a:noFill/>
          <a:ln/>
        </p:spPr>
        <p:txBody>
          <a:bodyPr wrap="square" lIns="0" tIns="0" rIns="0" bIns="0" rtlCol="0" anchor="ctr"/>
          <a:lstStyle/>
          <a:p>
            <a:pPr rtl="1" algn="r" indent="0" marL="0">
              <a:buNone/>
            </a:pPr>
            <a:r>
              <a:rPr lang="ar-AE" altLang="en-US" sz="1600" b="1" dirty="0">
                <a:solidFill>
                  <a:schemeClr val="accent1"/>
                </a:solidFill>
              </a:rPr>
              <a:t>البطاقة الكاملة</a:t>
            </a:r>
            <a:endParaRPr lang="ar-AE" sz="1600" dirty="0"/>
          </a:p>
        </p:txBody>
      </p:sp>
      <p:sp>
        <p:nvSpPr>
          <p:cNvPr id="10" name="Text 6"/>
          <p:cNvSpPr txBox="1"/>
          <p:nvPr/>
        </p:nvSpPr>
        <p:spPr>
          <a:xfrm>
            <a:off x="6172200" y="5102352"/>
            <a:ext cx="4901184" cy="822960"/>
          </a:xfrm>
          <a:prstGeom prst="rect">
            <a:avLst/>
          </a:prstGeom>
          <a:noFill/>
          <a:ln/>
        </p:spPr>
        <p:txBody>
          <a:bodyPr wrap="square" lIns="0" tIns="0" rIns="0" bIns="0" rtlCol="0" anchor="ctr"/>
          <a:lstStyle/>
          <a:p>
            <a:pPr rtl="1" algn="r" indent="0" marL="0">
              <a:buNone/>
            </a:pPr>
            <a:r>
              <a:rPr lang="ar-AE" altLang="en-US" sz="1400" dirty="0">
                <a:solidFill>
                  <a:schemeClr val="tx1"/>
                </a:solidFill>
              </a:rPr>
              <a:t>موجه النظام، والاختصاص، والأدوات والبيانات، والإجراءات والتسليم، والمخرجات والجودة.</a:t>
            </a:r>
            <a:endParaRPr lang="ar-AE" sz="1400" dirty="0"/>
          </a:p>
        </p:txBody>
      </p:sp>
      <p:sp>
        <p:nvSpPr>
          <p:cNvPr id="11" name="num-2"/>
          <p:cNvSpPr/>
          <p:nvPr/>
        </p:nvSpPr>
        <p:spPr>
          <a:xfrm>
            <a:off x="5596128" y="4709160"/>
            <a:ext cx="420624" cy="420624"/>
          </a:xfrm>
          <a:prstGeom prst="ellipse">
            <a:avLst/>
          </a:prstGeom>
          <a:solidFill>
            <a:schemeClr val="accent2"/>
          </a:solidFill>
          <a:ln w="12700">
            <a:solidFill>
              <a:schemeClr val="accent2"/>
            </a:solidFill>
            <a:prstDash val="solid"/>
          </a:ln>
        </p:spPr>
      </p:sp>
      <p:sp>
        <p:nvSpPr>
          <p:cNvPr id="12" name="Text 8"/>
          <p:cNvSpPr txBox="1"/>
          <p:nvPr/>
        </p:nvSpPr>
        <p:spPr>
          <a:xfrm>
            <a:off x="5596128" y="47091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548640" y="4681728"/>
            <a:ext cx="4901184" cy="411480"/>
          </a:xfrm>
          <a:prstGeom prst="rect">
            <a:avLst/>
          </a:prstGeom>
          <a:noFill/>
          <a:ln/>
        </p:spPr>
        <p:txBody>
          <a:bodyPr wrap="square" lIns="0" tIns="0" rIns="0" bIns="0" rtlCol="0" anchor="ctr"/>
          <a:lstStyle/>
          <a:p>
            <a:pPr rtl="1" algn="r" indent="0" marL="0">
              <a:buNone/>
            </a:pPr>
            <a:r>
              <a:rPr lang="ar-AE" altLang="en-US" sz="1600" b="1" dirty="0">
                <a:solidFill>
                  <a:schemeClr val="accent1"/>
                </a:solidFill>
              </a:rPr>
              <a:t>التكليف وحزمته</a:t>
            </a:r>
            <a:endParaRPr lang="ar-AE" sz="1600" dirty="0"/>
          </a:p>
        </p:txBody>
      </p:sp>
      <p:sp>
        <p:nvSpPr>
          <p:cNvPr id="14" name="Text 10"/>
          <p:cNvSpPr txBox="1"/>
          <p:nvPr/>
        </p:nvSpPr>
        <p:spPr>
          <a:xfrm>
            <a:off x="548640" y="5102352"/>
            <a:ext cx="4901184" cy="822960"/>
          </a:xfrm>
          <a:prstGeom prst="rect">
            <a:avLst/>
          </a:prstGeom>
          <a:noFill/>
          <a:ln/>
        </p:spPr>
        <p:txBody>
          <a:bodyPr wrap="square" lIns="0" tIns="0" rIns="0" bIns="0" rtlCol="0" anchor="ctr"/>
          <a:lstStyle/>
          <a:p>
            <a:pPr rtl="1" algn="r" indent="0" marL="0">
              <a:buNone/>
            </a:pPr>
            <a:r>
              <a:rPr lang="ar-AE" altLang="en-US" sz="1400" dirty="0">
                <a:solidFill>
                  <a:schemeClr val="tx1"/>
                </a:solidFill>
              </a:rPr>
              <a:t>يُشغَّل الوكيل عبر Claude Code أو مفتاح API إن توفرا، وإلا أُنتجت حزمة تكليف جاهزة للّصق.</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المهارات الأربع عشرة</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22_skills.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أوامر مؤسسية</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«ابحث تراثياً»، و«فرغ مقابلة»، و«حقق رواية»، و«دقق المصادر»…</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لكل أمر وكيله</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بإجراءات ومخرجات إلزامية، ومرحلته في دورة المشروع.</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في Claude Code أيضاً</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الأوامر نفسها مهارات قابلة للاستدعاء داخل المستودع.</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لوحة القيادة</a:t>
            </a:r>
            <a:endParaRPr lang="ar-AE" sz="3200" dirty="0"/>
          </a:p>
        </p:txBody>
      </p:sp>
      <p:sp>
        <p:nvSpPr>
          <p:cNvPr id="3" name="screen-frame"/>
          <p:cNvSpPr/>
          <p:nvPr/>
        </p:nvSpPr>
        <p:spPr>
          <a:xfrm>
            <a:off x="493776" y="1271016"/>
            <a:ext cx="7424928" cy="4224528"/>
          </a:xfrm>
          <a:prstGeom prst="roundRect">
            <a:avLst>
              <a:gd name="adj" fmla="val 1732"/>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24_kpis.jpg">    </p:cNvPr>
          <p:cNvPicPr>
            <a:picLocks noChangeAspect="1"/>
          </p:cNvPicPr>
          <p:nvPr/>
        </p:nvPicPr>
        <p:blipFill>
          <a:blip r:embed="rId1"/>
          <a:stretch>
            <a:fillRect/>
          </a:stretch>
        </p:blipFill>
        <p:spPr>
          <a:xfrm>
            <a:off x="548640" y="1325880"/>
            <a:ext cx="7315200" cy="4114800"/>
          </a:xfrm>
          <a:prstGeom prst="rect">
            <a:avLst/>
          </a:prstGeom>
        </p:spPr>
      </p:pic>
      <p:sp>
        <p:nvSpPr>
          <p:cNvPr id="5" name="num-1"/>
          <p:cNvSpPr/>
          <p:nvPr/>
        </p:nvSpPr>
        <p:spPr>
          <a:xfrm>
            <a:off x="11219688" y="1316736"/>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219688" y="1316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183880" y="1298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كل المشاريع أو مشروع واحد</a:t>
            </a:r>
            <a:endParaRPr lang="ar-AE" sz="1600" dirty="0"/>
          </a:p>
        </p:txBody>
      </p:sp>
      <p:sp>
        <p:nvSpPr>
          <p:cNvPr id="8" name="Text 5"/>
          <p:cNvSpPr txBox="1"/>
          <p:nvPr/>
        </p:nvSpPr>
        <p:spPr>
          <a:xfrm>
            <a:off x="8183880" y="1682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اختيار من القائمة أعلى الشاشة.</a:t>
            </a:r>
            <a:endParaRPr lang="ar-AE" sz="1400" dirty="0"/>
          </a:p>
        </p:txBody>
      </p:sp>
      <p:sp>
        <p:nvSpPr>
          <p:cNvPr id="9" name="num-2"/>
          <p:cNvSpPr/>
          <p:nvPr/>
        </p:nvSpPr>
        <p:spPr>
          <a:xfrm>
            <a:off x="11219688" y="2459736"/>
            <a:ext cx="420624" cy="420624"/>
          </a:xfrm>
          <a:prstGeom prst="ellipse">
            <a:avLst/>
          </a:prstGeom>
          <a:solidFill>
            <a:schemeClr val="accent2"/>
          </a:solidFill>
          <a:ln w="12700">
            <a:solidFill>
              <a:schemeClr val="accent2"/>
            </a:solidFill>
            <a:prstDash val="solid"/>
          </a:ln>
        </p:spPr>
      </p:sp>
      <p:sp>
        <p:nvSpPr>
          <p:cNvPr id="10" name="Text 7"/>
          <p:cNvSpPr txBox="1"/>
          <p:nvPr/>
        </p:nvSpPr>
        <p:spPr>
          <a:xfrm>
            <a:off x="11219688" y="2459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8183880" y="2441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تثبيت خط الأساس</a:t>
            </a:r>
            <a:endParaRPr lang="ar-AE" sz="1600" dirty="0"/>
          </a:p>
        </p:txBody>
      </p:sp>
      <p:sp>
        <p:nvSpPr>
          <p:cNvPr id="12" name="Text 9"/>
          <p:cNvSpPr txBox="1"/>
          <p:nvPr/>
        </p:nvSpPr>
        <p:spPr>
          <a:xfrm>
            <a:off x="8183880" y="2825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قرار بشري للمدير يُسجَّل، ثم تظهر القيمة الأساس تحت كل مؤشر.</a:t>
            </a:r>
            <a:endParaRPr lang="ar-AE" sz="1400" dirty="0"/>
          </a:p>
        </p:txBody>
      </p:sp>
      <p:sp>
        <p:nvSpPr>
          <p:cNvPr id="13" name="num-3"/>
          <p:cNvSpPr/>
          <p:nvPr/>
        </p:nvSpPr>
        <p:spPr>
          <a:xfrm>
            <a:off x="11219688" y="3602736"/>
            <a:ext cx="420624" cy="420624"/>
          </a:xfrm>
          <a:prstGeom prst="ellipse">
            <a:avLst/>
          </a:prstGeom>
          <a:solidFill>
            <a:schemeClr val="accent2"/>
          </a:solidFill>
          <a:ln w="12700">
            <a:solidFill>
              <a:schemeClr val="accent2"/>
            </a:solidFill>
            <a:prstDash val="solid"/>
          </a:ln>
        </p:spPr>
      </p:sp>
      <p:sp>
        <p:nvSpPr>
          <p:cNvPr id="14" name="Text 11"/>
          <p:cNvSpPr txBox="1"/>
          <p:nvPr/>
        </p:nvSpPr>
        <p:spPr>
          <a:xfrm>
            <a:off x="11219688" y="360273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8183880" y="3584448"/>
            <a:ext cx="2889504" cy="384048"/>
          </a:xfrm>
          <a:prstGeom prst="rect">
            <a:avLst/>
          </a:prstGeom>
          <a:noFill/>
          <a:ln/>
        </p:spPr>
        <p:txBody>
          <a:bodyPr wrap="square" lIns="0" tIns="0" rIns="0" bIns="0" rtlCol="0" anchor="t"/>
          <a:lstStyle/>
          <a:p>
            <a:pPr rtl="1" algn="r" indent="0" marL="0">
              <a:buNone/>
            </a:pPr>
            <a:r>
              <a:rPr lang="ar-AE" altLang="en-US" sz="1600" b="1" dirty="0">
                <a:solidFill>
                  <a:schemeClr val="accent1"/>
                </a:solidFill>
              </a:rPr>
              <a:t>طريقة الحساب معلنة</a:t>
            </a:r>
            <a:endParaRPr lang="ar-AE" sz="1600" dirty="0"/>
          </a:p>
        </p:txBody>
      </p:sp>
      <p:sp>
        <p:nvSpPr>
          <p:cNvPr id="16" name="Text 13"/>
          <p:cNvSpPr txBox="1"/>
          <p:nvPr/>
        </p:nvSpPr>
        <p:spPr>
          <a:xfrm>
            <a:off x="8183880" y="3968496"/>
            <a:ext cx="2889504" cy="758952"/>
          </a:xfrm>
          <a:prstGeom prst="rect">
            <a:avLst/>
          </a:prstGeom>
          <a:noFill/>
          <a:ln/>
        </p:spPr>
        <p:txBody>
          <a:bodyPr wrap="square" lIns="0" tIns="0" rIns="0" bIns="0" rtlCol="0" anchor="t"/>
          <a:lstStyle/>
          <a:p>
            <a:pPr rtl="1" algn="r" indent="0" marL="0">
              <a:buNone/>
            </a:pPr>
            <a:r>
              <a:rPr lang="ar-AE" altLang="en-US" sz="1400" dirty="0">
                <a:solidFill>
                  <a:schemeClr val="tx1"/>
                </a:solidFill>
              </a:rPr>
              <a:t>كل مؤشر معرّف إجرائياً أسفل الشاشة.</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الوثائق والإعدادات والبحث</a:t>
            </a:r>
            <a:endParaRPr lang="ar-AE" sz="3200" dirty="0"/>
          </a:p>
        </p:txBody>
      </p:sp>
      <p:sp>
        <p:nvSpPr>
          <p:cNvPr id="3" name="screen-frame"/>
          <p:cNvSpPr/>
          <p:nvPr/>
        </p:nvSpPr>
        <p:spPr>
          <a:xfrm>
            <a:off x="7991856" y="1362456"/>
            <a:ext cx="3630168" cy="2090318"/>
          </a:xfrm>
          <a:prstGeom prst="roundRect">
            <a:avLst>
              <a:gd name="adj" fmla="val 3500"/>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4" name="screenshot" descr="/tmp/claude-0/-home-user/11b98046-3116-585b-b221-e5c2e170e62a/scratchpad/shots/25_docs.jpg">    </p:cNvPr>
          <p:cNvPicPr>
            <a:picLocks noChangeAspect="1"/>
          </p:cNvPicPr>
          <p:nvPr/>
        </p:nvPicPr>
        <p:blipFill>
          <a:blip r:embed="rId1"/>
          <a:stretch>
            <a:fillRect/>
          </a:stretch>
        </p:blipFill>
        <p:spPr>
          <a:xfrm>
            <a:off x="8046720" y="1417320"/>
            <a:ext cx="3520440" cy="1980590"/>
          </a:xfrm>
          <a:prstGeom prst="rect">
            <a:avLst/>
          </a:prstGeom>
        </p:spPr>
      </p:pic>
      <p:sp>
        <p:nvSpPr>
          <p:cNvPr id="5" name="num-1"/>
          <p:cNvSpPr/>
          <p:nvPr/>
        </p:nvSpPr>
        <p:spPr>
          <a:xfrm>
            <a:off x="11146536" y="3657600"/>
            <a:ext cx="420624" cy="420624"/>
          </a:xfrm>
          <a:prstGeom prst="ellipse">
            <a:avLst/>
          </a:prstGeom>
          <a:solidFill>
            <a:schemeClr val="accent2"/>
          </a:solidFill>
          <a:ln w="12700">
            <a:solidFill>
              <a:schemeClr val="accent2"/>
            </a:solidFill>
            <a:prstDash val="solid"/>
          </a:ln>
        </p:spPr>
      </p:sp>
      <p:sp>
        <p:nvSpPr>
          <p:cNvPr id="6" name="Text 3"/>
          <p:cNvSpPr txBox="1"/>
          <p:nvPr/>
        </p:nvSpPr>
        <p:spPr>
          <a:xfrm>
            <a:off x="11146536" y="3657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046720" y="3639312"/>
            <a:ext cx="2971800" cy="411480"/>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الوثائق والاستمارات</a:t>
            </a:r>
            <a:endParaRPr lang="ar-AE" sz="1700" dirty="0"/>
          </a:p>
        </p:txBody>
      </p:sp>
      <p:sp>
        <p:nvSpPr>
          <p:cNvPr id="8" name="Text 5"/>
          <p:cNvSpPr txBox="1"/>
          <p:nvPr/>
        </p:nvSpPr>
        <p:spPr>
          <a:xfrm>
            <a:off x="8046720" y="4114800"/>
            <a:ext cx="3520440" cy="1188720"/>
          </a:xfrm>
          <a:prstGeom prst="rect">
            <a:avLst/>
          </a:prstGeom>
          <a:noFill/>
          <a:ln/>
        </p:spPr>
        <p:txBody>
          <a:bodyPr wrap="square" lIns="0" tIns="0" rIns="0" bIns="0" rtlCol="0" anchor="ctr"/>
          <a:lstStyle/>
          <a:p>
            <a:pPr rtl="1" algn="r" indent="0" marL="0">
              <a:buNone/>
            </a:pPr>
            <a:r>
              <a:rPr lang="ar-AE" altLang="en-US" sz="1400" dirty="0">
                <a:solidFill>
                  <a:schemeClr val="tx1"/>
                </a:solidFill>
              </a:rPr>
              <a:t>تسع عشرة وثيقة تُقرأ وتُطبع، منها استمارة المقابلة ونموذج الموافقة.</a:t>
            </a:r>
            <a:endParaRPr lang="ar-AE" sz="1400" dirty="0"/>
          </a:p>
        </p:txBody>
      </p:sp>
      <p:sp>
        <p:nvSpPr>
          <p:cNvPr id="9" name="screen-frame"/>
          <p:cNvSpPr/>
          <p:nvPr/>
        </p:nvSpPr>
        <p:spPr>
          <a:xfrm>
            <a:off x="4242816" y="1362456"/>
            <a:ext cx="3630168" cy="2090318"/>
          </a:xfrm>
          <a:prstGeom prst="roundRect">
            <a:avLst>
              <a:gd name="adj" fmla="val 3500"/>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10" name="screenshot" descr="/tmp/claude-0/-home-user/11b98046-3116-585b-b221-e5c2e170e62a/scratchpad/shots/26_settings.jpg">    </p:cNvPr>
          <p:cNvPicPr>
            <a:picLocks noChangeAspect="1"/>
          </p:cNvPicPr>
          <p:nvPr/>
        </p:nvPicPr>
        <p:blipFill>
          <a:blip r:embed="rId2"/>
          <a:stretch>
            <a:fillRect/>
          </a:stretch>
        </p:blipFill>
        <p:spPr>
          <a:xfrm>
            <a:off x="4297680" y="1417320"/>
            <a:ext cx="3520440" cy="1980590"/>
          </a:xfrm>
          <a:prstGeom prst="rect">
            <a:avLst/>
          </a:prstGeom>
        </p:spPr>
      </p:pic>
      <p:sp>
        <p:nvSpPr>
          <p:cNvPr id="11" name="num-2"/>
          <p:cNvSpPr/>
          <p:nvPr/>
        </p:nvSpPr>
        <p:spPr>
          <a:xfrm>
            <a:off x="7397496" y="3657600"/>
            <a:ext cx="420624" cy="420624"/>
          </a:xfrm>
          <a:prstGeom prst="ellipse">
            <a:avLst/>
          </a:prstGeom>
          <a:solidFill>
            <a:schemeClr val="accent2"/>
          </a:solidFill>
          <a:ln w="12700">
            <a:solidFill>
              <a:schemeClr val="accent2"/>
            </a:solidFill>
            <a:prstDash val="solid"/>
          </a:ln>
        </p:spPr>
      </p:sp>
      <p:sp>
        <p:nvSpPr>
          <p:cNvPr id="12" name="Text 8"/>
          <p:cNvSpPr txBox="1"/>
          <p:nvPr/>
        </p:nvSpPr>
        <p:spPr>
          <a:xfrm>
            <a:off x="7397496" y="3657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4297680" y="3639312"/>
            <a:ext cx="2971800" cy="411480"/>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الإعدادات</a:t>
            </a:r>
            <a:endParaRPr lang="ar-AE" sz="1700" dirty="0"/>
          </a:p>
        </p:txBody>
      </p:sp>
      <p:sp>
        <p:nvSpPr>
          <p:cNvPr id="14" name="Text 10"/>
          <p:cNvSpPr txBox="1"/>
          <p:nvPr/>
        </p:nvSpPr>
        <p:spPr>
          <a:xfrm>
            <a:off x="4297680" y="4114800"/>
            <a:ext cx="3520440" cy="1188720"/>
          </a:xfrm>
          <a:prstGeom prst="rect">
            <a:avLst/>
          </a:prstGeom>
          <a:noFill/>
          <a:ln/>
        </p:spPr>
        <p:txBody>
          <a:bodyPr wrap="square" lIns="0" tIns="0" rIns="0" bIns="0" rtlCol="0" anchor="ctr"/>
          <a:lstStyle/>
          <a:p>
            <a:pPr rtl="1" algn="r" indent="0" marL="0">
              <a:buNone/>
            </a:pPr>
            <a:r>
              <a:rPr lang="ar-AE" altLang="en-US" sz="1400" dirty="0">
                <a:solidFill>
                  <a:schemeClr val="tx1"/>
                </a:solidFill>
              </a:rPr>
              <a:t>أنماط التشغيل، ومحرك الوكلاء، والحسابات، ودليل البدء.</a:t>
            </a:r>
            <a:endParaRPr lang="ar-AE" sz="1400" dirty="0"/>
          </a:p>
        </p:txBody>
      </p:sp>
      <p:sp>
        <p:nvSpPr>
          <p:cNvPr id="15" name="screen-frame"/>
          <p:cNvSpPr/>
          <p:nvPr/>
        </p:nvSpPr>
        <p:spPr>
          <a:xfrm>
            <a:off x="493776" y="1362456"/>
            <a:ext cx="3630168" cy="2090318"/>
          </a:xfrm>
          <a:prstGeom prst="roundRect">
            <a:avLst>
              <a:gd name="adj" fmla="val 3500"/>
            </a:avLst>
          </a:prstGeom>
          <a:solidFill>
            <a:srgbClr val="FFFFFF"/>
          </a:solidFill>
          <a:ln w="9525">
            <a:solidFill>
              <a:srgbClr val="D9E1EA"/>
            </a:solidFill>
            <a:prstDash val="solid"/>
          </a:ln>
          <a:effectLst>
            <a:outerShdw sx="100000" sy="100000" kx="0" ky="0" algn="bl" rotWithShape="0" blurRad="127000" dist="38100" dir="5400000">
              <a:srgbClr val="12263F">
                <a:alpha val="18000"/>
              </a:srgbClr>
            </a:outerShdw>
          </a:effectLst>
        </p:spPr>
      </p:sp>
      <p:pic>
        <p:nvPicPr>
          <p:cNvPr id="16" name="screenshot" descr="/tmp/claude-0/-home-user/11b98046-3116-585b-b221-e5c2e170e62a/scratchpad/shots/27_search.jpg">    </p:cNvPr>
          <p:cNvPicPr>
            <a:picLocks noChangeAspect="1"/>
          </p:cNvPicPr>
          <p:nvPr/>
        </p:nvPicPr>
        <p:blipFill>
          <a:blip r:embed="rId3"/>
          <a:stretch>
            <a:fillRect/>
          </a:stretch>
        </p:blipFill>
        <p:spPr>
          <a:xfrm>
            <a:off x="548640" y="1417320"/>
            <a:ext cx="3520440" cy="1980590"/>
          </a:xfrm>
          <a:prstGeom prst="rect">
            <a:avLst/>
          </a:prstGeom>
        </p:spPr>
      </p:pic>
      <p:sp>
        <p:nvSpPr>
          <p:cNvPr id="17" name="num-3"/>
          <p:cNvSpPr/>
          <p:nvPr/>
        </p:nvSpPr>
        <p:spPr>
          <a:xfrm>
            <a:off x="3648456" y="3657600"/>
            <a:ext cx="420624" cy="420624"/>
          </a:xfrm>
          <a:prstGeom prst="ellipse">
            <a:avLst/>
          </a:prstGeom>
          <a:solidFill>
            <a:schemeClr val="accent2"/>
          </a:solidFill>
          <a:ln w="12700">
            <a:solidFill>
              <a:schemeClr val="accent2"/>
            </a:solidFill>
            <a:prstDash val="solid"/>
          </a:ln>
        </p:spPr>
      </p:sp>
      <p:sp>
        <p:nvSpPr>
          <p:cNvPr id="18" name="Text 13"/>
          <p:cNvSpPr txBox="1"/>
          <p:nvPr/>
        </p:nvSpPr>
        <p:spPr>
          <a:xfrm>
            <a:off x="3648456" y="3657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Text 14"/>
          <p:cNvSpPr txBox="1"/>
          <p:nvPr/>
        </p:nvSpPr>
        <p:spPr>
          <a:xfrm>
            <a:off x="548640" y="3639312"/>
            <a:ext cx="2971800" cy="411480"/>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البحث الشامل</a:t>
            </a:r>
            <a:endParaRPr lang="ar-AE" sz="1700" dirty="0"/>
          </a:p>
        </p:txBody>
      </p:sp>
      <p:sp>
        <p:nvSpPr>
          <p:cNvPr id="20" name="Text 15"/>
          <p:cNvSpPr txBox="1"/>
          <p:nvPr/>
        </p:nvSpPr>
        <p:spPr>
          <a:xfrm>
            <a:off x="548640" y="4114800"/>
            <a:ext cx="3520440" cy="1188720"/>
          </a:xfrm>
          <a:prstGeom prst="rect">
            <a:avLst/>
          </a:prstGeom>
          <a:noFill/>
          <a:ln/>
        </p:spPr>
        <p:txBody>
          <a:bodyPr wrap="square" lIns="0" tIns="0" rIns="0" bIns="0" rtlCol="0" anchor="ctr"/>
          <a:lstStyle/>
          <a:p>
            <a:pPr rtl="1" algn="r" indent="0" marL="0">
              <a:buNone/>
            </a:pPr>
            <a:r>
              <a:rPr lang="ar-AE" altLang="en-US" sz="1400" dirty="0">
                <a:solidFill>
                  <a:schemeClr val="tx1"/>
                </a:solidFill>
              </a:rPr>
              <a:t>النتيجة مظلَّلة بموضعها، ونقرة تفتح سجلها.</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ection-art" descr="/tmp/claude-0/-home-user/11b98046-3116-585b-b221-e5c2e170e62a/scratchpad/deck/assets/photos/lab.jpg">    </p:cNvPr>
          <p:cNvPicPr>
            <a:picLocks noChangeAspect="1"/>
          </p:cNvPicPr>
          <p:nvPr/>
        </p:nvPicPr>
        <p:blipFill>
          <a:blip r:embed="rId1"/>
          <a:srcRect l="0" r="0" t="0" b="0"/>
          <a:stretch/>
        </p:blipFill>
        <p:spPr>
          <a:xfrm>
            <a:off x="0" y="0"/>
            <a:ext cx="5486400" cy="6583680"/>
          </a:xfrm>
          <a:prstGeom prst="rect">
            <a:avLst/>
          </a:prstGeom>
        </p:spPr>
      </p:pic>
      <p:sp>
        <p:nvSpPr>
          <p:cNvPr id="3" name="Text 0"/>
          <p:cNvSpPr/>
          <p:nvPr>
            <p:ph idx="101" type="title" hasCustomPrompt="1"/>
          </p:nvPr>
        </p:nvSpPr>
        <p:spPr>
          <a:xfrm>
            <a:off x="6035040" y="2514600"/>
            <a:ext cx="5577840" cy="1097280"/>
          </a:xfrm>
          <a:prstGeom prst="rect">
            <a:avLst/>
          </a:prstGeom>
          <a:noFill/>
          <a:ln/>
        </p:spPr>
        <p:txBody>
          <a:bodyPr wrap="square" rtlCol="0" anchor="ctr"/>
          <a:lstStyle/>
          <a:p>
            <a:pPr rtl="1" algn="r" indent="0" marL="0">
              <a:buNone/>
            </a:pPr>
            <a:r>
              <a:rPr lang="ar-AE" altLang="en-US" sz="4000" b="1" dirty="0">
                <a:solidFill>
                  <a:schemeClr val="bg1"/>
                </a:solidFill>
              </a:rPr>
              <a:t>الاستخدام</a:t>
            </a:r>
            <a:endParaRPr lang="ar-AE" sz="4000" dirty="0"/>
          </a:p>
        </p:txBody>
      </p:sp>
      <p:sp>
        <p:nvSpPr>
          <p:cNvPr id="4" name="Text 0"/>
          <p:cNvSpPr/>
          <p:nvPr>
            <p:ph idx="102" type="body" hasCustomPrompt="1"/>
          </p:nvPr>
        </p:nvSpPr>
        <p:spPr>
          <a:xfrm>
            <a:off x="6035040" y="3611880"/>
            <a:ext cx="5577840" cy="1097280"/>
          </a:xfrm>
          <a:prstGeom prst="rect">
            <a:avLst/>
          </a:prstGeom>
          <a:noFill/>
          <a:ln/>
        </p:spPr>
        <p:txBody>
          <a:bodyPr wrap="square" rtlCol="0" anchor="t"/>
          <a:lstStyle/>
          <a:p>
            <a:pPr rtl="1" algn="r" indent="0" marL="0">
              <a:buNone/>
            </a:pPr>
            <a:r>
              <a:rPr lang="ar-AE" altLang="en-US" sz="1800" dirty="0">
                <a:solidFill>
                  <a:srgbClr val="D9E4F0"/>
                </a:solidFill>
              </a:rPr>
              <a:t>كيف يسير بحث تراثي في المنصة من الفكرة إلى النشر.</a:t>
            </a:r>
            <a:endParaRPr lang="ar-AE"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رحلة بحث كاملة في سبع خطوات</a:t>
            </a:r>
            <a:endParaRPr lang="ar-AE" sz="3200" dirty="0"/>
          </a:p>
        </p:txBody>
      </p:sp>
      <p:sp>
        <p:nvSpPr>
          <p:cNvPr id="3" name="journey-line"/>
          <p:cNvSpPr/>
          <p:nvPr/>
        </p:nvSpPr>
        <p:spPr>
          <a:xfrm>
            <a:off x="1280160" y="2176272"/>
            <a:ext cx="9628632" cy="0"/>
          </a:xfrm>
          <a:prstGeom prst="line">
            <a:avLst/>
          </a:prstGeom>
          <a:noFill/>
          <a:ln w="25400">
            <a:solidFill>
              <a:srgbClr val="B8860B"/>
            </a:solidFill>
            <a:prstDash val="dash"/>
          </a:ln>
        </p:spPr>
      </p:sp>
      <p:sp>
        <p:nvSpPr>
          <p:cNvPr id="4" name="icon-folder"/>
          <p:cNvSpPr/>
          <p:nvPr/>
        </p:nvSpPr>
        <p:spPr>
          <a:xfrm>
            <a:off x="10524744" y="1691640"/>
            <a:ext cx="768096" cy="768096"/>
          </a:xfrm>
          <a:prstGeom prst="ellipse">
            <a:avLst/>
          </a:prstGeom>
          <a:solidFill>
            <a:schemeClr val="accent1"/>
          </a:solidFill>
          <a:ln w="12700">
            <a:solidFill>
              <a:schemeClr val="accent1"/>
            </a:solidFill>
            <a:prstDash val="solid"/>
          </a:ln>
        </p:spPr>
      </p:sp>
      <p:pic>
        <p:nvPicPr>
          <p:cNvPr id="5" name="Image 0" descr="/tmp/claude-0/-home-user/11b98046-3116-585b-b221-e5c2e170e62a/scratchpad/deck/assets/i-folder.png">    </p:cNvPr>
          <p:cNvPicPr>
            <a:picLocks noChangeAspect="1"/>
          </p:cNvPicPr>
          <p:nvPr/>
        </p:nvPicPr>
        <p:blipFill>
          <a:blip r:embed="rId1"/>
          <a:stretch>
            <a:fillRect/>
          </a:stretch>
        </p:blipFill>
        <p:spPr>
          <a:xfrm>
            <a:off x="10716768" y="1883664"/>
            <a:ext cx="384048" cy="384048"/>
          </a:xfrm>
          <a:prstGeom prst="rect">
            <a:avLst/>
          </a:prstGeom>
        </p:spPr>
      </p:pic>
      <p:sp>
        <p:nvSpPr>
          <p:cNvPr id="6" name="num-1"/>
          <p:cNvSpPr/>
          <p:nvPr/>
        </p:nvSpPr>
        <p:spPr>
          <a:xfrm>
            <a:off x="11183112" y="1572768"/>
            <a:ext cx="347472" cy="347472"/>
          </a:xfrm>
          <a:prstGeom prst="ellipse">
            <a:avLst/>
          </a:prstGeom>
          <a:solidFill>
            <a:schemeClr val="accent2"/>
          </a:solidFill>
          <a:ln w="12700">
            <a:solidFill>
              <a:schemeClr val="accent2"/>
            </a:solidFill>
            <a:prstDash val="solid"/>
          </a:ln>
        </p:spPr>
      </p:sp>
      <p:sp>
        <p:nvSpPr>
          <p:cNvPr id="7" name="Text 4"/>
          <p:cNvSpPr txBox="1"/>
          <p:nvPr/>
        </p:nvSpPr>
        <p:spPr>
          <a:xfrm>
            <a:off x="11183112"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0177272"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مشروع جديد</a:t>
            </a:r>
            <a:endParaRPr lang="ar-AE" sz="1500" dirty="0"/>
          </a:p>
        </p:txBody>
      </p:sp>
      <p:sp>
        <p:nvSpPr>
          <p:cNvPr id="9" name="Text 6"/>
          <p:cNvSpPr txBox="1"/>
          <p:nvPr/>
        </p:nvSpPr>
        <p:spPr>
          <a:xfrm>
            <a:off x="10177272"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السؤال والفجوة والنطاق</a:t>
            </a:r>
            <a:endParaRPr lang="ar-AE" sz="1300" dirty="0"/>
          </a:p>
        </p:txBody>
      </p:sp>
      <p:sp>
        <p:nvSpPr>
          <p:cNvPr id="10" name="icon-book"/>
          <p:cNvSpPr/>
          <p:nvPr/>
        </p:nvSpPr>
        <p:spPr>
          <a:xfrm>
            <a:off x="8919972" y="1691640"/>
            <a:ext cx="768096" cy="768096"/>
          </a:xfrm>
          <a:prstGeom prst="ellipse">
            <a:avLst/>
          </a:prstGeom>
          <a:solidFill>
            <a:schemeClr val="accent4"/>
          </a:solidFill>
          <a:ln w="12700">
            <a:solidFill>
              <a:schemeClr val="accent4"/>
            </a:solidFill>
            <a:prstDash val="solid"/>
          </a:ln>
        </p:spPr>
      </p:sp>
      <p:pic>
        <p:nvPicPr>
          <p:cNvPr id="11" name="Image 1" descr="/tmp/claude-0/-home-user/11b98046-3116-585b-b221-e5c2e170e62a/scratchpad/deck/assets/i-book.png">    </p:cNvPr>
          <p:cNvPicPr>
            <a:picLocks noChangeAspect="1"/>
          </p:cNvPicPr>
          <p:nvPr/>
        </p:nvPicPr>
        <p:blipFill>
          <a:blip r:embed="rId2"/>
          <a:stretch>
            <a:fillRect/>
          </a:stretch>
        </p:blipFill>
        <p:spPr>
          <a:xfrm>
            <a:off x="9111996" y="1883664"/>
            <a:ext cx="384048" cy="384048"/>
          </a:xfrm>
          <a:prstGeom prst="rect">
            <a:avLst/>
          </a:prstGeom>
        </p:spPr>
      </p:pic>
      <p:sp>
        <p:nvSpPr>
          <p:cNvPr id="12" name="num-2"/>
          <p:cNvSpPr/>
          <p:nvPr/>
        </p:nvSpPr>
        <p:spPr>
          <a:xfrm>
            <a:off x="9578340" y="1572768"/>
            <a:ext cx="347472" cy="347472"/>
          </a:xfrm>
          <a:prstGeom prst="ellipse">
            <a:avLst/>
          </a:prstGeom>
          <a:solidFill>
            <a:schemeClr val="accent2"/>
          </a:solidFill>
          <a:ln w="12700">
            <a:solidFill>
              <a:schemeClr val="accent2"/>
            </a:solidFill>
            <a:prstDash val="solid"/>
          </a:ln>
        </p:spPr>
      </p:sp>
      <p:sp>
        <p:nvSpPr>
          <p:cNvPr id="13" name="Text 9"/>
          <p:cNvSpPr txBox="1"/>
          <p:nvPr/>
        </p:nvSpPr>
        <p:spPr>
          <a:xfrm>
            <a:off x="9578340"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572500"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المصادر</a:t>
            </a:r>
            <a:endParaRPr lang="ar-AE" sz="1500" dirty="0"/>
          </a:p>
        </p:txBody>
      </p:sp>
      <p:sp>
        <p:nvSpPr>
          <p:cNvPr id="15" name="Text 11"/>
          <p:cNvSpPr txBox="1"/>
          <p:nvPr/>
        </p:nvSpPr>
        <p:spPr>
          <a:xfrm>
            <a:off x="8572500"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تسجيلها وتصنيفها في الهرم</a:t>
            </a:r>
            <a:endParaRPr lang="ar-AE" sz="1300" dirty="0"/>
          </a:p>
        </p:txBody>
      </p:sp>
      <p:sp>
        <p:nvSpPr>
          <p:cNvPr id="16" name="icon-handshake"/>
          <p:cNvSpPr/>
          <p:nvPr/>
        </p:nvSpPr>
        <p:spPr>
          <a:xfrm>
            <a:off x="7315200" y="1691640"/>
            <a:ext cx="768096" cy="768096"/>
          </a:xfrm>
          <a:prstGeom prst="ellipse">
            <a:avLst/>
          </a:prstGeom>
          <a:solidFill>
            <a:schemeClr val="accent6"/>
          </a:solidFill>
          <a:ln w="12700">
            <a:solidFill>
              <a:schemeClr val="accent6"/>
            </a:solidFill>
            <a:prstDash val="solid"/>
          </a:ln>
        </p:spPr>
      </p:sp>
      <p:pic>
        <p:nvPicPr>
          <p:cNvPr id="17" name="Image 2" descr="/tmp/claude-0/-home-user/11b98046-3116-585b-b221-e5c2e170e62a/scratchpad/deck/assets/i-handshake.png">    </p:cNvPr>
          <p:cNvPicPr>
            <a:picLocks noChangeAspect="1"/>
          </p:cNvPicPr>
          <p:nvPr/>
        </p:nvPicPr>
        <p:blipFill>
          <a:blip r:embed="rId3"/>
          <a:stretch>
            <a:fillRect/>
          </a:stretch>
        </p:blipFill>
        <p:spPr>
          <a:xfrm>
            <a:off x="7507224" y="1883664"/>
            <a:ext cx="384048" cy="384048"/>
          </a:xfrm>
          <a:prstGeom prst="rect">
            <a:avLst/>
          </a:prstGeom>
        </p:spPr>
      </p:pic>
      <p:sp>
        <p:nvSpPr>
          <p:cNvPr id="18" name="num-3"/>
          <p:cNvSpPr/>
          <p:nvPr/>
        </p:nvSpPr>
        <p:spPr>
          <a:xfrm>
            <a:off x="7973568" y="1572768"/>
            <a:ext cx="347472" cy="347472"/>
          </a:xfrm>
          <a:prstGeom prst="ellipse">
            <a:avLst/>
          </a:prstGeom>
          <a:solidFill>
            <a:schemeClr val="accent2"/>
          </a:solidFill>
          <a:ln w="12700">
            <a:solidFill>
              <a:schemeClr val="accent2"/>
            </a:solidFill>
            <a:prstDash val="solid"/>
          </a:ln>
        </p:spPr>
      </p:sp>
      <p:sp>
        <p:nvSpPr>
          <p:cNvPr id="19" name="Text 14"/>
          <p:cNvSpPr txBox="1"/>
          <p:nvPr/>
        </p:nvSpPr>
        <p:spPr>
          <a:xfrm>
            <a:off x="7973568"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20" name="Text 15"/>
          <p:cNvSpPr txBox="1"/>
          <p:nvPr/>
        </p:nvSpPr>
        <p:spPr>
          <a:xfrm>
            <a:off x="6967728"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الموافقات</a:t>
            </a:r>
            <a:endParaRPr lang="ar-AE" sz="1500" dirty="0"/>
          </a:p>
        </p:txBody>
      </p:sp>
      <p:sp>
        <p:nvSpPr>
          <p:cNvPr id="21" name="Text 16"/>
          <p:cNvSpPr txBox="1"/>
          <p:nvPr/>
        </p:nvSpPr>
        <p:spPr>
          <a:xfrm>
            <a:off x="6967728"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قبل أي تسجيل</a:t>
            </a:r>
            <a:endParaRPr lang="ar-AE" sz="1300" dirty="0"/>
          </a:p>
        </p:txBody>
      </p:sp>
      <p:sp>
        <p:nvSpPr>
          <p:cNvPr id="22" name="icon-mic"/>
          <p:cNvSpPr/>
          <p:nvPr/>
        </p:nvSpPr>
        <p:spPr>
          <a:xfrm>
            <a:off x="5710428" y="1691640"/>
            <a:ext cx="768096" cy="768096"/>
          </a:xfrm>
          <a:prstGeom prst="ellipse">
            <a:avLst/>
          </a:prstGeom>
          <a:solidFill>
            <a:schemeClr val="accent3"/>
          </a:solidFill>
          <a:ln w="12700">
            <a:solidFill>
              <a:schemeClr val="accent3"/>
            </a:solidFill>
            <a:prstDash val="solid"/>
          </a:ln>
        </p:spPr>
      </p:sp>
      <p:pic>
        <p:nvPicPr>
          <p:cNvPr id="23" name="Image 3" descr="/tmp/claude-0/-home-user/11b98046-3116-585b-b221-e5c2e170e62a/scratchpad/deck/assets/i-mic.png">    </p:cNvPr>
          <p:cNvPicPr>
            <a:picLocks noChangeAspect="1"/>
          </p:cNvPicPr>
          <p:nvPr/>
        </p:nvPicPr>
        <p:blipFill>
          <a:blip r:embed="rId4"/>
          <a:stretch>
            <a:fillRect/>
          </a:stretch>
        </p:blipFill>
        <p:spPr>
          <a:xfrm>
            <a:off x="5902452" y="1883664"/>
            <a:ext cx="384048" cy="384048"/>
          </a:xfrm>
          <a:prstGeom prst="rect">
            <a:avLst/>
          </a:prstGeom>
        </p:spPr>
      </p:pic>
      <p:sp>
        <p:nvSpPr>
          <p:cNvPr id="24" name="num-4"/>
          <p:cNvSpPr/>
          <p:nvPr/>
        </p:nvSpPr>
        <p:spPr>
          <a:xfrm>
            <a:off x="6368796" y="1572768"/>
            <a:ext cx="347472" cy="347472"/>
          </a:xfrm>
          <a:prstGeom prst="ellipse">
            <a:avLst/>
          </a:prstGeom>
          <a:solidFill>
            <a:schemeClr val="accent2"/>
          </a:solidFill>
          <a:ln w="12700">
            <a:solidFill>
              <a:schemeClr val="accent2"/>
            </a:solidFill>
            <a:prstDash val="solid"/>
          </a:ln>
        </p:spPr>
      </p:sp>
      <p:sp>
        <p:nvSpPr>
          <p:cNvPr id="25" name="Text 19"/>
          <p:cNvSpPr txBox="1"/>
          <p:nvPr/>
        </p:nvSpPr>
        <p:spPr>
          <a:xfrm>
            <a:off x="6368796"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6" name="Text 20"/>
          <p:cNvSpPr txBox="1"/>
          <p:nvPr/>
        </p:nvSpPr>
        <p:spPr>
          <a:xfrm>
            <a:off x="5362956"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الجمع والتفريغ</a:t>
            </a:r>
            <a:endParaRPr lang="ar-AE" sz="1500" dirty="0"/>
          </a:p>
        </p:txBody>
      </p:sp>
      <p:sp>
        <p:nvSpPr>
          <p:cNvPr id="27" name="Text 21"/>
          <p:cNvSpPr txBox="1"/>
          <p:nvPr/>
        </p:nvSpPr>
        <p:spPr>
          <a:xfrm>
            <a:off x="5362956"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الخزنة ثم المختبر</a:t>
            </a:r>
            <a:endParaRPr lang="ar-AE" sz="1300" dirty="0"/>
          </a:p>
        </p:txBody>
      </p:sp>
      <p:sp>
        <p:nvSpPr>
          <p:cNvPr id="28" name="icon-shield"/>
          <p:cNvSpPr/>
          <p:nvPr/>
        </p:nvSpPr>
        <p:spPr>
          <a:xfrm>
            <a:off x="4105656" y="1691640"/>
            <a:ext cx="768096" cy="768096"/>
          </a:xfrm>
          <a:prstGeom prst="ellipse">
            <a:avLst/>
          </a:prstGeom>
          <a:solidFill>
            <a:schemeClr val="accent6"/>
          </a:solidFill>
          <a:ln w="12700">
            <a:solidFill>
              <a:schemeClr val="accent6"/>
            </a:solidFill>
            <a:prstDash val="solid"/>
          </a:ln>
        </p:spPr>
      </p:sp>
      <p:pic>
        <p:nvPicPr>
          <p:cNvPr id="29" name="Image 4" descr="/tmp/claude-0/-home-user/11b98046-3116-585b-b221-e5c2e170e62a/scratchpad/deck/assets/i-shield.png">    </p:cNvPr>
          <p:cNvPicPr>
            <a:picLocks noChangeAspect="1"/>
          </p:cNvPicPr>
          <p:nvPr/>
        </p:nvPicPr>
        <p:blipFill>
          <a:blip r:embed="rId5"/>
          <a:stretch>
            <a:fillRect/>
          </a:stretch>
        </p:blipFill>
        <p:spPr>
          <a:xfrm>
            <a:off x="4297680" y="1883664"/>
            <a:ext cx="384048" cy="384048"/>
          </a:xfrm>
          <a:prstGeom prst="rect">
            <a:avLst/>
          </a:prstGeom>
        </p:spPr>
      </p:pic>
      <p:sp>
        <p:nvSpPr>
          <p:cNvPr id="30" name="num-5"/>
          <p:cNvSpPr/>
          <p:nvPr/>
        </p:nvSpPr>
        <p:spPr>
          <a:xfrm>
            <a:off x="4764024" y="1572768"/>
            <a:ext cx="347472" cy="347472"/>
          </a:xfrm>
          <a:prstGeom prst="ellipse">
            <a:avLst/>
          </a:prstGeom>
          <a:solidFill>
            <a:schemeClr val="accent2"/>
          </a:solidFill>
          <a:ln w="12700">
            <a:solidFill>
              <a:schemeClr val="accent2"/>
            </a:solidFill>
            <a:prstDash val="solid"/>
          </a:ln>
        </p:spPr>
      </p:sp>
      <p:sp>
        <p:nvSpPr>
          <p:cNvPr id="31" name="Text 24"/>
          <p:cNvSpPr txBox="1"/>
          <p:nvPr/>
        </p:nvSpPr>
        <p:spPr>
          <a:xfrm>
            <a:off x="4764024"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32" name="Text 25"/>
          <p:cNvSpPr txBox="1"/>
          <p:nvPr/>
        </p:nvSpPr>
        <p:spPr>
          <a:xfrm>
            <a:off x="3758184"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الادعاءات والأدلة</a:t>
            </a:r>
            <a:endParaRPr lang="ar-AE" sz="1500" dirty="0"/>
          </a:p>
        </p:txBody>
      </p:sp>
      <p:sp>
        <p:nvSpPr>
          <p:cNvPr id="33" name="Text 26"/>
          <p:cNvSpPr txBox="1"/>
          <p:nvPr/>
        </p:nvSpPr>
        <p:spPr>
          <a:xfrm>
            <a:off x="3758184"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التثليث والتعارضات</a:t>
            </a:r>
            <a:endParaRPr lang="ar-AE" sz="1300" dirty="0"/>
          </a:p>
        </p:txBody>
      </p:sp>
      <p:sp>
        <p:nvSpPr>
          <p:cNvPr id="34" name="icon-people"/>
          <p:cNvSpPr/>
          <p:nvPr/>
        </p:nvSpPr>
        <p:spPr>
          <a:xfrm>
            <a:off x="2500884" y="1691640"/>
            <a:ext cx="768096" cy="768096"/>
          </a:xfrm>
          <a:prstGeom prst="ellipse">
            <a:avLst/>
          </a:prstGeom>
          <a:solidFill>
            <a:schemeClr val="accent1"/>
          </a:solidFill>
          <a:ln w="12700">
            <a:solidFill>
              <a:schemeClr val="accent1"/>
            </a:solidFill>
            <a:prstDash val="solid"/>
          </a:ln>
        </p:spPr>
      </p:sp>
      <p:pic>
        <p:nvPicPr>
          <p:cNvPr id="35" name="Image 5" descr="/tmp/claude-0/-home-user/11b98046-3116-585b-b221-e5c2e170e62a/scratchpad/deck/assets/i-people.png">    </p:cNvPr>
          <p:cNvPicPr>
            <a:picLocks noChangeAspect="1"/>
          </p:cNvPicPr>
          <p:nvPr/>
        </p:nvPicPr>
        <p:blipFill>
          <a:blip r:embed="rId6"/>
          <a:stretch>
            <a:fillRect/>
          </a:stretch>
        </p:blipFill>
        <p:spPr>
          <a:xfrm>
            <a:off x="2692908" y="1883664"/>
            <a:ext cx="384048" cy="384048"/>
          </a:xfrm>
          <a:prstGeom prst="rect">
            <a:avLst/>
          </a:prstGeom>
        </p:spPr>
      </p:pic>
      <p:sp>
        <p:nvSpPr>
          <p:cNvPr id="36" name="num-6"/>
          <p:cNvSpPr/>
          <p:nvPr/>
        </p:nvSpPr>
        <p:spPr>
          <a:xfrm>
            <a:off x="3159252" y="1572768"/>
            <a:ext cx="347472" cy="347472"/>
          </a:xfrm>
          <a:prstGeom prst="ellipse">
            <a:avLst/>
          </a:prstGeom>
          <a:solidFill>
            <a:schemeClr val="accent2"/>
          </a:solidFill>
          <a:ln w="12700">
            <a:solidFill>
              <a:schemeClr val="accent2"/>
            </a:solidFill>
            <a:prstDash val="solid"/>
          </a:ln>
        </p:spPr>
      </p:sp>
      <p:sp>
        <p:nvSpPr>
          <p:cNvPr id="37" name="Text 29"/>
          <p:cNvSpPr txBox="1"/>
          <p:nvPr/>
        </p:nvSpPr>
        <p:spPr>
          <a:xfrm>
            <a:off x="3159252"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8" name="Text 30"/>
          <p:cNvSpPr txBox="1"/>
          <p:nvPr/>
        </p:nvSpPr>
        <p:spPr>
          <a:xfrm>
            <a:off x="2153412"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الكتابة والتحكيم</a:t>
            </a:r>
            <a:endParaRPr lang="ar-AE" sz="1500" dirty="0"/>
          </a:p>
        </p:txBody>
      </p:sp>
      <p:sp>
        <p:nvSpPr>
          <p:cNvPr id="39" name="Text 31"/>
          <p:cNvSpPr txBox="1"/>
          <p:nvPr/>
        </p:nvSpPr>
        <p:spPr>
          <a:xfrm>
            <a:off x="2153412"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بالوكلاء والمحكّمين</a:t>
            </a:r>
            <a:endParaRPr lang="ar-AE" sz="1300" dirty="0"/>
          </a:p>
        </p:txBody>
      </p:sp>
      <p:sp>
        <p:nvSpPr>
          <p:cNvPr id="40" name="icon-check"/>
          <p:cNvSpPr/>
          <p:nvPr/>
        </p:nvSpPr>
        <p:spPr>
          <a:xfrm>
            <a:off x="896112" y="1691640"/>
            <a:ext cx="768096" cy="768096"/>
          </a:xfrm>
          <a:prstGeom prst="ellipse">
            <a:avLst/>
          </a:prstGeom>
          <a:solidFill>
            <a:schemeClr val="accent5"/>
          </a:solidFill>
          <a:ln w="12700">
            <a:solidFill>
              <a:schemeClr val="accent5"/>
            </a:solidFill>
            <a:prstDash val="solid"/>
          </a:ln>
        </p:spPr>
      </p:sp>
      <p:pic>
        <p:nvPicPr>
          <p:cNvPr id="41" name="Image 6" descr="/tmp/claude-0/-home-user/11b98046-3116-585b-b221-e5c2e170e62a/scratchpad/deck/assets/i-check.png">    </p:cNvPr>
          <p:cNvPicPr>
            <a:picLocks noChangeAspect="1"/>
          </p:cNvPicPr>
          <p:nvPr/>
        </p:nvPicPr>
        <p:blipFill>
          <a:blip r:embed="rId7"/>
          <a:stretch>
            <a:fillRect/>
          </a:stretch>
        </p:blipFill>
        <p:spPr>
          <a:xfrm>
            <a:off x="1088136" y="1883664"/>
            <a:ext cx="384048" cy="384048"/>
          </a:xfrm>
          <a:prstGeom prst="rect">
            <a:avLst/>
          </a:prstGeom>
        </p:spPr>
      </p:pic>
      <p:sp>
        <p:nvSpPr>
          <p:cNvPr id="42" name="num-7"/>
          <p:cNvSpPr/>
          <p:nvPr/>
        </p:nvSpPr>
        <p:spPr>
          <a:xfrm>
            <a:off x="1554480" y="1572768"/>
            <a:ext cx="347472" cy="347472"/>
          </a:xfrm>
          <a:prstGeom prst="ellipse">
            <a:avLst/>
          </a:prstGeom>
          <a:solidFill>
            <a:schemeClr val="accent2"/>
          </a:solidFill>
          <a:ln w="12700">
            <a:solidFill>
              <a:schemeClr val="accent2"/>
            </a:solidFill>
            <a:prstDash val="solid"/>
          </a:ln>
        </p:spPr>
      </p:sp>
      <p:sp>
        <p:nvSpPr>
          <p:cNvPr id="43" name="Text 34"/>
          <p:cNvSpPr txBox="1"/>
          <p:nvPr/>
        </p:nvSpPr>
        <p:spPr>
          <a:xfrm>
            <a:off x="1554480" y="157276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a:t>
            </a:r>
            <a:endParaRPr lang="en-US" sz="1500" dirty="0"/>
          </a:p>
        </p:txBody>
      </p:sp>
      <p:sp>
        <p:nvSpPr>
          <p:cNvPr id="44" name="Text 35"/>
          <p:cNvSpPr txBox="1"/>
          <p:nvPr/>
        </p:nvSpPr>
        <p:spPr>
          <a:xfrm>
            <a:off x="548640" y="2606040"/>
            <a:ext cx="1463040" cy="457200"/>
          </a:xfrm>
          <a:prstGeom prst="rect">
            <a:avLst/>
          </a:prstGeom>
          <a:noFill/>
          <a:ln/>
        </p:spPr>
        <p:txBody>
          <a:bodyPr wrap="square" lIns="0" tIns="0" rIns="0" bIns="0" rtlCol="0" anchor="ctr"/>
          <a:lstStyle/>
          <a:p>
            <a:pPr rtl="1" algn="ctr" indent="0" marL="0">
              <a:buNone/>
            </a:pPr>
            <a:r>
              <a:rPr lang="ar-AE" altLang="en-US" sz="1500" b="1" dirty="0">
                <a:solidFill>
                  <a:schemeClr val="accent1"/>
                </a:solidFill>
              </a:rPr>
              <a:t>الاعتماد والنشر</a:t>
            </a:r>
            <a:endParaRPr lang="ar-AE" sz="1500" dirty="0"/>
          </a:p>
        </p:txBody>
      </p:sp>
      <p:sp>
        <p:nvSpPr>
          <p:cNvPr id="45" name="Text 36"/>
          <p:cNvSpPr txBox="1"/>
          <p:nvPr/>
        </p:nvSpPr>
        <p:spPr>
          <a:xfrm>
            <a:off x="548640" y="3063240"/>
            <a:ext cx="1463040" cy="731520"/>
          </a:xfrm>
          <a:prstGeom prst="rect">
            <a:avLst/>
          </a:prstGeom>
          <a:noFill/>
          <a:ln/>
        </p:spPr>
        <p:txBody>
          <a:bodyPr wrap="square" lIns="0" tIns="0" rIns="0" bIns="0" rtlCol="0" anchor="ctr"/>
          <a:lstStyle/>
          <a:p>
            <a:pPr rtl="1" algn="ctr" indent="0" marL="0">
              <a:buNone/>
            </a:pPr>
            <a:r>
              <a:rPr lang="ar-AE" altLang="en-US" sz="1300" dirty="0">
                <a:solidFill>
                  <a:schemeClr val="tx2"/>
                </a:solidFill>
              </a:rPr>
              <a:t>قرار المراجع البشري</a:t>
            </a:r>
            <a:endParaRPr lang="ar-AE" sz="1300" dirty="0"/>
          </a:p>
        </p:txBody>
      </p:sp>
      <p:sp>
        <p:nvSpPr>
          <p:cNvPr id="46" name="journey-note"/>
          <p:cNvSpPr/>
          <p:nvPr/>
        </p:nvSpPr>
        <p:spPr>
          <a:xfrm>
            <a:off x="548640" y="4160520"/>
            <a:ext cx="11091672" cy="1691640"/>
          </a:xfrm>
          <a:prstGeom prst="roundRect">
            <a:avLst>
              <a:gd name="adj" fmla="val 5405"/>
            </a:avLst>
          </a:prstGeom>
          <a:solidFill>
            <a:srgbClr val="EEF3F8"/>
          </a:solidFill>
          <a:ln w="12700">
            <a:solidFill>
              <a:srgbClr val="D9E1EA"/>
            </a:solidFill>
            <a:prstDash val="solid"/>
          </a:ln>
        </p:spPr>
      </p:sp>
      <p:sp>
        <p:nvSpPr>
          <p:cNvPr id="47" name="icon-gate"/>
          <p:cNvSpPr/>
          <p:nvPr/>
        </p:nvSpPr>
        <p:spPr>
          <a:xfrm>
            <a:off x="10835640" y="4434840"/>
            <a:ext cx="594360" cy="594360"/>
          </a:xfrm>
          <a:prstGeom prst="ellipse">
            <a:avLst/>
          </a:prstGeom>
          <a:solidFill>
            <a:schemeClr val="accent2"/>
          </a:solidFill>
          <a:ln w="12700">
            <a:solidFill>
              <a:schemeClr val="accent2"/>
            </a:solidFill>
            <a:prstDash val="solid"/>
          </a:ln>
        </p:spPr>
      </p:sp>
      <p:pic>
        <p:nvPicPr>
          <p:cNvPr id="48" name="Image 7" descr="/tmp/claude-0/-home-user/11b98046-3116-585b-b221-e5c2e170e62a/scratchpad/deck/assets/i-gate.png">    </p:cNvPr>
          <p:cNvPicPr>
            <a:picLocks noChangeAspect="1"/>
          </p:cNvPicPr>
          <p:nvPr/>
        </p:nvPicPr>
        <p:blipFill>
          <a:blip r:embed="rId8"/>
          <a:stretch>
            <a:fillRect/>
          </a:stretch>
        </p:blipFill>
        <p:spPr>
          <a:xfrm>
            <a:off x="10984230" y="4583430"/>
            <a:ext cx="297180" cy="297180"/>
          </a:xfrm>
          <a:prstGeom prst="rect">
            <a:avLst/>
          </a:prstGeom>
        </p:spPr>
      </p:pic>
      <p:sp>
        <p:nvSpPr>
          <p:cNvPr id="49" name="Text 39"/>
          <p:cNvSpPr txBox="1"/>
          <p:nvPr/>
        </p:nvSpPr>
        <p:spPr>
          <a:xfrm>
            <a:off x="868680" y="4343400"/>
            <a:ext cx="9784080" cy="411480"/>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عند كل انتقال بوابة</a:t>
            </a:r>
            <a:endParaRPr lang="ar-AE" sz="1700" dirty="0"/>
          </a:p>
        </p:txBody>
      </p:sp>
      <p:sp>
        <p:nvSpPr>
          <p:cNvPr id="50" name="Text 40"/>
          <p:cNvSpPr txBox="1"/>
          <p:nvPr/>
        </p:nvSpPr>
        <p:spPr>
          <a:xfrm>
            <a:off x="868680" y="4754880"/>
            <a:ext cx="9784080" cy="1005840"/>
          </a:xfrm>
          <a:prstGeom prst="rect">
            <a:avLst/>
          </a:prstGeom>
          <a:noFill/>
          <a:ln/>
        </p:spPr>
        <p:txBody>
          <a:bodyPr wrap="square" lIns="0" tIns="0" rIns="0" bIns="0" rtlCol="0" anchor="ctr"/>
          <a:lstStyle/>
          <a:p>
            <a:pPr rtl="1" algn="r" indent="0" marL="0">
              <a:buNone/>
            </a:pPr>
            <a:r>
              <a:rPr lang="ar-AE" altLang="en-US" sz="1400" dirty="0">
                <a:solidFill>
                  <a:schemeClr val="tx1"/>
                </a:solidFill>
              </a:rPr>
              <a:t>لا ينتقل المشروع إلى المرحلة التالية قبل أن تجتاز فحوصها، وهي تُحسب من البيانات نفسها: سؤال مصوغ، ومصادر متحقق منها، وموافقات قائمة، وتفريغ روجع لهجياً، وادعاءات مرتبطة بأدلة مستقلة، وتحكيم واعتماد بشري.</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النموذج التطبيقي: «التلي»</a:t>
            </a:r>
            <a:endParaRPr lang="ar-AE" sz="3200" dirty="0"/>
          </a:p>
        </p:txBody>
      </p:sp>
      <p:pic>
        <p:nvPicPr>
          <p:cNvPr id="3" name="pilot-art" descr="/tmp/claude-0/-home-user/11b98046-3116-585b-b221-e5c2e170e62a/scratchpad/deck/assets/photos/crafts.jpg">    </p:cNvPr>
          <p:cNvPicPr>
            <a:picLocks noChangeAspect="1"/>
          </p:cNvPicPr>
          <p:nvPr/>
        </p:nvPicPr>
        <p:blipFill>
          <a:blip r:embed="rId1"/>
          <a:srcRect l="0" r="0" t="0" b="0"/>
          <a:stretch/>
        </p:blipFill>
        <p:spPr>
          <a:xfrm>
            <a:off x="548640" y="1371600"/>
            <a:ext cx="4389120" cy="2743200"/>
          </a:xfrm>
          <a:prstGeom prst="rect">
            <a:avLst/>
          </a:prstGeom>
        </p:spPr>
      </p:pic>
      <p:sp>
        <p:nvSpPr>
          <p:cNvPr id="4" name="Text 1"/>
          <p:cNvSpPr txBox="1"/>
          <p:nvPr/>
        </p:nvSpPr>
        <p:spPr>
          <a:xfrm>
            <a:off x="548640" y="4297680"/>
            <a:ext cx="4389120" cy="1097280"/>
          </a:xfrm>
          <a:prstGeom prst="rect">
            <a:avLst/>
          </a:prstGeom>
          <a:noFill/>
          <a:ln/>
        </p:spPr>
        <p:txBody>
          <a:bodyPr wrap="square" lIns="0" tIns="0" rIns="0" bIns="0" rtlCol="0" anchor="ctr"/>
          <a:lstStyle/>
          <a:p>
            <a:pPr rtl="1" algn="r" indent="0" marL="0">
              <a:buNone/>
            </a:pPr>
            <a:r>
              <a:rPr lang="ar-AE" altLang="en-US" sz="1400" dirty="0">
                <a:solidFill>
                  <a:schemeClr val="tx2"/>
                </a:solidFill>
              </a:rPr>
              <a:t>دراسة وثائقية مبنية على مصادر فُتحت وتُحقّق منها، وكل ادعاء فيها مربوط بدليله. والجمع الميداني مصمَّم ولم يُنفَّذ.</a:t>
            </a:r>
            <a:endParaRPr lang="ar-AE" sz="1400" dirty="0"/>
          </a:p>
        </p:txBody>
      </p:sp>
      <p:sp>
        <p:nvSpPr>
          <p:cNvPr id="5" name="stat-0"/>
          <p:cNvSpPr/>
          <p:nvPr/>
        </p:nvSpPr>
        <p:spPr>
          <a:xfrm>
            <a:off x="8595360" y="1371600"/>
            <a:ext cx="3063240" cy="1234440"/>
          </a:xfrm>
          <a:prstGeom prst="roundRect">
            <a:avLst>
              <a:gd name="adj" fmla="val 7407"/>
            </a:avLst>
          </a:prstGeom>
          <a:solidFill>
            <a:srgbClr val="EEF3F8"/>
          </a:solidFill>
          <a:ln w="12700">
            <a:solidFill>
              <a:srgbClr val="D9E1EA"/>
            </a:solidFill>
            <a:prstDash val="solid"/>
          </a:ln>
        </p:spPr>
      </p:sp>
      <p:sp>
        <p:nvSpPr>
          <p:cNvPr id="6" name="Text 3"/>
          <p:cNvSpPr txBox="1"/>
          <p:nvPr/>
        </p:nvSpPr>
        <p:spPr>
          <a:xfrm>
            <a:off x="8595360" y="1463040"/>
            <a:ext cx="3063240" cy="685800"/>
          </a:xfrm>
          <a:prstGeom prst="rect">
            <a:avLst/>
          </a:prstGeom>
          <a:noFill/>
          <a:ln/>
        </p:spPr>
        <p:txBody>
          <a:bodyPr wrap="square" lIns="0" tIns="0" rIns="0" bIns="0" rtlCol="0" anchor="ctr"/>
          <a:lstStyle/>
          <a:p>
            <a:pPr rtl="1" algn="ctr" indent="0" marL="0">
              <a:buNone/>
            </a:pPr>
            <a:r>
              <a:rPr lang="ar-AE" altLang="en-US" sz="4000" b="1" dirty="0">
                <a:solidFill>
                  <a:schemeClr val="accent2"/>
                </a:solidFill>
                <a:latin typeface="Calibri" pitchFamily="34" charset="0"/>
                <a:ea typeface="Calibri" pitchFamily="34" charset="-122"/>
                <a:cs typeface="Calibri" pitchFamily="34" charset="-120"/>
              </a:rPr>
              <a:t>12</a:t>
            </a:r>
            <a:endParaRPr lang="ar-AE" sz="4000" dirty="0"/>
          </a:p>
        </p:txBody>
      </p:sp>
      <p:sp>
        <p:nvSpPr>
          <p:cNvPr id="7" name="Text 4"/>
          <p:cNvSpPr txBox="1"/>
          <p:nvPr/>
        </p:nvSpPr>
        <p:spPr>
          <a:xfrm>
            <a:off x="8595360" y="2148840"/>
            <a:ext cx="3063240" cy="365760"/>
          </a:xfrm>
          <a:prstGeom prst="rect">
            <a:avLst/>
          </a:prstGeom>
          <a:noFill/>
          <a:ln/>
        </p:spPr>
        <p:txBody>
          <a:bodyPr wrap="square" lIns="0" tIns="0" rIns="0" bIns="0" rtlCol="0" anchor="ctr"/>
          <a:lstStyle/>
          <a:p>
            <a:pPr rtl="1" algn="ctr" indent="0" marL="0">
              <a:buNone/>
            </a:pPr>
            <a:r>
              <a:rPr lang="ar-AE" altLang="en-US" sz="1400" dirty="0">
                <a:solidFill>
                  <a:schemeClr val="tx1"/>
                </a:solidFill>
              </a:rPr>
              <a:t>مصدراً متحققاً منه</a:t>
            </a:r>
            <a:endParaRPr lang="ar-AE" sz="1400" dirty="0"/>
          </a:p>
        </p:txBody>
      </p:sp>
      <p:sp>
        <p:nvSpPr>
          <p:cNvPr id="8" name="stat-1"/>
          <p:cNvSpPr/>
          <p:nvPr/>
        </p:nvSpPr>
        <p:spPr>
          <a:xfrm>
            <a:off x="5257800" y="1371600"/>
            <a:ext cx="3063240" cy="1234440"/>
          </a:xfrm>
          <a:prstGeom prst="roundRect">
            <a:avLst>
              <a:gd name="adj" fmla="val 7407"/>
            </a:avLst>
          </a:prstGeom>
          <a:solidFill>
            <a:srgbClr val="EEF3F8"/>
          </a:solidFill>
          <a:ln w="12700">
            <a:solidFill>
              <a:srgbClr val="D9E1EA"/>
            </a:solidFill>
            <a:prstDash val="solid"/>
          </a:ln>
        </p:spPr>
      </p:sp>
      <p:sp>
        <p:nvSpPr>
          <p:cNvPr id="9" name="Text 6"/>
          <p:cNvSpPr txBox="1"/>
          <p:nvPr/>
        </p:nvSpPr>
        <p:spPr>
          <a:xfrm>
            <a:off x="5257800" y="1463040"/>
            <a:ext cx="3063240" cy="685800"/>
          </a:xfrm>
          <a:prstGeom prst="rect">
            <a:avLst/>
          </a:prstGeom>
          <a:noFill/>
          <a:ln/>
        </p:spPr>
        <p:txBody>
          <a:bodyPr wrap="square" lIns="0" tIns="0" rIns="0" bIns="0" rtlCol="0" anchor="ctr"/>
          <a:lstStyle/>
          <a:p>
            <a:pPr rtl="1" algn="ctr" indent="0" marL="0">
              <a:buNone/>
            </a:pPr>
            <a:r>
              <a:rPr lang="ar-AE" altLang="en-US" sz="4000" b="1" dirty="0">
                <a:solidFill>
                  <a:schemeClr val="accent2"/>
                </a:solidFill>
                <a:latin typeface="Calibri" pitchFamily="34" charset="0"/>
                <a:ea typeface="Calibri" pitchFamily="34" charset="-122"/>
                <a:cs typeface="Calibri" pitchFamily="34" charset="-120"/>
              </a:rPr>
              <a:t>20</a:t>
            </a:r>
            <a:endParaRPr lang="ar-AE" sz="4000" dirty="0"/>
          </a:p>
        </p:txBody>
      </p:sp>
      <p:sp>
        <p:nvSpPr>
          <p:cNvPr id="10" name="Text 7"/>
          <p:cNvSpPr txBox="1"/>
          <p:nvPr/>
        </p:nvSpPr>
        <p:spPr>
          <a:xfrm>
            <a:off x="5257800" y="2148840"/>
            <a:ext cx="3063240" cy="365760"/>
          </a:xfrm>
          <a:prstGeom prst="rect">
            <a:avLst/>
          </a:prstGeom>
          <a:noFill/>
          <a:ln/>
        </p:spPr>
        <p:txBody>
          <a:bodyPr wrap="square" lIns="0" tIns="0" rIns="0" bIns="0" rtlCol="0" anchor="ctr"/>
          <a:lstStyle/>
          <a:p>
            <a:pPr rtl="1" algn="ctr" indent="0" marL="0">
              <a:buNone/>
            </a:pPr>
            <a:r>
              <a:rPr lang="ar-AE" altLang="en-US" sz="1400" dirty="0">
                <a:solidFill>
                  <a:schemeClr val="tx1"/>
                </a:solidFill>
              </a:rPr>
              <a:t>ادعاءً مربوطاً بدليل</a:t>
            </a:r>
            <a:endParaRPr lang="ar-AE" sz="1400" dirty="0"/>
          </a:p>
        </p:txBody>
      </p:sp>
      <p:sp>
        <p:nvSpPr>
          <p:cNvPr id="11" name="stat-2"/>
          <p:cNvSpPr/>
          <p:nvPr/>
        </p:nvSpPr>
        <p:spPr>
          <a:xfrm>
            <a:off x="8595360" y="2788920"/>
            <a:ext cx="3063240" cy="1234440"/>
          </a:xfrm>
          <a:prstGeom prst="roundRect">
            <a:avLst>
              <a:gd name="adj" fmla="val 7407"/>
            </a:avLst>
          </a:prstGeom>
          <a:solidFill>
            <a:srgbClr val="EEF3F8"/>
          </a:solidFill>
          <a:ln w="12700">
            <a:solidFill>
              <a:srgbClr val="D9E1EA"/>
            </a:solidFill>
            <a:prstDash val="solid"/>
          </a:ln>
        </p:spPr>
      </p:sp>
      <p:sp>
        <p:nvSpPr>
          <p:cNvPr id="12" name="Text 9"/>
          <p:cNvSpPr txBox="1"/>
          <p:nvPr/>
        </p:nvSpPr>
        <p:spPr>
          <a:xfrm>
            <a:off x="8595360" y="2880360"/>
            <a:ext cx="3063240" cy="685800"/>
          </a:xfrm>
          <a:prstGeom prst="rect">
            <a:avLst/>
          </a:prstGeom>
          <a:noFill/>
          <a:ln/>
        </p:spPr>
        <p:txBody>
          <a:bodyPr wrap="square" lIns="0" tIns="0" rIns="0" bIns="0" rtlCol="0" anchor="ctr"/>
          <a:lstStyle/>
          <a:p>
            <a:pPr rtl="1" algn="ctr" indent="0" marL="0">
              <a:buNone/>
            </a:pPr>
            <a:r>
              <a:rPr lang="ar-AE" altLang="en-US" sz="4000" b="1" dirty="0">
                <a:solidFill>
                  <a:schemeClr val="accent2"/>
                </a:solidFill>
                <a:latin typeface="Calibri" pitchFamily="34" charset="0"/>
                <a:ea typeface="Calibri" pitchFamily="34" charset="-122"/>
                <a:cs typeface="Calibri" pitchFamily="34" charset="-120"/>
              </a:rPr>
              <a:t>7</a:t>
            </a:r>
            <a:endParaRPr lang="ar-AE" sz="4000" dirty="0"/>
          </a:p>
        </p:txBody>
      </p:sp>
      <p:sp>
        <p:nvSpPr>
          <p:cNvPr id="13" name="Text 10"/>
          <p:cNvSpPr txBox="1"/>
          <p:nvPr/>
        </p:nvSpPr>
        <p:spPr>
          <a:xfrm>
            <a:off x="8595360" y="3566160"/>
            <a:ext cx="3063240" cy="365760"/>
          </a:xfrm>
          <a:prstGeom prst="rect">
            <a:avLst/>
          </a:prstGeom>
          <a:noFill/>
          <a:ln/>
        </p:spPr>
        <p:txBody>
          <a:bodyPr wrap="square" lIns="0" tIns="0" rIns="0" bIns="0" rtlCol="0" anchor="ctr"/>
          <a:lstStyle/>
          <a:p>
            <a:pPr rtl="1" algn="ctr" indent="0" marL="0">
              <a:buNone/>
            </a:pPr>
            <a:r>
              <a:rPr lang="ar-AE" altLang="en-US" sz="1400" dirty="0">
                <a:solidFill>
                  <a:schemeClr val="tx1"/>
                </a:solidFill>
              </a:rPr>
              <a:t>تعارضات محفوظة</a:t>
            </a:r>
            <a:endParaRPr lang="ar-AE" sz="1400" dirty="0"/>
          </a:p>
        </p:txBody>
      </p:sp>
      <p:sp>
        <p:nvSpPr>
          <p:cNvPr id="14" name="stat-3"/>
          <p:cNvSpPr/>
          <p:nvPr/>
        </p:nvSpPr>
        <p:spPr>
          <a:xfrm>
            <a:off x="5257800" y="2788920"/>
            <a:ext cx="3063240" cy="1234440"/>
          </a:xfrm>
          <a:prstGeom prst="roundRect">
            <a:avLst>
              <a:gd name="adj" fmla="val 7407"/>
            </a:avLst>
          </a:prstGeom>
          <a:solidFill>
            <a:srgbClr val="EEF3F8"/>
          </a:solidFill>
          <a:ln w="12700">
            <a:solidFill>
              <a:srgbClr val="D9E1EA"/>
            </a:solidFill>
            <a:prstDash val="solid"/>
          </a:ln>
        </p:spPr>
      </p:sp>
      <p:sp>
        <p:nvSpPr>
          <p:cNvPr id="15" name="Text 12"/>
          <p:cNvSpPr txBox="1"/>
          <p:nvPr/>
        </p:nvSpPr>
        <p:spPr>
          <a:xfrm>
            <a:off x="5257800" y="2880360"/>
            <a:ext cx="3063240" cy="685800"/>
          </a:xfrm>
          <a:prstGeom prst="rect">
            <a:avLst/>
          </a:prstGeom>
          <a:noFill/>
          <a:ln/>
        </p:spPr>
        <p:txBody>
          <a:bodyPr wrap="square" lIns="0" tIns="0" rIns="0" bIns="0" rtlCol="0" anchor="ctr"/>
          <a:lstStyle/>
          <a:p>
            <a:pPr rtl="1" algn="ctr" indent="0" marL="0">
              <a:buNone/>
            </a:pPr>
            <a:r>
              <a:rPr lang="ar-AE" altLang="en-US" sz="4000" b="1" dirty="0">
                <a:solidFill>
                  <a:schemeClr val="accent2"/>
                </a:solidFill>
                <a:latin typeface="Calibri" pitchFamily="34" charset="0"/>
                <a:ea typeface="Calibri" pitchFamily="34" charset="-122"/>
                <a:cs typeface="Calibri" pitchFamily="34" charset="-120"/>
              </a:rPr>
              <a:t>26</a:t>
            </a:r>
            <a:endParaRPr lang="ar-AE" sz="4000" dirty="0"/>
          </a:p>
        </p:txBody>
      </p:sp>
      <p:sp>
        <p:nvSpPr>
          <p:cNvPr id="16" name="Text 13"/>
          <p:cNvSpPr txBox="1"/>
          <p:nvPr/>
        </p:nvSpPr>
        <p:spPr>
          <a:xfrm>
            <a:off x="5257800" y="3566160"/>
            <a:ext cx="3063240" cy="365760"/>
          </a:xfrm>
          <a:prstGeom prst="rect">
            <a:avLst/>
          </a:prstGeom>
          <a:noFill/>
          <a:ln/>
        </p:spPr>
        <p:txBody>
          <a:bodyPr wrap="square" lIns="0" tIns="0" rIns="0" bIns="0" rtlCol="0" anchor="ctr"/>
          <a:lstStyle/>
          <a:p>
            <a:pPr rtl="1" algn="ctr" indent="0" marL="0">
              <a:buNone/>
            </a:pPr>
            <a:r>
              <a:rPr lang="ar-AE" altLang="en-US" sz="1400" dirty="0">
                <a:solidFill>
                  <a:schemeClr val="tx1"/>
                </a:solidFill>
              </a:rPr>
              <a:t>مفردة للتحقق الميداني</a:t>
            </a:r>
            <a:endParaRPr lang="ar-AE" sz="1400" dirty="0"/>
          </a:p>
        </p:txBody>
      </p:sp>
      <p:sp>
        <p:nvSpPr>
          <p:cNvPr id="17" name="pilot-correction"/>
          <p:cNvSpPr/>
          <p:nvPr/>
        </p:nvSpPr>
        <p:spPr>
          <a:xfrm>
            <a:off x="5257800" y="4343400"/>
            <a:ext cx="6382512" cy="1508760"/>
          </a:xfrm>
          <a:prstGeom prst="roundRect">
            <a:avLst>
              <a:gd name="adj" fmla="val 6061"/>
            </a:avLst>
          </a:prstGeom>
          <a:solidFill>
            <a:srgbClr val="12263F"/>
          </a:solidFill>
          <a:ln w="12700">
            <a:solidFill>
              <a:srgbClr val="12263F"/>
            </a:solidFill>
            <a:prstDash val="solid"/>
          </a:ln>
        </p:spPr>
      </p:sp>
      <p:sp>
        <p:nvSpPr>
          <p:cNvPr id="18" name="Text 15"/>
          <p:cNvSpPr txBox="1"/>
          <p:nvPr/>
        </p:nvSpPr>
        <p:spPr>
          <a:xfrm>
            <a:off x="5532120" y="4462272"/>
            <a:ext cx="5852160" cy="384048"/>
          </a:xfrm>
          <a:prstGeom prst="rect">
            <a:avLst/>
          </a:prstGeom>
          <a:noFill/>
          <a:ln/>
        </p:spPr>
        <p:txBody>
          <a:bodyPr wrap="square" lIns="0" tIns="0" rIns="0" bIns="0" rtlCol="0" anchor="ctr"/>
          <a:lstStyle/>
          <a:p>
            <a:pPr rtl="1" algn="r" indent="0" marL="0">
              <a:buNone/>
            </a:pPr>
            <a:r>
              <a:rPr lang="ar-AE" altLang="en-US" sz="1600" b="1" dirty="0">
                <a:solidFill>
                  <a:srgbClr val="F0D58A"/>
                </a:solidFill>
              </a:rPr>
              <a:t>تصويب أثبته التحقق</a:t>
            </a:r>
            <a:endParaRPr lang="ar-AE" sz="1600" dirty="0"/>
          </a:p>
        </p:txBody>
      </p:sp>
      <p:sp>
        <p:nvSpPr>
          <p:cNvPr id="19" name="Text 16"/>
          <p:cNvSpPr txBox="1"/>
          <p:nvPr/>
        </p:nvSpPr>
        <p:spPr>
          <a:xfrm>
            <a:off x="5532120" y="4846320"/>
            <a:ext cx="5852160" cy="914400"/>
          </a:xfrm>
          <a:prstGeom prst="rect">
            <a:avLst/>
          </a:prstGeom>
          <a:noFill/>
          <a:ln/>
        </p:spPr>
        <p:txBody>
          <a:bodyPr wrap="square" lIns="0" tIns="0" rIns="0" bIns="0" rtlCol="0" anchor="ctr"/>
          <a:lstStyle/>
          <a:p>
            <a:pPr rtl="1" algn="r" indent="0" marL="0">
              <a:buNone/>
            </a:pPr>
            <a:r>
              <a:rPr lang="ar-AE" altLang="en-US" sz="1300" dirty="0">
                <a:solidFill>
                  <a:schemeClr val="bg1"/>
                </a:solidFill>
              </a:rPr>
              <a:t>افتُرض في التكليف أن العنصر على قائمة الصون العاجل؛ فأثبتت وثائق اليونسكو أنه مُدرج على القائمة التمثيلية سنة 2022، في الدورة السابعة عشرة للجنة الحكومية الدولية. وهذا مثال على ما يعنيه «صفر تلفيق».</a:t>
            </a:r>
            <a:endParaRPr lang="ar-AE" sz="13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قواعد لا تُكسر</a:t>
            </a:r>
            <a:endParaRPr lang="ar-AE" sz="3200" dirty="0"/>
          </a:p>
        </p:txBody>
      </p:sp>
      <p:sp>
        <p:nvSpPr>
          <p:cNvPr id="3" name="icon-alert"/>
          <p:cNvSpPr/>
          <p:nvPr/>
        </p:nvSpPr>
        <p:spPr>
          <a:xfrm>
            <a:off x="11018520" y="1371600"/>
            <a:ext cx="621792" cy="621792"/>
          </a:xfrm>
          <a:prstGeom prst="ellipse">
            <a:avLst/>
          </a:prstGeom>
          <a:solidFill>
            <a:schemeClr val="accent6"/>
          </a:solidFill>
          <a:ln w="12700">
            <a:solidFill>
              <a:schemeClr val="accent6"/>
            </a:solidFill>
            <a:prstDash val="solid"/>
          </a:ln>
        </p:spPr>
      </p:sp>
      <p:pic>
        <p:nvPicPr>
          <p:cNvPr id="4" name="Image 0" descr="/tmp/claude-0/-home-user/11b98046-3116-585b-b221-e5c2e170e62a/scratchpad/deck/assets/i-alert.png">    </p:cNvPr>
          <p:cNvPicPr>
            <a:picLocks noChangeAspect="1"/>
          </p:cNvPicPr>
          <p:nvPr/>
        </p:nvPicPr>
        <p:blipFill>
          <a:blip r:embed="rId1"/>
          <a:stretch>
            <a:fillRect/>
          </a:stretch>
        </p:blipFill>
        <p:spPr>
          <a:xfrm>
            <a:off x="11173968" y="1527048"/>
            <a:ext cx="310896" cy="310896"/>
          </a:xfrm>
          <a:prstGeom prst="rect">
            <a:avLst/>
          </a:prstGeom>
        </p:spPr>
      </p:pic>
      <p:sp>
        <p:nvSpPr>
          <p:cNvPr id="5" name="Text 2"/>
          <p:cNvSpPr txBox="1"/>
          <p:nvPr/>
        </p:nvSpPr>
        <p:spPr>
          <a:xfrm>
            <a:off x="548640" y="1353312"/>
            <a:ext cx="10287000" cy="384048"/>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صفر تلفيق</a:t>
            </a:r>
            <a:endParaRPr lang="ar-AE" sz="1700" dirty="0"/>
          </a:p>
        </p:txBody>
      </p:sp>
      <p:sp>
        <p:nvSpPr>
          <p:cNvPr id="6" name="Text 3"/>
          <p:cNvSpPr txBox="1"/>
          <p:nvPr/>
        </p:nvSpPr>
        <p:spPr>
          <a:xfrm>
            <a:off x="548640" y="1737360"/>
            <a:ext cx="10287000" cy="411480"/>
          </a:xfrm>
          <a:prstGeom prst="rect">
            <a:avLst/>
          </a:prstGeom>
          <a:noFill/>
          <a:ln/>
        </p:spPr>
        <p:txBody>
          <a:bodyPr wrap="square" lIns="0" tIns="0" rIns="0" bIns="0" rtlCol="0" anchor="ctr"/>
          <a:lstStyle/>
          <a:p>
            <a:pPr rtl="1" algn="r" indent="0" marL="0">
              <a:buNone/>
            </a:pPr>
            <a:r>
              <a:rPr lang="ar-AE" altLang="en-US" sz="1400" dirty="0">
                <a:solidFill>
                  <a:schemeClr val="tx1"/>
                </a:solidFill>
              </a:rPr>
              <a:t>لا مرجع ولا راوٍ ولا مقابلة ولا صفحة ولا DOI مختلقة؛ والمجهول يُكتب «يُستكمل».</a:t>
            </a:r>
            <a:endParaRPr lang="ar-AE" sz="1400" dirty="0"/>
          </a:p>
        </p:txBody>
      </p:sp>
      <p:sp>
        <p:nvSpPr>
          <p:cNvPr id="7" name="icon-database"/>
          <p:cNvSpPr/>
          <p:nvPr/>
        </p:nvSpPr>
        <p:spPr>
          <a:xfrm>
            <a:off x="11018520" y="2286000"/>
            <a:ext cx="621792" cy="621792"/>
          </a:xfrm>
          <a:prstGeom prst="ellipse">
            <a:avLst/>
          </a:prstGeom>
          <a:solidFill>
            <a:schemeClr val="accent1"/>
          </a:solidFill>
          <a:ln w="12700">
            <a:solidFill>
              <a:schemeClr val="accent1"/>
            </a:solidFill>
            <a:prstDash val="solid"/>
          </a:ln>
        </p:spPr>
      </p:sp>
      <p:pic>
        <p:nvPicPr>
          <p:cNvPr id="8" name="Image 1" descr="/tmp/claude-0/-home-user/11b98046-3116-585b-b221-e5c2e170e62a/scratchpad/deck/assets/i-database.png">    </p:cNvPr>
          <p:cNvPicPr>
            <a:picLocks noChangeAspect="1"/>
          </p:cNvPicPr>
          <p:nvPr/>
        </p:nvPicPr>
        <p:blipFill>
          <a:blip r:embed="rId2"/>
          <a:stretch>
            <a:fillRect/>
          </a:stretch>
        </p:blipFill>
        <p:spPr>
          <a:xfrm>
            <a:off x="11173968" y="2441448"/>
            <a:ext cx="310896" cy="310896"/>
          </a:xfrm>
          <a:prstGeom prst="rect">
            <a:avLst/>
          </a:prstGeom>
        </p:spPr>
      </p:pic>
      <p:sp>
        <p:nvSpPr>
          <p:cNvPr id="9" name="Text 5"/>
          <p:cNvSpPr txBox="1"/>
          <p:nvPr/>
        </p:nvSpPr>
        <p:spPr>
          <a:xfrm>
            <a:off x="548640" y="2267712"/>
            <a:ext cx="10287000" cy="384048"/>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الأرشيف هو المرجع</a:t>
            </a:r>
            <a:endParaRPr lang="ar-AE" sz="1700" dirty="0"/>
          </a:p>
        </p:txBody>
      </p:sp>
      <p:sp>
        <p:nvSpPr>
          <p:cNvPr id="10" name="Text 6"/>
          <p:cNvSpPr txBox="1"/>
          <p:nvPr/>
        </p:nvSpPr>
        <p:spPr>
          <a:xfrm>
            <a:off x="548640" y="2651760"/>
            <a:ext cx="10287000" cy="411480"/>
          </a:xfrm>
          <a:prstGeom prst="rect">
            <a:avLst/>
          </a:prstGeom>
          <a:noFill/>
          <a:ln/>
        </p:spPr>
        <p:txBody>
          <a:bodyPr wrap="square" lIns="0" tIns="0" rIns="0" bIns="0" rtlCol="0" anchor="ctr"/>
          <a:lstStyle/>
          <a:p>
            <a:pPr rtl="1" algn="r" indent="0" marL="0">
              <a:buNone/>
            </a:pPr>
            <a:r>
              <a:rPr lang="ar-AE" altLang="en-US" sz="1400" dirty="0">
                <a:solidFill>
                  <a:schemeClr val="tx1"/>
                </a:solidFill>
              </a:rPr>
              <a:t>كل إجابة تُتتبَّع إلى نص أو صورة أو تسجيل أصلي، لا إلى ذاكرة النموذج.</a:t>
            </a:r>
            <a:endParaRPr lang="ar-AE" sz="1400" dirty="0"/>
          </a:p>
        </p:txBody>
      </p:sp>
      <p:sp>
        <p:nvSpPr>
          <p:cNvPr id="11" name="icon-ear"/>
          <p:cNvSpPr/>
          <p:nvPr/>
        </p:nvSpPr>
        <p:spPr>
          <a:xfrm>
            <a:off x="11018520" y="3200400"/>
            <a:ext cx="621792" cy="621792"/>
          </a:xfrm>
          <a:prstGeom prst="ellipse">
            <a:avLst/>
          </a:prstGeom>
          <a:solidFill>
            <a:schemeClr val="accent3"/>
          </a:solidFill>
          <a:ln w="12700">
            <a:solidFill>
              <a:schemeClr val="accent3"/>
            </a:solidFill>
            <a:prstDash val="solid"/>
          </a:ln>
        </p:spPr>
      </p:sp>
      <p:pic>
        <p:nvPicPr>
          <p:cNvPr id="12" name="Image 2" descr="/tmp/claude-0/-home-user/11b98046-3116-585b-b221-e5c2e170e62a/scratchpad/deck/assets/i-ear.png">    </p:cNvPr>
          <p:cNvPicPr>
            <a:picLocks noChangeAspect="1"/>
          </p:cNvPicPr>
          <p:nvPr/>
        </p:nvPicPr>
        <p:blipFill>
          <a:blip r:embed="rId3"/>
          <a:stretch>
            <a:fillRect/>
          </a:stretch>
        </p:blipFill>
        <p:spPr>
          <a:xfrm>
            <a:off x="11173968" y="3355848"/>
            <a:ext cx="310896" cy="310896"/>
          </a:xfrm>
          <a:prstGeom prst="rect">
            <a:avLst/>
          </a:prstGeom>
        </p:spPr>
      </p:pic>
      <p:sp>
        <p:nvSpPr>
          <p:cNvPr id="13" name="Text 8"/>
          <p:cNvSpPr txBox="1"/>
          <p:nvPr/>
        </p:nvSpPr>
        <p:spPr>
          <a:xfrm>
            <a:off x="548640" y="3182112"/>
            <a:ext cx="10287000" cy="384048"/>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اللفظ المحلي كما نُطق</a:t>
            </a:r>
            <a:endParaRPr lang="ar-AE" sz="1700" dirty="0"/>
          </a:p>
        </p:txBody>
      </p:sp>
      <p:sp>
        <p:nvSpPr>
          <p:cNvPr id="14" name="Text 9"/>
          <p:cNvSpPr txBox="1"/>
          <p:nvPr/>
        </p:nvSpPr>
        <p:spPr>
          <a:xfrm>
            <a:off x="548640" y="3566160"/>
            <a:ext cx="10287000" cy="411480"/>
          </a:xfrm>
          <a:prstGeom prst="rect">
            <a:avLst/>
          </a:prstGeom>
          <a:noFill/>
          <a:ln/>
        </p:spPr>
        <p:txBody>
          <a:bodyPr wrap="square" lIns="0" tIns="0" rIns="0" bIns="0" rtlCol="0" anchor="ctr"/>
          <a:lstStyle/>
          <a:p>
            <a:pPr rtl="1" algn="r" indent="0" marL="0">
              <a:buNone/>
            </a:pPr>
            <a:r>
              <a:rPr lang="ar-AE" altLang="en-US" sz="1400" dirty="0">
                <a:solidFill>
                  <a:schemeClr val="tx1"/>
                </a:solidFill>
              </a:rPr>
              <a:t>لا تفصيح في التفريغ الحرفي، ولا تخمين لمقطع غير مفهوم.</a:t>
            </a:r>
            <a:endParaRPr lang="ar-AE" sz="1400" dirty="0"/>
          </a:p>
        </p:txBody>
      </p:sp>
      <p:sp>
        <p:nvSpPr>
          <p:cNvPr id="15" name="icon-handshake"/>
          <p:cNvSpPr/>
          <p:nvPr/>
        </p:nvSpPr>
        <p:spPr>
          <a:xfrm>
            <a:off x="11018520" y="4114800"/>
            <a:ext cx="621792" cy="621792"/>
          </a:xfrm>
          <a:prstGeom prst="ellipse">
            <a:avLst/>
          </a:prstGeom>
          <a:solidFill>
            <a:schemeClr val="accent5"/>
          </a:solidFill>
          <a:ln w="12700">
            <a:solidFill>
              <a:schemeClr val="accent5"/>
            </a:solidFill>
            <a:prstDash val="solid"/>
          </a:ln>
        </p:spPr>
      </p:sp>
      <p:pic>
        <p:nvPicPr>
          <p:cNvPr id="16" name="Image 3" descr="/tmp/claude-0/-home-user/11b98046-3116-585b-b221-e5c2e170e62a/scratchpad/deck/assets/i-handshake.png">    </p:cNvPr>
          <p:cNvPicPr>
            <a:picLocks noChangeAspect="1"/>
          </p:cNvPicPr>
          <p:nvPr/>
        </p:nvPicPr>
        <p:blipFill>
          <a:blip r:embed="rId4"/>
          <a:stretch>
            <a:fillRect/>
          </a:stretch>
        </p:blipFill>
        <p:spPr>
          <a:xfrm>
            <a:off x="11173968" y="4270248"/>
            <a:ext cx="310896" cy="310896"/>
          </a:xfrm>
          <a:prstGeom prst="rect">
            <a:avLst/>
          </a:prstGeom>
        </p:spPr>
      </p:pic>
      <p:sp>
        <p:nvSpPr>
          <p:cNvPr id="17" name="Text 11"/>
          <p:cNvSpPr txBox="1"/>
          <p:nvPr/>
        </p:nvSpPr>
        <p:spPr>
          <a:xfrm>
            <a:off x="548640" y="4096512"/>
            <a:ext cx="10287000" cy="384048"/>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الموافقات الأربع منفصلة</a:t>
            </a:r>
            <a:endParaRPr lang="ar-AE" sz="1700" dirty="0"/>
          </a:p>
        </p:txBody>
      </p:sp>
      <p:sp>
        <p:nvSpPr>
          <p:cNvPr id="18" name="Text 12"/>
          <p:cNvSpPr txBox="1"/>
          <p:nvPr/>
        </p:nvSpPr>
        <p:spPr>
          <a:xfrm>
            <a:off x="548640" y="4480560"/>
            <a:ext cx="10287000" cy="411480"/>
          </a:xfrm>
          <a:prstGeom prst="rect">
            <a:avLst/>
          </a:prstGeom>
          <a:noFill/>
          <a:ln/>
        </p:spPr>
        <p:txBody>
          <a:bodyPr wrap="square" lIns="0" tIns="0" rIns="0" bIns="0" rtlCol="0" anchor="ctr"/>
          <a:lstStyle/>
          <a:p>
            <a:pPr rtl="1" algn="r" indent="0" marL="0">
              <a:buNone/>
            </a:pPr>
            <a:r>
              <a:rPr lang="ar-AE" altLang="en-US" sz="1400" dirty="0">
                <a:solidFill>
                  <a:schemeClr val="tx1"/>
                </a:solidFill>
              </a:rPr>
              <a:t>التسجيل، والتفريغ، والنشر، والاستخدام التجاري؛ ولكل منها أثرها في البوابات.</a:t>
            </a:r>
            <a:endParaRPr lang="ar-AE" sz="1400" dirty="0"/>
          </a:p>
        </p:txBody>
      </p:sp>
      <p:sp>
        <p:nvSpPr>
          <p:cNvPr id="19" name="icon-check"/>
          <p:cNvSpPr/>
          <p:nvPr/>
        </p:nvSpPr>
        <p:spPr>
          <a:xfrm>
            <a:off x="11018520" y="5029200"/>
            <a:ext cx="621792" cy="621792"/>
          </a:xfrm>
          <a:prstGeom prst="ellipse">
            <a:avLst/>
          </a:prstGeom>
          <a:solidFill>
            <a:schemeClr val="accent2"/>
          </a:solidFill>
          <a:ln w="12700">
            <a:solidFill>
              <a:schemeClr val="accent2"/>
            </a:solidFill>
            <a:prstDash val="solid"/>
          </a:ln>
        </p:spPr>
      </p:sp>
      <p:pic>
        <p:nvPicPr>
          <p:cNvPr id="20" name="Image 4" descr="/tmp/claude-0/-home-user/11b98046-3116-585b-b221-e5c2e170e62a/scratchpad/deck/assets/i-check.png">    </p:cNvPr>
          <p:cNvPicPr>
            <a:picLocks noChangeAspect="1"/>
          </p:cNvPicPr>
          <p:nvPr/>
        </p:nvPicPr>
        <p:blipFill>
          <a:blip r:embed="rId5"/>
          <a:stretch>
            <a:fillRect/>
          </a:stretch>
        </p:blipFill>
        <p:spPr>
          <a:xfrm>
            <a:off x="11173968" y="5184648"/>
            <a:ext cx="310896" cy="310896"/>
          </a:xfrm>
          <a:prstGeom prst="rect">
            <a:avLst/>
          </a:prstGeom>
        </p:spPr>
      </p:pic>
      <p:sp>
        <p:nvSpPr>
          <p:cNvPr id="21" name="Text 14"/>
          <p:cNvSpPr txBox="1"/>
          <p:nvPr/>
        </p:nvSpPr>
        <p:spPr>
          <a:xfrm>
            <a:off x="548640" y="5010912"/>
            <a:ext cx="10287000" cy="384048"/>
          </a:xfrm>
          <a:prstGeom prst="rect">
            <a:avLst/>
          </a:prstGeom>
          <a:noFill/>
          <a:ln/>
        </p:spPr>
        <p:txBody>
          <a:bodyPr wrap="square" lIns="0" tIns="0" rIns="0" bIns="0" rtlCol="0" anchor="ctr"/>
          <a:lstStyle/>
          <a:p>
            <a:pPr rtl="1" algn="r" indent="0" marL="0">
              <a:buNone/>
            </a:pPr>
            <a:r>
              <a:rPr lang="ar-AE" altLang="en-US" sz="1700" b="1" dirty="0">
                <a:solidFill>
                  <a:schemeClr val="accent1"/>
                </a:solidFill>
              </a:rPr>
              <a:t>السيادة البشرية</a:t>
            </a:r>
            <a:endParaRPr lang="ar-AE" sz="1700" dirty="0"/>
          </a:p>
        </p:txBody>
      </p:sp>
      <p:sp>
        <p:nvSpPr>
          <p:cNvPr id="22" name="Text 15"/>
          <p:cNvSpPr txBox="1"/>
          <p:nvPr/>
        </p:nvSpPr>
        <p:spPr>
          <a:xfrm>
            <a:off x="548640" y="5394960"/>
            <a:ext cx="10287000" cy="411480"/>
          </a:xfrm>
          <a:prstGeom prst="rect">
            <a:avLst/>
          </a:prstGeom>
          <a:noFill/>
          <a:ln/>
        </p:spPr>
        <p:txBody>
          <a:bodyPr wrap="square" lIns="0" tIns="0" rIns="0" bIns="0" rtlCol="0" anchor="ctr"/>
          <a:lstStyle/>
          <a:p>
            <a:pPr rtl="1" algn="r" indent="0" marL="0">
              <a:buNone/>
            </a:pPr>
            <a:r>
              <a:rPr lang="ar-AE" altLang="en-US" sz="1400" dirty="0">
                <a:solidFill>
                  <a:schemeClr val="tx1"/>
                </a:solidFill>
              </a:rPr>
              <a:t>لا يُنشر شيء قبل اعتماد المراجع البشري المخوّل.</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548640" y="347472"/>
            <a:ext cx="11091672" cy="777240"/>
          </a:xfrm>
          <a:prstGeom prst="rect">
            <a:avLst/>
          </a:prstGeom>
          <a:noFill/>
          <a:ln/>
        </p:spPr>
        <p:txBody>
          <a:bodyPr wrap="square" rtlCol="0" anchor="ctr"/>
          <a:lstStyle/>
          <a:p>
            <a:pPr rtl="1" algn="r" indent="0" marL="0">
              <a:buNone/>
            </a:pPr>
            <a:r>
              <a:rPr lang="ar-AE" altLang="en-US" sz="3200" b="1" dirty="0">
                <a:solidFill>
                  <a:schemeClr val="accent1"/>
                </a:solidFill>
              </a:rPr>
              <a:t>عند التعثر</a:t>
            </a:r>
            <a:endParaRPr lang="ar-AE" sz="3200" dirty="0"/>
          </a:p>
        </p:txBody>
      </p:sp>
      <p:sp>
        <p:nvSpPr>
          <p:cNvPr id="3" name="tip-0"/>
          <p:cNvSpPr/>
          <p:nvPr/>
        </p:nvSpPr>
        <p:spPr>
          <a:xfrm>
            <a:off x="6172200" y="1417320"/>
            <a:ext cx="5468112" cy="2011680"/>
          </a:xfrm>
          <a:prstGeom prst="roundRect">
            <a:avLst>
              <a:gd name="adj" fmla="val 5455"/>
            </a:avLst>
          </a:prstGeom>
          <a:solidFill>
            <a:srgbClr val="EEF3F8"/>
          </a:solidFill>
          <a:ln w="12700">
            <a:solidFill>
              <a:srgbClr val="D9E1EA"/>
            </a:solidFill>
            <a:prstDash val="solid"/>
          </a:ln>
        </p:spPr>
      </p:sp>
      <p:sp>
        <p:nvSpPr>
          <p:cNvPr id="4" name="icon-alert"/>
          <p:cNvSpPr/>
          <p:nvPr/>
        </p:nvSpPr>
        <p:spPr>
          <a:xfrm>
            <a:off x="10835640" y="1691640"/>
            <a:ext cx="566928" cy="566928"/>
          </a:xfrm>
          <a:prstGeom prst="ellipse">
            <a:avLst/>
          </a:prstGeom>
          <a:solidFill>
            <a:schemeClr val="accent6"/>
          </a:solidFill>
          <a:ln w="12700">
            <a:solidFill>
              <a:schemeClr val="accent6"/>
            </a:solidFill>
            <a:prstDash val="solid"/>
          </a:ln>
        </p:spPr>
      </p:sp>
      <p:pic>
        <p:nvPicPr>
          <p:cNvPr id="5" name="Image 0" descr="/tmp/claude-0/-home-user/11b98046-3116-585b-b221-e5c2e170e62a/scratchpad/deck/assets/i-alert.png">    </p:cNvPr>
          <p:cNvPicPr>
            <a:picLocks noChangeAspect="1"/>
          </p:cNvPicPr>
          <p:nvPr/>
        </p:nvPicPr>
        <p:blipFill>
          <a:blip r:embed="rId1"/>
          <a:stretch>
            <a:fillRect/>
          </a:stretch>
        </p:blipFill>
        <p:spPr>
          <a:xfrm>
            <a:off x="10977372" y="1833372"/>
            <a:ext cx="283464" cy="283464"/>
          </a:xfrm>
          <a:prstGeom prst="rect">
            <a:avLst/>
          </a:prstGeom>
        </p:spPr>
      </p:pic>
      <p:sp>
        <p:nvSpPr>
          <p:cNvPr id="6" name="Text 3"/>
          <p:cNvSpPr txBox="1"/>
          <p:nvPr/>
        </p:nvSpPr>
        <p:spPr>
          <a:xfrm>
            <a:off x="6446520" y="1691640"/>
            <a:ext cx="4206240" cy="457200"/>
          </a:xfrm>
          <a:prstGeom prst="rect">
            <a:avLst/>
          </a:prstGeom>
          <a:noFill/>
          <a:ln/>
        </p:spPr>
        <p:txBody>
          <a:bodyPr wrap="square" lIns="0" tIns="0" rIns="0" bIns="0" rtlCol="0" anchor="ctr"/>
          <a:lstStyle/>
          <a:p>
            <a:pPr rtl="1" algn="r" indent="0" marL="0">
              <a:buNone/>
            </a:pPr>
            <a:r>
              <a:rPr lang="ar-AE" altLang="en-US" sz="1800" b="1" dirty="0">
                <a:solidFill>
                  <a:schemeClr val="accent1"/>
                </a:solidFill>
              </a:rPr>
              <a:t>رسالة خطأ واضحة</a:t>
            </a:r>
            <a:endParaRPr lang="ar-AE" sz="1800" dirty="0"/>
          </a:p>
        </p:txBody>
      </p:sp>
      <p:sp>
        <p:nvSpPr>
          <p:cNvPr id="7" name="Text 4"/>
          <p:cNvSpPr txBox="1"/>
          <p:nvPr/>
        </p:nvSpPr>
        <p:spPr>
          <a:xfrm>
            <a:off x="6446520" y="2240280"/>
            <a:ext cx="4937760" cy="1051560"/>
          </a:xfrm>
          <a:prstGeom prst="rect">
            <a:avLst/>
          </a:prstGeom>
          <a:noFill/>
          <a:ln/>
        </p:spPr>
        <p:txBody>
          <a:bodyPr wrap="square" lIns="0" tIns="0" rIns="0" bIns="0" rtlCol="0" anchor="ctr"/>
          <a:lstStyle/>
          <a:p>
            <a:pPr rtl="1" algn="r" indent="0" marL="0">
              <a:buNone/>
            </a:pPr>
            <a:r>
              <a:rPr lang="ar-AE" altLang="en-US" sz="1400" dirty="0">
                <a:solidFill>
                  <a:schemeClr val="tx1"/>
                </a:solidFill>
              </a:rPr>
              <a:t>إن منع خطأ فتح اللوحة ظهرت نافذة بالسبب وموضع السجل؛ فلا فشل صامت.</a:t>
            </a:r>
            <a:endParaRPr lang="ar-AE" sz="1400" dirty="0"/>
          </a:p>
        </p:txBody>
      </p:sp>
      <p:sp>
        <p:nvSpPr>
          <p:cNvPr id="8" name="tip-1"/>
          <p:cNvSpPr/>
          <p:nvPr/>
        </p:nvSpPr>
        <p:spPr>
          <a:xfrm>
            <a:off x="548640" y="1417320"/>
            <a:ext cx="5468112" cy="2011680"/>
          </a:xfrm>
          <a:prstGeom prst="roundRect">
            <a:avLst>
              <a:gd name="adj" fmla="val 5455"/>
            </a:avLst>
          </a:prstGeom>
          <a:solidFill>
            <a:srgbClr val="EEF3F8"/>
          </a:solidFill>
          <a:ln w="12700">
            <a:solidFill>
              <a:srgbClr val="D9E1EA"/>
            </a:solidFill>
            <a:prstDash val="solid"/>
          </a:ln>
        </p:spPr>
      </p:sp>
      <p:sp>
        <p:nvSpPr>
          <p:cNvPr id="9" name="icon-search"/>
          <p:cNvSpPr/>
          <p:nvPr/>
        </p:nvSpPr>
        <p:spPr>
          <a:xfrm>
            <a:off x="5212080" y="1691640"/>
            <a:ext cx="566928" cy="566928"/>
          </a:xfrm>
          <a:prstGeom prst="ellipse">
            <a:avLst/>
          </a:prstGeom>
          <a:solidFill>
            <a:schemeClr val="accent1"/>
          </a:solidFill>
          <a:ln w="12700">
            <a:solidFill>
              <a:schemeClr val="accent1"/>
            </a:solidFill>
            <a:prstDash val="solid"/>
          </a:ln>
        </p:spPr>
      </p:sp>
      <p:pic>
        <p:nvPicPr>
          <p:cNvPr id="10" name="Image 1" descr="/tmp/claude-0/-home-user/11b98046-3116-585b-b221-e5c2e170e62a/scratchpad/deck/assets/i-search.png">    </p:cNvPr>
          <p:cNvPicPr>
            <a:picLocks noChangeAspect="1"/>
          </p:cNvPicPr>
          <p:nvPr/>
        </p:nvPicPr>
        <p:blipFill>
          <a:blip r:embed="rId2"/>
          <a:stretch>
            <a:fillRect/>
          </a:stretch>
        </p:blipFill>
        <p:spPr>
          <a:xfrm>
            <a:off x="5353812" y="1833372"/>
            <a:ext cx="283464" cy="283464"/>
          </a:xfrm>
          <a:prstGeom prst="rect">
            <a:avLst/>
          </a:prstGeom>
        </p:spPr>
      </p:pic>
      <p:sp>
        <p:nvSpPr>
          <p:cNvPr id="11" name="Text 7"/>
          <p:cNvSpPr txBox="1"/>
          <p:nvPr/>
        </p:nvSpPr>
        <p:spPr>
          <a:xfrm>
            <a:off x="822960" y="1691640"/>
            <a:ext cx="4206240" cy="457200"/>
          </a:xfrm>
          <a:prstGeom prst="rect">
            <a:avLst/>
          </a:prstGeom>
          <a:noFill/>
          <a:ln/>
        </p:spPr>
        <p:txBody>
          <a:bodyPr wrap="square" lIns="0" tIns="0" rIns="0" bIns="0" rtlCol="0" anchor="ctr"/>
          <a:lstStyle/>
          <a:p>
            <a:pPr rtl="1" algn="r" indent="0" marL="0">
              <a:buNone/>
            </a:pPr>
            <a:r>
              <a:rPr lang="ar-AE" altLang="en-US" sz="1800" b="1" dirty="0">
                <a:solidFill>
                  <a:schemeClr val="accent1"/>
                </a:solidFill>
              </a:rPr>
              <a:t>أمر التشخيص</a:t>
            </a:r>
            <a:endParaRPr lang="ar-AE" sz="1800" dirty="0"/>
          </a:p>
        </p:txBody>
      </p:sp>
      <p:sp>
        <p:nvSpPr>
          <p:cNvPr id="12" name="Text 8"/>
          <p:cNvSpPr txBox="1"/>
          <p:nvPr/>
        </p:nvSpPr>
        <p:spPr>
          <a:xfrm>
            <a:off x="822960" y="2240280"/>
            <a:ext cx="4937760" cy="1051560"/>
          </a:xfrm>
          <a:prstGeom prst="rect">
            <a:avLst/>
          </a:prstGeom>
          <a:noFill/>
          <a:ln/>
        </p:spPr>
        <p:txBody>
          <a:bodyPr wrap="square" lIns="0" tIns="0" rIns="0" bIns="0" rtlCol="0" anchor="ctr"/>
          <a:lstStyle/>
          <a:p>
            <a:pPr rtl="1" algn="r" indent="0" marL="0">
              <a:buNone/>
            </a:pPr>
            <a:r>
              <a:rPr lang="ar-AE" altLang="en-US" sz="1400" dirty="0">
                <a:solidFill>
                  <a:schemeClr val="tx1"/>
                </a:solidFill>
              </a:rPr>
              <a:t>py -m turath doctor</a:t>
            </a:r>
            <a:endParaRPr lang="ar-AE" sz="1400" dirty="0"/>
          </a:p>
          <a:p>
            <a:pPr rtl="1" algn="r" indent="0" marL="0">
              <a:buNone/>
            </a:pPr>
            <a:r>
              <a:rPr lang="ar-AE" altLang="en-US" sz="1400" dirty="0">
                <a:solidFill>
                  <a:schemeClr val="tx1"/>
                </a:solidFill>
              </a:rPr>
              <a:t>يفحص Python والملفات والبيانات والمنفذ والأيقونة، ويعرض آخر السجل.</a:t>
            </a:r>
            <a:endParaRPr lang="ar-AE" sz="1400" dirty="0"/>
          </a:p>
        </p:txBody>
      </p:sp>
      <p:sp>
        <p:nvSpPr>
          <p:cNvPr id="13" name="tip-2"/>
          <p:cNvSpPr/>
          <p:nvPr/>
        </p:nvSpPr>
        <p:spPr>
          <a:xfrm>
            <a:off x="6172200" y="3657600"/>
            <a:ext cx="5468112" cy="2011680"/>
          </a:xfrm>
          <a:prstGeom prst="roundRect">
            <a:avLst>
              <a:gd name="adj" fmla="val 5455"/>
            </a:avLst>
          </a:prstGeom>
          <a:solidFill>
            <a:srgbClr val="EEF3F8"/>
          </a:solidFill>
          <a:ln w="12700">
            <a:solidFill>
              <a:srgbClr val="D9E1EA"/>
            </a:solidFill>
            <a:prstDash val="solid"/>
          </a:ln>
        </p:spPr>
      </p:sp>
      <p:sp>
        <p:nvSpPr>
          <p:cNvPr id="14" name="icon-download"/>
          <p:cNvSpPr/>
          <p:nvPr/>
        </p:nvSpPr>
        <p:spPr>
          <a:xfrm>
            <a:off x="10835640" y="3931920"/>
            <a:ext cx="566928" cy="566928"/>
          </a:xfrm>
          <a:prstGeom prst="ellipse">
            <a:avLst/>
          </a:prstGeom>
          <a:solidFill>
            <a:schemeClr val="accent5"/>
          </a:solidFill>
          <a:ln w="12700">
            <a:solidFill>
              <a:schemeClr val="accent5"/>
            </a:solidFill>
            <a:prstDash val="solid"/>
          </a:ln>
        </p:spPr>
      </p:sp>
      <p:pic>
        <p:nvPicPr>
          <p:cNvPr id="15" name="Image 2" descr="/tmp/claude-0/-home-user/11b98046-3116-585b-b221-e5c2e170e62a/scratchpad/deck/assets/i-download.png">    </p:cNvPr>
          <p:cNvPicPr>
            <a:picLocks noChangeAspect="1"/>
          </p:cNvPicPr>
          <p:nvPr/>
        </p:nvPicPr>
        <p:blipFill>
          <a:blip r:embed="rId3"/>
          <a:stretch>
            <a:fillRect/>
          </a:stretch>
        </p:blipFill>
        <p:spPr>
          <a:xfrm>
            <a:off x="10977372" y="4073652"/>
            <a:ext cx="283464" cy="283464"/>
          </a:xfrm>
          <a:prstGeom prst="rect">
            <a:avLst/>
          </a:prstGeom>
        </p:spPr>
      </p:pic>
      <p:sp>
        <p:nvSpPr>
          <p:cNvPr id="16" name="Text 11"/>
          <p:cNvSpPr txBox="1"/>
          <p:nvPr/>
        </p:nvSpPr>
        <p:spPr>
          <a:xfrm>
            <a:off x="6446520" y="3931920"/>
            <a:ext cx="4206240" cy="457200"/>
          </a:xfrm>
          <a:prstGeom prst="rect">
            <a:avLst/>
          </a:prstGeom>
          <a:noFill/>
          <a:ln/>
        </p:spPr>
        <p:txBody>
          <a:bodyPr wrap="square" lIns="0" tIns="0" rIns="0" bIns="0" rtlCol="0" anchor="ctr"/>
          <a:lstStyle/>
          <a:p>
            <a:pPr rtl="1" algn="r" indent="0" marL="0">
              <a:buNone/>
            </a:pPr>
            <a:r>
              <a:rPr lang="ar-AE" altLang="en-US" sz="1800" b="1" dirty="0">
                <a:solidFill>
                  <a:schemeClr val="accent1"/>
                </a:solidFill>
              </a:rPr>
              <a:t>إعادة التثبيت</a:t>
            </a:r>
            <a:endParaRPr lang="ar-AE" sz="1800" dirty="0"/>
          </a:p>
        </p:txBody>
      </p:sp>
      <p:sp>
        <p:nvSpPr>
          <p:cNvPr id="17" name="Text 12"/>
          <p:cNvSpPr txBox="1"/>
          <p:nvPr/>
        </p:nvSpPr>
        <p:spPr>
          <a:xfrm>
            <a:off x="6446520" y="4480560"/>
            <a:ext cx="4937760" cy="1051560"/>
          </a:xfrm>
          <a:prstGeom prst="rect">
            <a:avLst/>
          </a:prstGeom>
          <a:noFill/>
          <a:ln/>
        </p:spPr>
        <p:txBody>
          <a:bodyPr wrap="square" lIns="0" tIns="0" rIns="0" bIns="0" rtlCol="0" anchor="ctr"/>
          <a:lstStyle/>
          <a:p>
            <a:pPr rtl="1" algn="r" indent="0" marL="0">
              <a:buNone/>
            </a:pPr>
            <a:r>
              <a:rPr lang="ar-AE" altLang="en-US" sz="1400" dirty="0">
                <a:solidFill>
                  <a:schemeClr val="tx1"/>
                </a:solidFill>
              </a:rPr>
              <a:t>السطر نفسه يحدّث البرنامج ويتحقق من قيامه، ولا يمسّ البيانات.</a:t>
            </a:r>
            <a:endParaRPr lang="ar-AE" sz="1400" dirty="0"/>
          </a:p>
        </p:txBody>
      </p:sp>
      <p:sp>
        <p:nvSpPr>
          <p:cNvPr id="18" name="tip-3"/>
          <p:cNvSpPr/>
          <p:nvPr/>
        </p:nvSpPr>
        <p:spPr>
          <a:xfrm>
            <a:off x="548640" y="3657600"/>
            <a:ext cx="5468112" cy="2011680"/>
          </a:xfrm>
          <a:prstGeom prst="roundRect">
            <a:avLst>
              <a:gd name="adj" fmla="val 5455"/>
            </a:avLst>
          </a:prstGeom>
          <a:solidFill>
            <a:srgbClr val="EEF3F8"/>
          </a:solidFill>
          <a:ln w="12700">
            <a:solidFill>
              <a:srgbClr val="D9E1EA"/>
            </a:solidFill>
            <a:prstDash val="solid"/>
          </a:ln>
        </p:spPr>
      </p:sp>
      <p:sp>
        <p:nvSpPr>
          <p:cNvPr id="19" name="icon-archive"/>
          <p:cNvSpPr/>
          <p:nvPr/>
        </p:nvSpPr>
        <p:spPr>
          <a:xfrm>
            <a:off x="5212080" y="3931920"/>
            <a:ext cx="566928" cy="566928"/>
          </a:xfrm>
          <a:prstGeom prst="ellipse">
            <a:avLst/>
          </a:prstGeom>
          <a:solidFill>
            <a:schemeClr val="accent4"/>
          </a:solidFill>
          <a:ln w="12700">
            <a:solidFill>
              <a:schemeClr val="accent4"/>
            </a:solidFill>
            <a:prstDash val="solid"/>
          </a:ln>
        </p:spPr>
      </p:sp>
      <p:pic>
        <p:nvPicPr>
          <p:cNvPr id="20" name="Image 3" descr="/tmp/claude-0/-home-user/11b98046-3116-585b-b221-e5c2e170e62a/scratchpad/deck/assets/i-archive.png">    </p:cNvPr>
          <p:cNvPicPr>
            <a:picLocks noChangeAspect="1"/>
          </p:cNvPicPr>
          <p:nvPr/>
        </p:nvPicPr>
        <p:blipFill>
          <a:blip r:embed="rId4"/>
          <a:stretch>
            <a:fillRect/>
          </a:stretch>
        </p:blipFill>
        <p:spPr>
          <a:xfrm>
            <a:off x="5353812" y="4073652"/>
            <a:ext cx="283464" cy="283464"/>
          </a:xfrm>
          <a:prstGeom prst="rect">
            <a:avLst/>
          </a:prstGeom>
        </p:spPr>
      </p:pic>
      <p:sp>
        <p:nvSpPr>
          <p:cNvPr id="21" name="Text 15"/>
          <p:cNvSpPr txBox="1"/>
          <p:nvPr/>
        </p:nvSpPr>
        <p:spPr>
          <a:xfrm>
            <a:off x="822960" y="3931920"/>
            <a:ext cx="4206240" cy="457200"/>
          </a:xfrm>
          <a:prstGeom prst="rect">
            <a:avLst/>
          </a:prstGeom>
          <a:noFill/>
          <a:ln/>
        </p:spPr>
        <p:txBody>
          <a:bodyPr wrap="square" lIns="0" tIns="0" rIns="0" bIns="0" rtlCol="0" anchor="ctr"/>
          <a:lstStyle/>
          <a:p>
            <a:pPr rtl="1" algn="r" indent="0" marL="0">
              <a:buNone/>
            </a:pPr>
            <a:r>
              <a:rPr lang="ar-AE" altLang="en-US" sz="1800" b="1" dirty="0">
                <a:solidFill>
                  <a:schemeClr val="accent1"/>
                </a:solidFill>
              </a:rPr>
              <a:t>النسخ الاحتياطي</a:t>
            </a:r>
            <a:endParaRPr lang="ar-AE" sz="1800" dirty="0"/>
          </a:p>
        </p:txBody>
      </p:sp>
      <p:sp>
        <p:nvSpPr>
          <p:cNvPr id="22" name="Text 16"/>
          <p:cNvSpPr txBox="1"/>
          <p:nvPr/>
        </p:nvSpPr>
        <p:spPr>
          <a:xfrm>
            <a:off x="822960" y="4480560"/>
            <a:ext cx="4937760" cy="1051560"/>
          </a:xfrm>
          <a:prstGeom prst="rect">
            <a:avLst/>
          </a:prstGeom>
          <a:noFill/>
          <a:ln/>
        </p:spPr>
        <p:txBody>
          <a:bodyPr wrap="square" lIns="0" tIns="0" rIns="0" bIns="0" rtlCol="0" anchor="ctr"/>
          <a:lstStyle/>
          <a:p>
            <a:pPr rtl="1" algn="r" indent="0" marL="0">
              <a:buNone/>
            </a:pPr>
            <a:r>
              <a:rPr lang="ar-AE" altLang="en-US" sz="1400" dirty="0">
                <a:solidFill>
                  <a:schemeClr val="tx1"/>
                </a:solidFill>
              </a:rPr>
              <a:t>زر في الخزنة يحفظ القاعدة والأصول ببيان بصمات.</a:t>
            </a:r>
            <a:endParaRPr lang="ar-AE" sz="1400" dirty="0"/>
          </a:p>
        </p:txBody>
      </p:sp>
      <p:sp>
        <p:nvSpPr>
          <p:cNvPr id="25" name="Slide Number Placeholder 0"/>
          <p:cNvSpPr>
            <a:spLocks noGrp="1"/>
          </p:cNvSpPr>
          <p:nvPr>
            <p:ph type="sldNum" sz="quarter" idx="4294967295"/>
          </p:nvPr>
        </p:nvSpPr>
        <p:spPr>
          <a:xfrm>
            <a:off x="106984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closing-art" descr="/tmp/claude-0/-home-user/11b98046-3116-585b-b221-e5c2e170e62a/scratchpad/deck/assets/photos/coastal.jpg">    </p:cNvPr>
          <p:cNvPicPr>
            <a:picLocks noChangeAspect="1"/>
          </p:cNvPicPr>
          <p:nvPr/>
        </p:nvPicPr>
        <p:blipFill>
          <a:blip r:embed="rId1"/>
          <a:srcRect l="0" r="0" t="0" b="0"/>
          <a:stretch/>
        </p:blipFill>
        <p:spPr>
          <a:xfrm>
            <a:off x="0" y="0"/>
            <a:ext cx="12191695" cy="6858000"/>
          </a:xfrm>
          <a:prstGeom prst="rect">
            <a:avLst/>
          </a:prstGeom>
        </p:spPr>
      </p:pic>
      <p:sp>
        <p:nvSpPr>
          <p:cNvPr id="3" name="closing-veil"/>
          <p:cNvSpPr/>
          <p:nvPr/>
        </p:nvSpPr>
        <p:spPr>
          <a:xfrm>
            <a:off x="0" y="0"/>
            <a:ext cx="12191695" cy="6858000"/>
          </a:xfrm>
          <a:prstGeom prst="rect">
            <a:avLst/>
          </a:prstGeom>
          <a:solidFill>
            <a:srgbClr val="12263F">
              <a:alpha val="70000"/>
            </a:srgbClr>
          </a:solidFill>
          <a:ln w="12700">
            <a:solidFill>
              <a:srgbClr val="12263F">
                <a:alpha val="0"/>
              </a:srgbClr>
            </a:solidFill>
            <a:prstDash val="solid"/>
          </a:ln>
        </p:spPr>
      </p:sp>
      <p:pic>
        <p:nvPicPr>
          <p:cNvPr id="4" name="Image 1" descr="/tmp/claude-0/-home-user/11b98046-3116-585b-b221-e5c2e170e62a/scratchpad/deck/assets/logo.png">    </p:cNvPr>
          <p:cNvPicPr>
            <a:picLocks noChangeAspect="1"/>
          </p:cNvPicPr>
          <p:nvPr/>
        </p:nvPicPr>
        <p:blipFill>
          <a:blip r:embed="rId2"/>
          <a:stretch>
            <a:fillRect/>
          </a:stretch>
        </p:blipFill>
        <p:spPr>
          <a:xfrm>
            <a:off x="5522976" y="1097280"/>
            <a:ext cx="1143000" cy="1143000"/>
          </a:xfrm>
          <a:prstGeom prst="rect">
            <a:avLst/>
          </a:prstGeom>
        </p:spPr>
      </p:pic>
      <p:sp>
        <p:nvSpPr>
          <p:cNvPr id="5" name="Text 1"/>
          <p:cNvSpPr txBox="1"/>
          <p:nvPr/>
        </p:nvSpPr>
        <p:spPr>
          <a:xfrm>
            <a:off x="1371600" y="2514600"/>
            <a:ext cx="9445752" cy="822960"/>
          </a:xfrm>
          <a:prstGeom prst="rect">
            <a:avLst/>
          </a:prstGeom>
          <a:noFill/>
          <a:ln/>
        </p:spPr>
        <p:txBody>
          <a:bodyPr wrap="square" lIns="0" tIns="0" rIns="0" bIns="0" rtlCol="0" anchor="ctr"/>
          <a:lstStyle/>
          <a:p>
            <a:pPr rtl="1" algn="ctr" indent="0" marL="0">
              <a:buNone/>
            </a:pPr>
            <a:r>
              <a:rPr lang="ar-AE" altLang="en-US" sz="4000" b="1" dirty="0">
                <a:solidFill>
                  <a:schemeClr val="bg1"/>
                </a:solidFill>
              </a:rPr>
              <a:t>ابدؤوا بالنموذج التطبيقي</a:t>
            </a:r>
            <a:endParaRPr lang="ar-AE" sz="4000" dirty="0"/>
          </a:p>
        </p:txBody>
      </p:sp>
      <p:sp>
        <p:nvSpPr>
          <p:cNvPr id="6" name="Text 2"/>
          <p:cNvSpPr txBox="1"/>
          <p:nvPr/>
        </p:nvSpPr>
        <p:spPr>
          <a:xfrm>
            <a:off x="1371600" y="3383280"/>
            <a:ext cx="9445752" cy="548640"/>
          </a:xfrm>
          <a:prstGeom prst="rect">
            <a:avLst/>
          </a:prstGeom>
          <a:noFill/>
          <a:ln/>
        </p:spPr>
        <p:txBody>
          <a:bodyPr wrap="square" lIns="0" tIns="0" rIns="0" bIns="0" rtlCol="0" anchor="ctr"/>
          <a:lstStyle/>
          <a:p>
            <a:pPr rtl="1" algn="ctr" indent="0" marL="0">
              <a:buNone/>
            </a:pPr>
            <a:r>
              <a:rPr lang="ar-AE" altLang="en-US" sz="2200" dirty="0">
                <a:solidFill>
                  <a:srgbClr val="F0D58A"/>
                </a:solidFill>
              </a:rPr>
              <a:t>ثم افتحوا مشروعكم الأول بالأمر «ابحث تراثياً»</a:t>
            </a:r>
            <a:endParaRPr lang="ar-AE" sz="2200" dirty="0"/>
          </a:p>
        </p:txBody>
      </p:sp>
      <p:sp>
        <p:nvSpPr>
          <p:cNvPr id="7" name="Text 3"/>
          <p:cNvSpPr txBox="1"/>
          <p:nvPr/>
        </p:nvSpPr>
        <p:spPr>
          <a:xfrm>
            <a:off x="1371600" y="5120640"/>
            <a:ext cx="9445752" cy="411480"/>
          </a:xfrm>
          <a:prstGeom prst="rect">
            <a:avLst/>
          </a:prstGeom>
          <a:noFill/>
          <a:ln/>
        </p:spPr>
        <p:txBody>
          <a:bodyPr wrap="square" lIns="0" tIns="0" rIns="0" bIns="0" rtlCol="0" anchor="ctr"/>
          <a:lstStyle/>
          <a:p>
            <a:pPr rtl="1" algn="ctr" indent="0" marL="0">
              <a:buNone/>
            </a:pPr>
            <a:r>
              <a:rPr lang="ar-AE" altLang="en-US" sz="1400" dirty="0">
                <a:solidFill>
                  <a:srgbClr val="D9E4F0"/>
                </a:solidFill>
              </a:rPr>
              <a:t>دليل التنصيب: INSTALL.md · الوثائق: قسم «الوثائق والاستمارات» في اللوحة</a:t>
            </a:r>
            <a:endParaRPr lang="ar-AE" sz="1400" dirty="0"/>
          </a:p>
        </p:txBody>
      </p:sp>
      <p:pic>
        <p:nvPicPr>
          <p:cNvPr id="8" name="Image 2" descr="/tmp/claude-0/-home-user/11b98046-3116-585b-b221-e5c2e170e62a/scratchpad/deck/assets/sadu.png">    </p:cNvPr>
          <p:cNvPicPr>
            <a:picLocks noChangeAspect="1"/>
          </p:cNvPicPr>
          <p:nvPr/>
        </p:nvPicPr>
        <p:blipFill>
          <a:blip r:embed="rId3"/>
          <a:stretch>
            <a:fillRect/>
          </a:stretch>
        </p:blipFill>
        <p:spPr>
          <a:xfrm>
            <a:off x="0" y="6583680"/>
            <a:ext cx="12191695" cy="274320"/>
          </a:xfrm>
          <a:prstGeom prst="rect">
            <a:avLst/>
          </a:prstGeom>
        </p:spPr>
      </p:pic>
    </p:spTree>
  </p:cSld>
  <p:clrMapOvr>
    <a:masterClrMapping/>
  </p:clrMapOvr>
</p:sld>
</file>

<file path=ppt/theme/theme1.xml><?xml version="1.0" encoding="utf-8"?>
<a:theme xmlns:a="http://schemas.openxmlformats.org/drawingml/2006/main" name="Turath">
  <a:themeElements>
    <a:clrScheme name="Turath">
      <a:dk1>
        <a:srgbClr val="1A2433"/>
      </a:dk1>
      <a:lt1>
        <a:srgbClr val="FFFFFF"/>
      </a:lt1>
      <a:dk2>
        <a:srgbClr val="12263F"/>
      </a:dk2>
      <a:lt2>
        <a:srgbClr val="EEF3F8"/>
      </a:lt2>
      <a:accent1>
        <a:srgbClr val="1F4E79"/>
      </a:accent1>
      <a:accent2>
        <a:srgbClr val="B8860B"/>
      </a:accent2>
      <a:accent3>
        <a:srgbClr val="0E7C86"/>
      </a:accent3>
      <a:accent4>
        <a:srgbClr val="A0522D"/>
      </a:accent4>
      <a:accent5>
        <a:srgbClr val="3E7C3A"/>
      </a:accent5>
      <a:accent6>
        <a:srgbClr val="8B1E3F"/>
      </a:accent6>
      <a:hlink>
        <a:srgbClr val="1F4E79"/>
      </a:hlink>
      <a:folHlink>
        <a:srgbClr val="5B3A7A"/>
      </a:folHlink>
    </a:clrScheme>
    <a:fontScheme name="Turath">
      <a:majorFont>
        <a:latin typeface="Noto Naskh Arabic"/>
        <a:ea typeface=""/>
        <a:cs typeface="adwa-assalaf"/>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Naskh Arabic"/>
        <a:ea typeface=""/>
        <a:cs typeface="adwa-assalaf"/>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تراث — دليل المنصة واستخدامها</dc:title>
  <dc:subject>PptxGenJS Presentation</dc:subject>
  <dc:creator>إدارة الدراسات والبحوث التراثية الإماراتية</dc:creator>
  <cp:lastModifiedBy>إدارة الدراسات والبحوث التراثية الإماراتية</cp:lastModifiedBy>
  <cp:revision>1</cp:revision>
  <dcterms:created xsi:type="dcterms:W3CDTF">2026-10-15T09:58:31Z</dcterms:created>
  <dcterms:modified xsi:type="dcterms:W3CDTF">2026-10-15T09:58:31Z</dcterms:modified>
</cp:coreProperties>
</file>