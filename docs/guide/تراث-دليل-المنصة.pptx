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d6d38b6b-76e5-130d-1b2f-9d8eb4392904}">
          <p14:sldIdLst>
            <p14:sldId id="256"/>
            <p14:sldId id="257"/>
            <p14:sldId id="258"/>
          </p14:sldIdLst>
        </p14:section>
        <p14:section name="البدء" id="{f8b95bf6-61b2-2aad-27a3-2b0d59bd4ca6}">
          <p14:sldIdLst>
            <p14:sldId id="259"/>
            <p14:sldId id="260"/>
            <p14:sldId id="261"/>
            <p14:sldId id="262"/>
          </p14:sldIdLst>
        </p14:section>
        <p14:section name="الشاشات" id="{0a8e9cfe-ec4e-3d88-9b1a-51b201b3983c}">
          <p14:sldIdLst>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الاستخدام" id="{c867740b-51a6-03a7-0683-479cbbbe4bdd}">
          <p14:sldIdLst>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يعرّف هذا الدليل بمنصة «تراث»: ما هي، وكيف تُنصَّب، وما شاشاتها، وكيف يسير فيها بحث تراثي من الفكرة إلى النشر.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المنصة تعمل على جهاز الباحث دون أي خدمة خارجية. الأرقام هنا من الإصدار الحالي.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إعادة تشغيل المثبّت تحدّث البرنامج دون مساس البيانات. وفي آخره يتحقق من أن اللوحة قامت فعلاً، وإلا طبع تقرير تشخيص.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المثبّت يهيّئ النمط الفردي. والانتقال إلى نمط آخر بأمر واحد، والبيانات نفسها تبقى.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السجل في مجلد Turath داخل المجلد الشخصي: turath.log. وتقرير التشخيص يكفي لمعرفة أغلب الأعطال.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rtlCol="0" anchor="ctr"/>
          <a:lstStyle/>
          <a:p>
            <a:pPr algn="l" indent="0" marL="0">
              <a:buNone/>
            </a:pPr>
            <a:r>
              <a:rPr lang="ar-AE" altLang="en-US" sz="1000" dirty="0">
                <a:solidFill>
                  <a:schemeClr val="tx2"/>
                </a:solidFill>
                <a:latin typeface="Noto Naskh Arabic"/>
                <a:cs typeface="adwa-assalaf"/>
              </a:rPr>
              <a:t>تراث — دليل المنصة</a:t>
            </a:r>
            <a:endParaRPr lang="ar-AE" sz="1000" dirty="0"/>
          </a:p>
        </p:txBody>
      </p:sp>
      <p:pic>
        <p:nvPicPr>
          <p:cNvPr id="3" name="Image 0" descr="/tmp/claude-0/-home-user/11b98046-3116-585b-b221-e5c2e170e62a/scratchpad/deck/assets/logo.png">    </p:cNvPr>
          <p:cNvPicPr>
            <a:picLocks noChangeAspect="1"/>
          </p:cNvPicPr>
          <p:nvPr/>
        </p:nvPicPr>
        <p:blipFill>
          <a:blip r:embed="rId1"/>
          <a:stretch>
            <a:fillRect/>
          </a:stretch>
        </p:blipFill>
        <p:spPr>
          <a:xfrm>
            <a:off x="11320272" y="6327648"/>
            <a:ext cx="347472" cy="347472"/>
          </a:xfrm>
          <a:prstGeom prst="rect">
            <a:avLst/>
          </a:prstGeom>
        </p:spPr>
      </p:pic>
      <p:sp>
        <p:nvSpPr>
          <p:cNvPr id="4" name="Text 1"/>
          <p:cNvSpPr/>
          <p:nvPr>
            <p:ph idx="102" type="title" hasCustomPrompt="1"/>
          </p:nvPr>
        </p:nvSpPr>
        <p:spPr>
          <a:xfrm>
            <a:off x="548640" y="347472"/>
            <a:ext cx="11091672" cy="777240"/>
          </a:xfrm>
          <a:prstGeom prst="rect">
            <a:avLst/>
          </a:prstGeom>
          <a:noFill/>
          <a:ln/>
        </p:spPr>
        <p:txBody>
          <a:bodyPr wrap="square" rtlCol="0"/>
          <a:lstStyle>
            <a:lvl1pPr rtl="1" algn="r" indent="0" marL="0">
              <a:buNone/>
              <a:defRPr lang="ar-AE" altLang="en-US" sz="3200" b="1" dirty="0">
                <a:solidFill>
                  <a:schemeClr val="accent1"/>
                </a:solidFill>
              </a:defRPr>
            </a:lvl1pPr>
          </a:lstStyle>
          <a:p>
            <a:pPr algn="r" indent="0" marL="0">
              <a:buNone/>
            </a:pPr>
            <a:endParaRPr lang="ar-AE" sz="3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2263F"/>
        </a:solidFill>
      </p:bgPr>
    </p:bg>
    <p:spTree>
      <p:nvGrpSpPr>
        <p:cNvPr id="1" name=""/>
        <p:cNvGrpSpPr/>
        <p:nvPr/>
      </p:nvGrpSpPr>
      <p:grpSpPr>
        <a:xfrm>
          <a:off x="0" y="0"/>
          <a:ext cx="0" cy="0"/>
          <a:chOff x="0" y="0"/>
          <a:chExt cx="0" cy="0"/>
        </a:xfrm>
      </p:grpSpPr>
      <p:pic>
        <p:nvPicPr>
          <p:cNvPr id="2" name="Image 0" descr="/tmp/claude-0/-home-user/11b98046-3116-585b-b221-e5c2e170e62a/scratchpad/deck/assets/sadu.png">    </p:cNvPr>
          <p:cNvPicPr>
            <a:picLocks noChangeAspect="1"/>
          </p:cNvPicPr>
          <p:nvPr/>
        </p:nvPicPr>
        <p:blipFill>
          <a:blip r:embed="rId1"/>
          <a:stretch>
            <a:fillRect/>
          </a:stretch>
        </p:blipFill>
        <p:spPr>
          <a:xfrm>
            <a:off x="0" y="6583680"/>
            <a:ext cx="12191695" cy="27432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lstStyle>
            <a:lvl1pPr rtl="1" algn="r" indent="0" marL="0">
              <a:buNone/>
              <a:defRPr lang="ar-AE" altLang="en-US" sz="4000" b="1" dirty="0">
                <a:solidFill>
                  <a:schemeClr val="bg1"/>
                </a:solidFill>
              </a:defRPr>
            </a:lvl1pPr>
          </a:lstStyle>
          <a:p>
            <a:pPr algn="r" indent="0" marL="0">
              <a:buNone/>
            </a:pP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lstStyle>
            <a:lvl1pPr rtl="1" algn="r" indent="0" marL="0">
              <a:buNone/>
              <a:defRPr lang="ar-AE" altLang="en-US" sz="1800" dirty="0">
                <a:solidFill>
                  <a:srgbClr val="D9E4F0"/>
                </a:solidFill>
              </a:defRPr>
            </a:lvl1pPr>
          </a:lstStyle>
          <a:p>
            <a:pPr algn="r" indent="0" marL="0">
              <a:buNone/>
            </a:pPr>
            <a:endParaRPr lang="ar-AE"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2263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Noto Naskh Arabic"/>
          <a:ea typeface="Noto Naskh Arabic"/>
          <a:cs typeface="adwa-assalaf"/>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Noto Naskh Arabic"/>
          <a:ea typeface="Noto Naskh Arabic"/>
          <a:cs typeface="adwa-assalaf"/>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Noto Naskh Arabic"/>
          <a:ea typeface="Noto Naskh Arabic"/>
          <a:cs typeface="adwa-assalaf"/>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Noto Naskh Arabic"/>
          <a:ea typeface="Noto Naskh Arabic"/>
          <a:cs typeface="adwa-assalaf"/>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Noto Naskh Arabic"/>
          <a:ea typeface="Noto Naskh Arabic"/>
          <a:cs typeface="adwa-assalaf"/>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Noto Naskh Arabic"/>
          <a:ea typeface="Noto Naskh Arabic"/>
          <a:cs typeface="adwa-assalaf"/>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Noto Naskh Arabic"/>
          <a:ea typeface="Noto Naskh Arabic"/>
          <a:cs typeface="adwa-assalaf"/>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Noto Naskh Arabic"/>
          <a:ea typeface="Noto Naskh Arabic"/>
          <a:cs typeface="adwa-assalaf"/>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Noto Naskh Arabic"/>
          <a:ea typeface="Noto Naskh Arabic"/>
          <a:cs typeface="adwa-assalaf"/>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Noto Naskh Arabic"/>
          <a:ea typeface="Noto Naskh Arabic"/>
          <a:cs typeface="adwa-assalaf"/>
        </a:defRPr>
      </a:lvl9pPr>
    </p:bodyStyle>
    <p:otherStyle>
      <a:defPPr>
        <a:defRPr lang="en-US"/>
      </a:defPPr>
      <a:lvl1pPr marL="0" algn="l" defTabSz="914400" rtl="0" eaLnBrk="1" latinLnBrk="0" hangingPunct="1">
        <a:defRPr sz="1800" kern="1200">
          <a:solidFill>
            <a:schemeClr val="tx1"/>
          </a:solidFill>
          <a:latin typeface="Noto Naskh Arabic"/>
          <a:ea typeface="Noto Naskh Arabic"/>
          <a:cs typeface="adwa-assalaf"/>
        </a:defRPr>
      </a:lvl1pPr>
      <a:lvl2pPr marL="457200" algn="l" defTabSz="914400" rtl="0" eaLnBrk="1" latinLnBrk="0" hangingPunct="1">
        <a:defRPr sz="1800" kern="1200">
          <a:solidFill>
            <a:schemeClr val="tx1"/>
          </a:solidFill>
          <a:latin typeface="Noto Naskh Arabic"/>
          <a:ea typeface="Noto Naskh Arabic"/>
          <a:cs typeface="adwa-assalaf"/>
        </a:defRPr>
      </a:lvl2pPr>
      <a:lvl3pPr marL="914400" algn="l" defTabSz="914400" rtl="0" eaLnBrk="1" latinLnBrk="0" hangingPunct="1">
        <a:defRPr sz="1800" kern="1200">
          <a:solidFill>
            <a:schemeClr val="tx1"/>
          </a:solidFill>
          <a:latin typeface="Noto Naskh Arabic"/>
          <a:ea typeface="Noto Naskh Arabic"/>
          <a:cs typeface="adwa-assalaf"/>
        </a:defRPr>
      </a:lvl3pPr>
      <a:lvl4pPr marL="1371600" algn="l" defTabSz="914400" rtl="0" eaLnBrk="1" latinLnBrk="0" hangingPunct="1">
        <a:defRPr sz="1800" kern="1200">
          <a:solidFill>
            <a:schemeClr val="tx1"/>
          </a:solidFill>
          <a:latin typeface="Noto Naskh Arabic"/>
          <a:ea typeface="Noto Naskh Arabic"/>
          <a:cs typeface="adwa-assalaf"/>
        </a:defRPr>
      </a:lvl4pPr>
      <a:lvl5pPr marL="1828800" algn="l" defTabSz="914400" rtl="0" eaLnBrk="1" latinLnBrk="0" hangingPunct="1">
        <a:defRPr sz="1800" kern="1200">
          <a:solidFill>
            <a:schemeClr val="tx1"/>
          </a:solidFill>
          <a:latin typeface="Noto Naskh Arabic"/>
          <a:ea typeface="Noto Naskh Arabic"/>
          <a:cs typeface="adwa-assalaf"/>
        </a:defRPr>
      </a:lvl5pPr>
      <a:lvl6pPr marL="2286000" algn="l" defTabSz="914400" rtl="0" eaLnBrk="1" latinLnBrk="0" hangingPunct="1">
        <a:defRPr sz="1800" kern="1200">
          <a:solidFill>
            <a:schemeClr val="tx1"/>
          </a:solidFill>
          <a:latin typeface="Noto Naskh Arabic"/>
          <a:ea typeface="Noto Naskh Arabic"/>
          <a:cs typeface="adwa-assalaf"/>
        </a:defRPr>
      </a:lvl6pPr>
      <a:lvl7pPr marL="2743200" algn="l" defTabSz="914400" rtl="0" eaLnBrk="1" latinLnBrk="0" hangingPunct="1">
        <a:defRPr sz="1800" kern="1200">
          <a:solidFill>
            <a:schemeClr val="tx1"/>
          </a:solidFill>
          <a:latin typeface="Noto Naskh Arabic"/>
          <a:ea typeface="Noto Naskh Arabic"/>
          <a:cs typeface="adwa-assalaf"/>
        </a:defRPr>
      </a:lvl7pPr>
      <a:lvl8pPr marL="3200400" algn="l" defTabSz="914400" rtl="0" eaLnBrk="1" latinLnBrk="0" hangingPunct="1">
        <a:defRPr sz="1800" kern="1200">
          <a:solidFill>
            <a:schemeClr val="tx1"/>
          </a:solidFill>
          <a:latin typeface="Noto Naskh Arabic"/>
          <a:ea typeface="Noto Naskh Arabic"/>
          <a:cs typeface="adwa-assalaf"/>
        </a:defRPr>
      </a:lvl8pPr>
      <a:lvl9pPr marL="3657600" algn="l" defTabSz="914400" rtl="0" eaLnBrk="1" latinLnBrk="0" hangingPunct="1">
        <a:defRPr sz="1800" kern="1200">
          <a:solidFill>
            <a:schemeClr val="tx1"/>
          </a:solidFill>
          <a:latin typeface="Noto Naskh Arabic"/>
          <a:ea typeface="Noto Naskh Arabic"/>
          <a:cs typeface="adwa-assalaf"/>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art" descr="/tmp/claude-0/-home-user/11b98046-3116-585b-b221-e5c2e170e62a/scratchpad/deck/assets/photos/hero.jpg">    </p:cNvPr>
          <p:cNvPicPr>
            <a:picLocks noChangeAspect="1"/>
          </p:cNvPicPr>
          <p:nvPr/>
        </p:nvPicPr>
        <p:blipFill>
          <a:blip r:embed="rId1"/>
          <a:srcRect l="0" r="0" t="0" b="0"/>
          <a:stretch/>
        </p:blipFill>
        <p:spPr>
          <a:xfrm>
            <a:off x="0" y="0"/>
            <a:ext cx="12191695" cy="6858000"/>
          </a:xfrm>
          <a:prstGeom prst="rect">
            <a:avLst/>
          </a:prstGeom>
        </p:spPr>
      </p:pic>
      <p:sp>
        <p:nvSpPr>
          <p:cNvPr id="3" name="concept-label"/>
          <p:cNvSpPr txBox="1"/>
          <p:nvPr/>
        </p:nvSpPr>
        <p:spPr>
          <a:xfrm>
            <a:off x="320040" y="274320"/>
            <a:ext cx="1737360" cy="329184"/>
          </a:xfrm>
          <a:prstGeom prst="rect">
            <a:avLst/>
          </a:prstGeom>
          <a:solidFill>
            <a:srgbClr val="12263F">
              <a:alpha val="70000"/>
            </a:srgbClr>
          </a:solidFill>
          <a:ln/>
        </p:spPr>
        <p:txBody>
          <a:bodyPr wrap="square" lIns="0" tIns="0" rIns="0" bIns="0" rtlCol="0" anchor="ctr"/>
          <a:lstStyle/>
          <a:p>
            <a:pPr rtl="1" algn="ctr" indent="0" marL="0">
              <a:buNone/>
            </a:pPr>
            <a:r>
              <a:rPr lang="ar-AE" altLang="en-US" sz="1100" dirty="0">
                <a:solidFill>
                  <a:srgbClr val="FFFFFF"/>
                </a:solidFill>
                <a:latin typeface="Noto Naskh Arabic"/>
                <a:cs typeface="adwa-assalaf"/>
              </a:rPr>
              <a:t>إعادة بناء تصورية</a:t>
            </a:r>
            <a:endParaRPr lang="ar-AE" sz="1100" dirty="0"/>
          </a:p>
        </p:txBody>
      </p:sp>
      <p:sp>
        <p:nvSpPr>
          <p:cNvPr id="4" name="cover-veil"/>
          <p:cNvSpPr/>
          <p:nvPr/>
        </p:nvSpPr>
        <p:spPr>
          <a:xfrm>
            <a:off x="5669280" y="0"/>
            <a:ext cx="6522415" cy="6858000"/>
          </a:xfrm>
          <a:prstGeom prst="rect">
            <a:avLst/>
          </a:prstGeom>
          <a:solidFill>
            <a:srgbClr val="12263F">
              <a:alpha val="82000"/>
            </a:srgbClr>
          </a:solidFill>
          <a:ln w="12700">
            <a:solidFill>
              <a:srgbClr val="12263F">
                <a:alpha val="0"/>
              </a:srgbClr>
            </a:solidFill>
            <a:prstDash val="solid"/>
          </a:ln>
        </p:spPr>
      </p:sp>
      <p:pic>
        <p:nvPicPr>
          <p:cNvPr id="5" name="Image 1" descr="/tmp/claude-0/-home-user/11b98046-3116-585b-b221-e5c2e170e62a/scratchpad/deck/assets/logo.png">    </p:cNvPr>
          <p:cNvPicPr>
            <a:picLocks noChangeAspect="1"/>
          </p:cNvPicPr>
          <p:nvPr/>
        </p:nvPicPr>
        <p:blipFill>
          <a:blip r:embed="rId2"/>
          <a:stretch>
            <a:fillRect/>
          </a:stretch>
        </p:blipFill>
        <p:spPr>
          <a:xfrm>
            <a:off x="10469880" y="822960"/>
            <a:ext cx="1143000" cy="1143000"/>
          </a:xfrm>
          <a:prstGeom prst="rect">
            <a:avLst/>
          </a:prstGeom>
        </p:spPr>
      </p:pic>
      <p:sp>
        <p:nvSpPr>
          <p:cNvPr id="6" name="Text 2"/>
          <p:cNvSpPr txBox="1"/>
          <p:nvPr/>
        </p:nvSpPr>
        <p:spPr>
          <a:xfrm>
            <a:off x="6126480" y="2103120"/>
            <a:ext cx="5486400" cy="1005840"/>
          </a:xfrm>
          <a:prstGeom prst="rect">
            <a:avLst/>
          </a:prstGeom>
          <a:noFill/>
          <a:ln/>
        </p:spPr>
        <p:txBody>
          <a:bodyPr wrap="square" lIns="0" tIns="0" rIns="0" bIns="0" rtlCol="0" anchor="ctr"/>
          <a:lstStyle/>
          <a:p>
            <a:pPr rtl="1" algn="r" indent="0" marL="0">
              <a:buNone/>
            </a:pPr>
            <a:r>
              <a:rPr lang="ar-AE" altLang="en-US" sz="6000" b="1" dirty="0">
                <a:solidFill>
                  <a:schemeClr val="bg1"/>
                </a:solidFill>
                <a:latin typeface="Noto Naskh Arabic"/>
                <a:cs typeface="adwa-assalaf"/>
              </a:rPr>
              <a:t>تراث</a:t>
            </a:r>
            <a:endParaRPr lang="ar-AE" sz="6000" dirty="0"/>
          </a:p>
        </p:txBody>
      </p:sp>
      <p:sp>
        <p:nvSpPr>
          <p:cNvPr id="7" name="Text 3"/>
          <p:cNvSpPr txBox="1"/>
          <p:nvPr/>
        </p:nvSpPr>
        <p:spPr>
          <a:xfrm>
            <a:off x="6126480" y="3154680"/>
            <a:ext cx="5486400" cy="640080"/>
          </a:xfrm>
          <a:prstGeom prst="rect">
            <a:avLst/>
          </a:prstGeom>
          <a:noFill/>
          <a:ln/>
        </p:spPr>
        <p:txBody>
          <a:bodyPr wrap="square" lIns="0" tIns="0" rIns="0" bIns="0" rtlCol="0" anchor="ctr"/>
          <a:lstStyle/>
          <a:p>
            <a:pPr rtl="1" algn="r" indent="0" marL="0">
              <a:buNone/>
            </a:pPr>
            <a:r>
              <a:rPr lang="ar-AE" altLang="en-US" sz="2600" dirty="0">
                <a:solidFill>
                  <a:srgbClr val="F0D58A"/>
                </a:solidFill>
                <a:latin typeface="Noto Naskh Arabic"/>
                <a:cs typeface="adwa-assalaf"/>
              </a:rPr>
              <a:t>دليل المنصة: الشاشات وطريقة الاستخدام</a:t>
            </a:r>
            <a:endParaRPr lang="ar-AE" sz="2600" dirty="0"/>
          </a:p>
        </p:txBody>
      </p:sp>
      <p:sp>
        <p:nvSpPr>
          <p:cNvPr id="8" name="Text 4"/>
          <p:cNvSpPr txBox="1"/>
          <p:nvPr/>
        </p:nvSpPr>
        <p:spPr>
          <a:xfrm>
            <a:off x="6126480" y="3886200"/>
            <a:ext cx="5486400" cy="457200"/>
          </a:xfrm>
          <a:prstGeom prst="rect">
            <a:avLst/>
          </a:prstGeom>
          <a:noFill/>
          <a:ln/>
        </p:spPr>
        <p:txBody>
          <a:bodyPr wrap="square" lIns="0" tIns="0" rIns="0" bIns="0" rtlCol="0" anchor="ctr"/>
          <a:lstStyle/>
          <a:p>
            <a:pPr rtl="1" algn="r" indent="0" marL="0">
              <a:buNone/>
            </a:pPr>
            <a:r>
              <a:rPr lang="ar-AE" altLang="en-US" sz="1800" dirty="0">
                <a:solidFill>
                  <a:srgbClr val="D9E4F0"/>
                </a:solidFill>
                <a:latin typeface="Noto Naskh Arabic"/>
                <a:cs typeface="adwa-assalaf"/>
              </a:rPr>
              <a:t>إدارة الدراسات والبحوث التراثية الإماراتية</a:t>
            </a:r>
            <a:endParaRPr lang="ar-AE" sz="1800" dirty="0"/>
          </a:p>
        </p:txBody>
      </p:sp>
      <p:sp>
        <p:nvSpPr>
          <p:cNvPr id="9" name="Text 5"/>
          <p:cNvSpPr txBox="1"/>
          <p:nvPr/>
        </p:nvSpPr>
        <p:spPr>
          <a:xfrm>
            <a:off x="6126480" y="5760720"/>
            <a:ext cx="5486400" cy="365760"/>
          </a:xfrm>
          <a:prstGeom prst="rect">
            <a:avLst/>
          </a:prstGeom>
          <a:noFill/>
          <a:ln/>
        </p:spPr>
        <p:txBody>
          <a:bodyPr wrap="square" lIns="0" tIns="0" rIns="0" bIns="0" rtlCol="0" anchor="ctr"/>
          <a:lstStyle/>
          <a:p>
            <a:pPr rtl="1" algn="r" indent="0" marL="0">
              <a:buNone/>
            </a:pPr>
            <a:r>
              <a:rPr lang="ar-AE" altLang="en-US" sz="1300" dirty="0">
                <a:solidFill>
                  <a:srgbClr val="AFC2D6"/>
                </a:solidFill>
                <a:latin typeface="Noto Naskh Arabic"/>
                <a:cs typeface="adwa-assalaf"/>
              </a:rPr>
              <a:t>الإصدار 1.5 · أكتوبر 2026</a:t>
            </a:r>
            <a:endParaRPr lang="ar-AE" sz="1300" dirty="0"/>
          </a:p>
        </p:txBody>
      </p:sp>
      <p:pic>
        <p:nvPicPr>
          <p:cNvPr id="10" name="Image 2" descr="/tmp/claude-0/-home-user/11b98046-3116-585b-b221-e5c2e170e62a/scratchpad/deck/assets/sadu.png">    </p:cNvPr>
          <p:cNvPicPr>
            <a:picLocks noChangeAspect="1"/>
          </p:cNvPicPr>
          <p:nvPr/>
        </p:nvPicPr>
        <p:blipFill>
          <a:blip r:embed="rId3"/>
          <a:stretch>
            <a:fillRect/>
          </a:stretch>
        </p:blipFill>
        <p:spPr>
          <a:xfrm>
            <a:off x="0" y="6583680"/>
            <a:ext cx="12191695" cy="2743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مؤسسة بحثية رقمية لتراث الإمارات</a:t>
            </a:r>
            <a:endParaRPr lang="ar-AE" sz="3200" dirty="0"/>
          </a:p>
        </p:txBody>
      </p:sp>
      <p:pic>
        <p:nvPicPr>
          <p:cNvPr id="3" name="intro-art" descr="/tmp/claude-0/-home-user/11b98046-3116-585b-b221-e5c2e170e62a/scratchpad/deck/assets/photos/urban.jpg">    </p:cNvPr>
          <p:cNvPicPr>
            <a:picLocks noChangeAspect="1"/>
          </p:cNvPicPr>
          <p:nvPr/>
        </p:nvPicPr>
        <p:blipFill>
          <a:blip r:embed="rId1"/>
          <a:srcRect l="0" r="0" t="0" b="0"/>
          <a:stretch/>
        </p:blipFill>
        <p:spPr>
          <a:xfrm>
            <a:off x="548640" y="1325880"/>
            <a:ext cx="4754880" cy="2971800"/>
          </a:xfrm>
          <a:prstGeom prst="rect">
            <a:avLst/>
          </a:prstGeom>
        </p:spPr>
      </p:pic>
      <p:sp>
        <p:nvSpPr>
          <p:cNvPr id="4" name="Text 1"/>
          <p:cNvSpPr txBox="1"/>
          <p:nvPr/>
        </p:nvSpPr>
        <p:spPr>
          <a:xfrm>
            <a:off x="5669280" y="1371600"/>
            <a:ext cx="5971032" cy="1188720"/>
          </a:xfrm>
          <a:prstGeom prst="rect">
            <a:avLst/>
          </a:prstGeom>
          <a:noFill/>
          <a:ln/>
        </p:spPr>
        <p:txBody>
          <a:bodyPr wrap="square" lIns="0" tIns="0" rIns="0" bIns="0" rtlCol="0" anchor="ctr"/>
          <a:lstStyle/>
          <a:p>
            <a:pPr rtl="1" algn="r" indent="0" marL="0">
              <a:buNone/>
            </a:pPr>
            <a:r>
              <a:rPr lang="ar-AE" altLang="en-US" sz="1700" dirty="0">
                <a:solidFill>
                  <a:schemeClr val="tx1"/>
                </a:solidFill>
                <a:latin typeface="Noto Naskh Arabic"/>
                <a:cs typeface="adwa-assalaf"/>
              </a:rPr>
              <a:t>ليست مولّد نصوص عن التراث، بل منظومة عاملة للبحث والتحقيق والجمع الميداني والتوثيق والتحليل والنشر، تحفظ الأدلة الأولية وتربط كل استنتاج علمي بأصله.</a:t>
            </a:r>
            <a:endParaRPr lang="ar-AE" sz="1700" dirty="0"/>
          </a:p>
        </p:txBody>
      </p:sp>
      <p:sp>
        <p:nvSpPr>
          <p:cNvPr id="5" name="icon-database"/>
          <p:cNvSpPr/>
          <p:nvPr/>
        </p:nvSpPr>
        <p:spPr>
          <a:xfrm>
            <a:off x="10680192" y="2788920"/>
            <a:ext cx="548640" cy="548640"/>
          </a:xfrm>
          <a:prstGeom prst="ellipse">
            <a:avLst/>
          </a:prstGeom>
          <a:solidFill>
            <a:schemeClr val="accent1"/>
          </a:solidFill>
          <a:ln w="12700">
            <a:solidFill>
              <a:schemeClr val="accent1"/>
            </a:solidFill>
            <a:prstDash val="solid"/>
          </a:ln>
        </p:spPr>
      </p:sp>
      <p:pic>
        <p:nvPicPr>
          <p:cNvPr id="6" name="Image 1" descr="/tmp/claude-0/-home-user/11b98046-3116-585b-b221-e5c2e170e62a/scratchpad/deck/assets/i-database.png">    </p:cNvPr>
          <p:cNvPicPr>
            <a:picLocks noChangeAspect="1"/>
          </p:cNvPicPr>
          <p:nvPr/>
        </p:nvPicPr>
        <p:blipFill>
          <a:blip r:embed="rId2"/>
          <a:stretch>
            <a:fillRect/>
          </a:stretch>
        </p:blipFill>
        <p:spPr>
          <a:xfrm>
            <a:off x="10817352" y="2926080"/>
            <a:ext cx="274320" cy="274320"/>
          </a:xfrm>
          <a:prstGeom prst="rect">
            <a:avLst/>
          </a:prstGeom>
        </p:spPr>
      </p:pic>
      <p:sp>
        <p:nvSpPr>
          <p:cNvPr id="7" name="Text 3"/>
          <p:cNvSpPr txBox="1"/>
          <p:nvPr/>
        </p:nvSpPr>
        <p:spPr>
          <a:xfrm>
            <a:off x="10222992"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latin typeface="Calibri" pitchFamily="34" charset="0"/>
                <a:ea typeface="Calibri" pitchFamily="34" charset="-122"/>
                <a:cs typeface="Calibri" pitchFamily="34" charset="-120"/>
              </a:rPr>
              <a:t>39</a:t>
            </a:r>
            <a:endParaRPr lang="ar-AE" sz="3000" dirty="0"/>
          </a:p>
        </p:txBody>
      </p:sp>
      <p:sp>
        <p:nvSpPr>
          <p:cNvPr id="8" name="Text 4"/>
          <p:cNvSpPr txBox="1"/>
          <p:nvPr/>
        </p:nvSpPr>
        <p:spPr>
          <a:xfrm>
            <a:off x="10222992"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latin typeface="Noto Naskh Arabic"/>
                <a:cs typeface="adwa-assalaf"/>
              </a:rPr>
              <a:t>جدولاً في الأرشيف المعرفي</a:t>
            </a:r>
            <a:endParaRPr lang="ar-AE" sz="1200" dirty="0"/>
          </a:p>
        </p:txBody>
      </p:sp>
      <p:sp>
        <p:nvSpPr>
          <p:cNvPr id="9" name="icon-people"/>
          <p:cNvSpPr/>
          <p:nvPr/>
        </p:nvSpPr>
        <p:spPr>
          <a:xfrm>
            <a:off x="9162288" y="2788920"/>
            <a:ext cx="548640" cy="548640"/>
          </a:xfrm>
          <a:prstGeom prst="ellipse">
            <a:avLst/>
          </a:prstGeom>
          <a:solidFill>
            <a:schemeClr val="accent3"/>
          </a:solidFill>
          <a:ln w="12700">
            <a:solidFill>
              <a:schemeClr val="accent3"/>
            </a:solidFill>
            <a:prstDash val="solid"/>
          </a:ln>
        </p:spPr>
      </p:sp>
      <p:pic>
        <p:nvPicPr>
          <p:cNvPr id="10" name="Image 2" descr="/tmp/claude-0/-home-user/11b98046-3116-585b-b221-e5c2e170e62a/scratchpad/deck/assets/i-people.png">    </p:cNvPr>
          <p:cNvPicPr>
            <a:picLocks noChangeAspect="1"/>
          </p:cNvPicPr>
          <p:nvPr/>
        </p:nvPicPr>
        <p:blipFill>
          <a:blip r:embed="rId3"/>
          <a:stretch>
            <a:fillRect/>
          </a:stretch>
        </p:blipFill>
        <p:spPr>
          <a:xfrm>
            <a:off x="9299448" y="2926080"/>
            <a:ext cx="274320" cy="274320"/>
          </a:xfrm>
          <a:prstGeom prst="rect">
            <a:avLst/>
          </a:prstGeom>
        </p:spPr>
      </p:pic>
      <p:sp>
        <p:nvSpPr>
          <p:cNvPr id="11" name="Text 6"/>
          <p:cNvSpPr txBox="1"/>
          <p:nvPr/>
        </p:nvSpPr>
        <p:spPr>
          <a:xfrm>
            <a:off x="8705088"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latin typeface="Calibri" pitchFamily="34" charset="0"/>
                <a:ea typeface="Calibri" pitchFamily="34" charset="-122"/>
                <a:cs typeface="Calibri" pitchFamily="34" charset="-120"/>
              </a:rPr>
              <a:t>20</a:t>
            </a:r>
            <a:endParaRPr lang="ar-AE" sz="3000" dirty="0"/>
          </a:p>
        </p:txBody>
      </p:sp>
      <p:sp>
        <p:nvSpPr>
          <p:cNvPr id="12" name="Text 7"/>
          <p:cNvSpPr txBox="1"/>
          <p:nvPr/>
        </p:nvSpPr>
        <p:spPr>
          <a:xfrm>
            <a:off x="8705088"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latin typeface="Noto Naskh Arabic"/>
                <a:cs typeface="adwa-assalaf"/>
              </a:rPr>
              <a:t>وكيلاً ببطاقات تشغيلية</a:t>
            </a:r>
            <a:endParaRPr lang="ar-AE" sz="1200" dirty="0"/>
          </a:p>
        </p:txBody>
      </p:sp>
      <p:sp>
        <p:nvSpPr>
          <p:cNvPr id="13" name="icon-star"/>
          <p:cNvSpPr/>
          <p:nvPr/>
        </p:nvSpPr>
        <p:spPr>
          <a:xfrm>
            <a:off x="7644384" y="2788920"/>
            <a:ext cx="548640" cy="548640"/>
          </a:xfrm>
          <a:prstGeom prst="ellipse">
            <a:avLst/>
          </a:prstGeom>
          <a:solidFill>
            <a:schemeClr val="accent5"/>
          </a:solidFill>
          <a:ln w="12700">
            <a:solidFill>
              <a:schemeClr val="accent5"/>
            </a:solidFill>
            <a:prstDash val="solid"/>
          </a:ln>
        </p:spPr>
      </p:sp>
      <p:pic>
        <p:nvPicPr>
          <p:cNvPr id="14" name="Image 3" descr="/tmp/claude-0/-home-user/11b98046-3116-585b-b221-e5c2e170e62a/scratchpad/deck/assets/i-star.png">    </p:cNvPr>
          <p:cNvPicPr>
            <a:picLocks noChangeAspect="1"/>
          </p:cNvPicPr>
          <p:nvPr/>
        </p:nvPicPr>
        <p:blipFill>
          <a:blip r:embed="rId4"/>
          <a:stretch>
            <a:fillRect/>
          </a:stretch>
        </p:blipFill>
        <p:spPr>
          <a:xfrm>
            <a:off x="7781544" y="2926080"/>
            <a:ext cx="274320" cy="274320"/>
          </a:xfrm>
          <a:prstGeom prst="rect">
            <a:avLst/>
          </a:prstGeom>
        </p:spPr>
      </p:pic>
      <p:sp>
        <p:nvSpPr>
          <p:cNvPr id="15" name="Text 9"/>
          <p:cNvSpPr txBox="1"/>
          <p:nvPr/>
        </p:nvSpPr>
        <p:spPr>
          <a:xfrm>
            <a:off x="7187184"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latin typeface="Calibri" pitchFamily="34" charset="0"/>
                <a:ea typeface="Calibri" pitchFamily="34" charset="-122"/>
                <a:cs typeface="Calibri" pitchFamily="34" charset="-120"/>
              </a:rPr>
              <a:t>14</a:t>
            </a:r>
            <a:endParaRPr lang="ar-AE" sz="3000" dirty="0"/>
          </a:p>
        </p:txBody>
      </p:sp>
      <p:sp>
        <p:nvSpPr>
          <p:cNvPr id="16" name="Text 10"/>
          <p:cNvSpPr txBox="1"/>
          <p:nvPr/>
        </p:nvSpPr>
        <p:spPr>
          <a:xfrm>
            <a:off x="7187184"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latin typeface="Noto Naskh Arabic"/>
                <a:cs typeface="adwa-assalaf"/>
              </a:rPr>
              <a:t>مهارة قابلة للاستدعاء</a:t>
            </a:r>
            <a:endParaRPr lang="ar-AE" sz="1200" dirty="0"/>
          </a:p>
        </p:txBody>
      </p:sp>
      <p:sp>
        <p:nvSpPr>
          <p:cNvPr id="17" name="icon-gate"/>
          <p:cNvSpPr/>
          <p:nvPr/>
        </p:nvSpPr>
        <p:spPr>
          <a:xfrm>
            <a:off x="6126480" y="2788920"/>
            <a:ext cx="548640" cy="548640"/>
          </a:xfrm>
          <a:prstGeom prst="ellipse">
            <a:avLst/>
          </a:prstGeom>
          <a:solidFill>
            <a:schemeClr val="accent2"/>
          </a:solidFill>
          <a:ln w="12700">
            <a:solidFill>
              <a:schemeClr val="accent2"/>
            </a:solidFill>
            <a:prstDash val="solid"/>
          </a:ln>
        </p:spPr>
      </p:sp>
      <p:pic>
        <p:nvPicPr>
          <p:cNvPr id="18" name="Image 4" descr="/tmp/claude-0/-home-user/11b98046-3116-585b-b221-e5c2e170e62a/scratchpad/deck/assets/i-gate.png">    </p:cNvPr>
          <p:cNvPicPr>
            <a:picLocks noChangeAspect="1"/>
          </p:cNvPicPr>
          <p:nvPr/>
        </p:nvPicPr>
        <p:blipFill>
          <a:blip r:embed="rId5"/>
          <a:stretch>
            <a:fillRect/>
          </a:stretch>
        </p:blipFill>
        <p:spPr>
          <a:xfrm>
            <a:off x="6263640" y="2926080"/>
            <a:ext cx="274320" cy="274320"/>
          </a:xfrm>
          <a:prstGeom prst="rect">
            <a:avLst/>
          </a:prstGeom>
        </p:spPr>
      </p:pic>
      <p:sp>
        <p:nvSpPr>
          <p:cNvPr id="19" name="Text 12"/>
          <p:cNvSpPr txBox="1"/>
          <p:nvPr/>
        </p:nvSpPr>
        <p:spPr>
          <a:xfrm>
            <a:off x="5669280"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latin typeface="Calibri" pitchFamily="34" charset="0"/>
                <a:ea typeface="Calibri" pitchFamily="34" charset="-122"/>
                <a:cs typeface="Calibri" pitchFamily="34" charset="-120"/>
              </a:rPr>
              <a:t>16</a:t>
            </a:r>
            <a:endParaRPr lang="ar-AE" sz="3000" dirty="0"/>
          </a:p>
        </p:txBody>
      </p:sp>
      <p:sp>
        <p:nvSpPr>
          <p:cNvPr id="20" name="Text 13"/>
          <p:cNvSpPr txBox="1"/>
          <p:nvPr/>
        </p:nvSpPr>
        <p:spPr>
          <a:xfrm>
            <a:off x="5669280"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latin typeface="Noto Naskh Arabic"/>
                <a:cs typeface="adwa-assalaf"/>
              </a:rPr>
              <a:t>مرحلة ببوابات جودة</a:t>
            </a:r>
            <a:endParaRPr lang="ar-AE" sz="1200" dirty="0"/>
          </a:p>
        </p:txBody>
      </p:sp>
      <p:sp>
        <p:nvSpPr>
          <p:cNvPr id="21" name="Text 14"/>
          <p:cNvSpPr txBox="1"/>
          <p:nvPr/>
        </p:nvSpPr>
        <p:spPr>
          <a:xfrm>
            <a:off x="548640" y="4617720"/>
            <a:ext cx="11091672" cy="365760"/>
          </a:xfrm>
          <a:prstGeom prst="rect">
            <a:avLst/>
          </a:prstGeom>
          <a:noFill/>
          <a:ln/>
        </p:spPr>
        <p:txBody>
          <a:bodyPr wrap="square" lIns="0" tIns="0" rIns="0" bIns="0" rtlCol="0" anchor="ctr"/>
          <a:lstStyle/>
          <a:p>
            <a:pPr rtl="1" algn="r" indent="0" marL="0">
              <a:buNone/>
            </a:pPr>
            <a:r>
              <a:rPr lang="ar-AE" altLang="en-US" sz="1600" b="1" dirty="0">
                <a:solidFill>
                  <a:schemeClr val="accent1"/>
                </a:solidFill>
                <a:latin typeface="Noto Naskh Arabic"/>
                <a:cs typeface="adwa-assalaf"/>
              </a:rPr>
              <a:t>المبادئ غير القابلة للتفاوض</a:t>
            </a:r>
            <a:endParaRPr lang="ar-AE" sz="1600" dirty="0"/>
          </a:p>
        </p:txBody>
      </p:sp>
      <p:sp>
        <p:nvSpPr>
          <p:cNvPr id="22" name="principle-0"/>
          <p:cNvSpPr/>
          <p:nvPr/>
        </p:nvSpPr>
        <p:spPr>
          <a:xfrm>
            <a:off x="9509760" y="5074920"/>
            <a:ext cx="2103120" cy="566928"/>
          </a:xfrm>
          <a:prstGeom prst="roundRect">
            <a:avLst>
              <a:gd name="adj" fmla="val 19355"/>
            </a:avLst>
          </a:prstGeom>
          <a:solidFill>
            <a:srgbClr val="EEF3F8"/>
          </a:solidFill>
          <a:ln w="12700">
            <a:solidFill>
              <a:srgbClr val="D9E1EA"/>
            </a:solidFill>
            <a:prstDash val="solid"/>
          </a:ln>
        </p:spPr>
      </p:sp>
      <p:sp>
        <p:nvSpPr>
          <p:cNvPr id="23" name="Text 16"/>
          <p:cNvSpPr txBox="1"/>
          <p:nvPr/>
        </p:nvSpPr>
        <p:spPr>
          <a:xfrm>
            <a:off x="950976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latin typeface="Noto Naskh Arabic"/>
                <a:cs typeface="adwa-assalaf"/>
              </a:rPr>
              <a:t>صفر تلفيق</a:t>
            </a:r>
            <a:endParaRPr lang="ar-AE" sz="1400" dirty="0"/>
          </a:p>
        </p:txBody>
      </p:sp>
      <p:sp>
        <p:nvSpPr>
          <p:cNvPr id="24" name="principle-1"/>
          <p:cNvSpPr/>
          <p:nvPr/>
        </p:nvSpPr>
        <p:spPr>
          <a:xfrm>
            <a:off x="7269480" y="5074920"/>
            <a:ext cx="2103120" cy="566928"/>
          </a:xfrm>
          <a:prstGeom prst="roundRect">
            <a:avLst>
              <a:gd name="adj" fmla="val 19355"/>
            </a:avLst>
          </a:prstGeom>
          <a:solidFill>
            <a:srgbClr val="EEF3F8"/>
          </a:solidFill>
          <a:ln w="12700">
            <a:solidFill>
              <a:srgbClr val="D9E1EA"/>
            </a:solidFill>
            <a:prstDash val="solid"/>
          </a:ln>
        </p:spPr>
      </p:sp>
      <p:sp>
        <p:nvSpPr>
          <p:cNvPr id="25" name="Text 18"/>
          <p:cNvSpPr txBox="1"/>
          <p:nvPr/>
        </p:nvSpPr>
        <p:spPr>
          <a:xfrm>
            <a:off x="726948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latin typeface="Noto Naskh Arabic"/>
                <a:cs typeface="adwa-assalaf"/>
              </a:rPr>
              <a:t>الأرشيف هو المرجع</a:t>
            </a:r>
            <a:endParaRPr lang="ar-AE" sz="1400" dirty="0"/>
          </a:p>
        </p:txBody>
      </p:sp>
      <p:sp>
        <p:nvSpPr>
          <p:cNvPr id="26" name="principle-2"/>
          <p:cNvSpPr/>
          <p:nvPr/>
        </p:nvSpPr>
        <p:spPr>
          <a:xfrm>
            <a:off x="5029200" y="5074920"/>
            <a:ext cx="2103120" cy="566928"/>
          </a:xfrm>
          <a:prstGeom prst="roundRect">
            <a:avLst>
              <a:gd name="adj" fmla="val 19355"/>
            </a:avLst>
          </a:prstGeom>
          <a:solidFill>
            <a:srgbClr val="EEF3F8"/>
          </a:solidFill>
          <a:ln w="12700">
            <a:solidFill>
              <a:srgbClr val="D9E1EA"/>
            </a:solidFill>
            <a:prstDash val="solid"/>
          </a:ln>
        </p:spPr>
      </p:sp>
      <p:sp>
        <p:nvSpPr>
          <p:cNvPr id="27" name="Text 20"/>
          <p:cNvSpPr txBox="1"/>
          <p:nvPr/>
        </p:nvSpPr>
        <p:spPr>
          <a:xfrm>
            <a:off x="502920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latin typeface="Noto Naskh Arabic"/>
                <a:cs typeface="adwa-assalaf"/>
              </a:rPr>
              <a:t>اللفظ المحلي كما نُطق</a:t>
            </a:r>
            <a:endParaRPr lang="ar-AE" sz="1400" dirty="0"/>
          </a:p>
        </p:txBody>
      </p:sp>
      <p:sp>
        <p:nvSpPr>
          <p:cNvPr id="28" name="principle-3"/>
          <p:cNvSpPr/>
          <p:nvPr/>
        </p:nvSpPr>
        <p:spPr>
          <a:xfrm>
            <a:off x="2788920" y="5074920"/>
            <a:ext cx="2103120" cy="566928"/>
          </a:xfrm>
          <a:prstGeom prst="roundRect">
            <a:avLst>
              <a:gd name="adj" fmla="val 19355"/>
            </a:avLst>
          </a:prstGeom>
          <a:solidFill>
            <a:srgbClr val="EEF3F8"/>
          </a:solidFill>
          <a:ln w="12700">
            <a:solidFill>
              <a:srgbClr val="D9E1EA"/>
            </a:solidFill>
            <a:prstDash val="solid"/>
          </a:ln>
        </p:spPr>
      </p:sp>
      <p:sp>
        <p:nvSpPr>
          <p:cNvPr id="29" name="Text 22"/>
          <p:cNvSpPr txBox="1"/>
          <p:nvPr/>
        </p:nvSpPr>
        <p:spPr>
          <a:xfrm>
            <a:off x="278892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latin typeface="Noto Naskh Arabic"/>
                <a:cs typeface="adwa-assalaf"/>
              </a:rPr>
              <a:t>الاعتماد للإنسان</a:t>
            </a:r>
            <a:endParaRPr lang="ar-AE" sz="1400" dirty="0"/>
          </a:p>
        </p:txBody>
      </p:sp>
      <p:sp>
        <p:nvSpPr>
          <p:cNvPr id="30" name="principle-4"/>
          <p:cNvSpPr/>
          <p:nvPr/>
        </p:nvSpPr>
        <p:spPr>
          <a:xfrm>
            <a:off x="548640" y="5074920"/>
            <a:ext cx="2103120" cy="566928"/>
          </a:xfrm>
          <a:prstGeom prst="roundRect">
            <a:avLst>
              <a:gd name="adj" fmla="val 19355"/>
            </a:avLst>
          </a:prstGeom>
          <a:solidFill>
            <a:srgbClr val="EEF3F8"/>
          </a:solidFill>
          <a:ln w="12700">
            <a:solidFill>
              <a:srgbClr val="D9E1EA"/>
            </a:solidFill>
            <a:prstDash val="solid"/>
          </a:ln>
        </p:spPr>
      </p:sp>
      <p:sp>
        <p:nvSpPr>
          <p:cNvPr id="31" name="Text 24"/>
          <p:cNvSpPr txBox="1"/>
          <p:nvPr/>
        </p:nvSpPr>
        <p:spPr>
          <a:xfrm>
            <a:off x="54864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latin typeface="Noto Naskh Arabic"/>
                <a:cs typeface="adwa-assalaf"/>
              </a:rPr>
              <a:t>ما صُمّم غير ما نُفّذ</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خريطة هذا الدليل</a:t>
            </a:r>
            <a:endParaRPr lang="ar-AE" sz="3200" dirty="0"/>
          </a:p>
        </p:txBody>
      </p:sp>
      <p:sp>
        <p:nvSpPr>
          <p:cNvPr id="3" name="part-card-0"/>
          <p:cNvSpPr/>
          <p:nvPr/>
        </p:nvSpPr>
        <p:spPr>
          <a:xfrm>
            <a:off x="8046720" y="1371600"/>
            <a:ext cx="3520440" cy="466344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pic>
        <p:nvPicPr>
          <p:cNvPr id="4" name="Image 0" descr="/tmp/claude-0/-home-user/11b98046-3116-585b-b221-e5c2e170e62a/scratchpad/deck/assets/photos/material.jpg">    </p:cNvPr>
          <p:cNvPicPr>
            <a:picLocks noChangeAspect="1"/>
          </p:cNvPicPr>
          <p:nvPr/>
        </p:nvPicPr>
        <p:blipFill>
          <a:blip r:embed="rId1"/>
          <a:srcRect l="0" r="0" t="0" b="0"/>
          <a:stretch/>
        </p:blipFill>
        <p:spPr>
          <a:xfrm>
            <a:off x="8183880" y="1508760"/>
            <a:ext cx="3246120" cy="2011680"/>
          </a:xfrm>
          <a:prstGeom prst="rect">
            <a:avLst/>
          </a:prstGeom>
        </p:spPr>
      </p:pic>
      <p:sp>
        <p:nvSpPr>
          <p:cNvPr id="5" name="num-1"/>
          <p:cNvSpPr/>
          <p:nvPr/>
        </p:nvSpPr>
        <p:spPr>
          <a:xfrm>
            <a:off x="10972800" y="3749040"/>
            <a:ext cx="457200" cy="457200"/>
          </a:xfrm>
          <a:prstGeom prst="ellipse">
            <a:avLst/>
          </a:prstGeom>
          <a:solidFill>
            <a:schemeClr val="accent2"/>
          </a:solidFill>
          <a:ln w="12700">
            <a:solidFill>
              <a:schemeClr val="accent2"/>
            </a:solidFill>
            <a:prstDash val="solid"/>
          </a:ln>
        </p:spPr>
      </p:sp>
      <p:sp>
        <p:nvSpPr>
          <p:cNvPr id="6" name="Text 3"/>
          <p:cNvSpPr txBox="1"/>
          <p:nvPr/>
        </p:nvSpPr>
        <p:spPr>
          <a:xfrm>
            <a:off x="10972800" y="37490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275320" y="3730752"/>
            <a:ext cx="2606040" cy="502920"/>
          </a:xfrm>
          <a:prstGeom prst="rect">
            <a:avLst/>
          </a:prstGeom>
          <a:noFill/>
          <a:ln/>
        </p:spPr>
        <p:txBody>
          <a:bodyPr wrap="square" lIns="0" tIns="0" rIns="0" bIns="0" rtlCol="0" anchor="ctr"/>
          <a:lstStyle/>
          <a:p>
            <a:pPr rtl="1" algn="r" indent="0" marL="0">
              <a:buNone/>
            </a:pPr>
            <a:r>
              <a:rPr lang="ar-AE" altLang="en-US" sz="2200" b="1" dirty="0">
                <a:solidFill>
                  <a:schemeClr val="accent1"/>
                </a:solidFill>
                <a:latin typeface="Noto Naskh Arabic"/>
                <a:cs typeface="adwa-assalaf"/>
              </a:rPr>
              <a:t>البدء</a:t>
            </a:r>
            <a:endParaRPr lang="ar-AE" sz="2200" dirty="0"/>
          </a:p>
        </p:txBody>
      </p:sp>
      <p:sp>
        <p:nvSpPr>
          <p:cNvPr id="8" name="Text 5"/>
          <p:cNvSpPr txBox="1"/>
          <p:nvPr/>
        </p:nvSpPr>
        <p:spPr>
          <a:xfrm>
            <a:off x="8275320" y="4343400"/>
            <a:ext cx="3063240" cy="146304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التنصيب، والأيقونة، وأنماط التشغيل، ودليل البدء</a:t>
            </a:r>
            <a:endParaRPr lang="ar-AE" sz="1400" dirty="0"/>
          </a:p>
        </p:txBody>
      </p:sp>
      <p:sp>
        <p:nvSpPr>
          <p:cNvPr id="9" name="part-card-1"/>
          <p:cNvSpPr/>
          <p:nvPr/>
        </p:nvSpPr>
        <p:spPr>
          <a:xfrm>
            <a:off x="4297680" y="1371600"/>
            <a:ext cx="3520440" cy="466344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pic>
        <p:nvPicPr>
          <p:cNvPr id="10" name="Image 1" descr="/tmp/claude-0/-home-user/11b98046-3116-585b-b221-e5c2e170e62a/scratchpad/deck/assets/photos/contact.jpg">    </p:cNvPr>
          <p:cNvPicPr>
            <a:picLocks noChangeAspect="1"/>
          </p:cNvPicPr>
          <p:nvPr/>
        </p:nvPicPr>
        <p:blipFill>
          <a:blip r:embed="rId2"/>
          <a:srcRect l="0" r="0" t="0" b="0"/>
          <a:stretch/>
        </p:blipFill>
        <p:spPr>
          <a:xfrm>
            <a:off x="4434840" y="1508760"/>
            <a:ext cx="3246120" cy="2011680"/>
          </a:xfrm>
          <a:prstGeom prst="rect">
            <a:avLst/>
          </a:prstGeom>
        </p:spPr>
      </p:pic>
      <p:sp>
        <p:nvSpPr>
          <p:cNvPr id="11" name="num-2"/>
          <p:cNvSpPr/>
          <p:nvPr/>
        </p:nvSpPr>
        <p:spPr>
          <a:xfrm>
            <a:off x="7223760" y="3749040"/>
            <a:ext cx="457200" cy="457200"/>
          </a:xfrm>
          <a:prstGeom prst="ellipse">
            <a:avLst/>
          </a:prstGeom>
          <a:solidFill>
            <a:schemeClr val="accent2"/>
          </a:solidFill>
          <a:ln w="12700">
            <a:solidFill>
              <a:schemeClr val="accent2"/>
            </a:solidFill>
            <a:prstDash val="solid"/>
          </a:ln>
        </p:spPr>
      </p:sp>
      <p:sp>
        <p:nvSpPr>
          <p:cNvPr id="12" name="Text 8"/>
          <p:cNvSpPr txBox="1"/>
          <p:nvPr/>
        </p:nvSpPr>
        <p:spPr>
          <a:xfrm>
            <a:off x="7223760" y="37490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Text 9"/>
          <p:cNvSpPr txBox="1"/>
          <p:nvPr/>
        </p:nvSpPr>
        <p:spPr>
          <a:xfrm>
            <a:off x="4526280" y="3730752"/>
            <a:ext cx="2606040" cy="502920"/>
          </a:xfrm>
          <a:prstGeom prst="rect">
            <a:avLst/>
          </a:prstGeom>
          <a:noFill/>
          <a:ln/>
        </p:spPr>
        <p:txBody>
          <a:bodyPr wrap="square" lIns="0" tIns="0" rIns="0" bIns="0" rtlCol="0" anchor="ctr"/>
          <a:lstStyle/>
          <a:p>
            <a:pPr rtl="1" algn="r" indent="0" marL="0">
              <a:buNone/>
            </a:pPr>
            <a:r>
              <a:rPr lang="ar-AE" altLang="en-US" sz="2200" b="1" dirty="0">
                <a:solidFill>
                  <a:schemeClr val="accent1"/>
                </a:solidFill>
                <a:latin typeface="Noto Naskh Arabic"/>
                <a:cs typeface="adwa-assalaf"/>
              </a:rPr>
              <a:t>الشاشات</a:t>
            </a:r>
            <a:endParaRPr lang="ar-AE" sz="2200" dirty="0"/>
          </a:p>
        </p:txBody>
      </p:sp>
      <p:sp>
        <p:nvSpPr>
          <p:cNvPr id="14" name="Text 10"/>
          <p:cNvSpPr txBox="1"/>
          <p:nvPr/>
        </p:nvSpPr>
        <p:spPr>
          <a:xfrm>
            <a:off x="4526280" y="4343400"/>
            <a:ext cx="3063240" cy="146304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الرئيسية، والمشاريع، والسجلات، والخزنة، والمختبر، والأدلة، والوكلاء، والمهارات</a:t>
            </a:r>
            <a:endParaRPr lang="ar-AE" sz="1400" dirty="0"/>
          </a:p>
        </p:txBody>
      </p:sp>
      <p:sp>
        <p:nvSpPr>
          <p:cNvPr id="15" name="part-card-2"/>
          <p:cNvSpPr/>
          <p:nvPr/>
        </p:nvSpPr>
        <p:spPr>
          <a:xfrm>
            <a:off x="548640" y="1371600"/>
            <a:ext cx="3520440" cy="466344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pic>
        <p:nvPicPr>
          <p:cNvPr id="16" name="Image 2" descr="/tmp/claude-0/-home-user/11b98046-3116-585b-b221-e5c2e170e62a/scratchpad/deck/assets/photos/lab.jpg">    </p:cNvPr>
          <p:cNvPicPr>
            <a:picLocks noChangeAspect="1"/>
          </p:cNvPicPr>
          <p:nvPr/>
        </p:nvPicPr>
        <p:blipFill>
          <a:blip r:embed="rId3"/>
          <a:srcRect l="0" r="0" t="0" b="0"/>
          <a:stretch/>
        </p:blipFill>
        <p:spPr>
          <a:xfrm>
            <a:off x="685800" y="1508760"/>
            <a:ext cx="3246120" cy="2011680"/>
          </a:xfrm>
          <a:prstGeom prst="rect">
            <a:avLst/>
          </a:prstGeom>
        </p:spPr>
      </p:pic>
      <p:sp>
        <p:nvSpPr>
          <p:cNvPr id="17" name="num-3"/>
          <p:cNvSpPr/>
          <p:nvPr/>
        </p:nvSpPr>
        <p:spPr>
          <a:xfrm>
            <a:off x="3474720" y="3749040"/>
            <a:ext cx="457200" cy="457200"/>
          </a:xfrm>
          <a:prstGeom prst="ellipse">
            <a:avLst/>
          </a:prstGeom>
          <a:solidFill>
            <a:schemeClr val="accent2"/>
          </a:solidFill>
          <a:ln w="12700">
            <a:solidFill>
              <a:schemeClr val="accent2"/>
            </a:solidFill>
            <a:prstDash val="solid"/>
          </a:ln>
        </p:spPr>
      </p:sp>
      <p:sp>
        <p:nvSpPr>
          <p:cNvPr id="18" name="Text 13"/>
          <p:cNvSpPr txBox="1"/>
          <p:nvPr/>
        </p:nvSpPr>
        <p:spPr>
          <a:xfrm>
            <a:off x="3474720" y="37490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Text 14"/>
          <p:cNvSpPr txBox="1"/>
          <p:nvPr/>
        </p:nvSpPr>
        <p:spPr>
          <a:xfrm>
            <a:off x="777240" y="3730752"/>
            <a:ext cx="2606040" cy="502920"/>
          </a:xfrm>
          <a:prstGeom prst="rect">
            <a:avLst/>
          </a:prstGeom>
          <a:noFill/>
          <a:ln/>
        </p:spPr>
        <p:txBody>
          <a:bodyPr wrap="square" lIns="0" tIns="0" rIns="0" bIns="0" rtlCol="0" anchor="ctr"/>
          <a:lstStyle/>
          <a:p>
            <a:pPr rtl="1" algn="r" indent="0" marL="0">
              <a:buNone/>
            </a:pPr>
            <a:r>
              <a:rPr lang="ar-AE" altLang="en-US" sz="2200" b="1" dirty="0">
                <a:solidFill>
                  <a:schemeClr val="accent1"/>
                </a:solidFill>
                <a:latin typeface="Noto Naskh Arabic"/>
                <a:cs typeface="adwa-assalaf"/>
              </a:rPr>
              <a:t>الاستخدام</a:t>
            </a:r>
            <a:endParaRPr lang="ar-AE" sz="2200" dirty="0"/>
          </a:p>
        </p:txBody>
      </p:sp>
      <p:sp>
        <p:nvSpPr>
          <p:cNvPr id="20" name="Text 15"/>
          <p:cNvSpPr txBox="1"/>
          <p:nvPr/>
        </p:nvSpPr>
        <p:spPr>
          <a:xfrm>
            <a:off x="777240" y="4343400"/>
            <a:ext cx="3063240" cy="146304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رحلة بحث كاملة، والنموذج التطبيقي، والقواعد، وعند التعثر</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ection-art" descr="/tmp/claude-0/-home-user/11b98046-3116-585b-b221-e5c2e170e62a/scratchpad/deck/assets/photos/login.jpg">    </p:cNvPr>
          <p:cNvPicPr>
            <a:picLocks noChangeAspect="1"/>
          </p:cNvPicPr>
          <p:nvPr/>
        </p:nvPicPr>
        <p:blipFill>
          <a:blip r:embed="rId1"/>
          <a:srcRect l="0" r="0" t="0" b="0"/>
          <a:stretch/>
        </p:blipFill>
        <p:spPr>
          <a:xfrm>
            <a:off x="0" y="0"/>
            <a:ext cx="5486400" cy="658368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nchor="ctr"/>
          <a:lstStyle/>
          <a:p>
            <a:pPr rtl="1" algn="r" indent="0" marL="0">
              <a:buNone/>
            </a:pPr>
            <a:r>
              <a:rPr lang="ar-AE" altLang="en-US" sz="4000" b="1" dirty="0">
                <a:solidFill>
                  <a:schemeClr val="bg1"/>
                </a:solidFill>
                <a:latin typeface="Noto Naskh Arabic"/>
                <a:cs typeface="adwa-assalaf"/>
              </a:rPr>
              <a:t>البدء</a:t>
            </a: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nchor="t"/>
          <a:lstStyle/>
          <a:p>
            <a:pPr rtl="1" algn="r" indent="0" marL="0">
              <a:buNone/>
            </a:pPr>
            <a:r>
              <a:rPr lang="ar-AE" altLang="en-US" sz="1800" dirty="0">
                <a:solidFill>
                  <a:srgbClr val="D9E4F0"/>
                </a:solidFill>
                <a:latin typeface="Noto Naskh Arabic"/>
                <a:cs typeface="adwa-assalaf"/>
              </a:rPr>
              <a:t>تنصيب على جهاز واحد بأيقونة على سطح المكتب، ثم جولة تعريفية.</a:t>
            </a:r>
            <a:endParaRPr lang="ar-AE"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التنصيب في ثلاث خطوات</a:t>
            </a:r>
            <a:endParaRPr lang="ar-AE" sz="3200" dirty="0"/>
          </a:p>
        </p:txBody>
      </p:sp>
      <p:sp>
        <p:nvSpPr>
          <p:cNvPr id="3" name="step-0"/>
          <p:cNvSpPr/>
          <p:nvPr/>
        </p:nvSpPr>
        <p:spPr>
          <a:xfrm>
            <a:off x="8046720" y="1417320"/>
            <a:ext cx="3520440" cy="2834640"/>
          </a:xfrm>
          <a:prstGeom prst="roundRect">
            <a:avLst>
              <a:gd name="adj" fmla="val 3871"/>
            </a:avLst>
          </a:prstGeom>
          <a:solidFill>
            <a:srgbClr val="EEF3F8"/>
          </a:solidFill>
          <a:ln w="12700">
            <a:solidFill>
              <a:srgbClr val="D9E1EA"/>
            </a:solidFill>
            <a:prstDash val="solid"/>
          </a:ln>
        </p:spPr>
      </p:sp>
      <p:sp>
        <p:nvSpPr>
          <p:cNvPr id="4" name="icon-lock"/>
          <p:cNvSpPr/>
          <p:nvPr/>
        </p:nvSpPr>
        <p:spPr>
          <a:xfrm>
            <a:off x="10744200" y="1645920"/>
            <a:ext cx="640080" cy="640080"/>
          </a:xfrm>
          <a:prstGeom prst="ellipse">
            <a:avLst/>
          </a:prstGeom>
          <a:solidFill>
            <a:schemeClr val="accent1"/>
          </a:solidFill>
          <a:ln w="12700">
            <a:solidFill>
              <a:schemeClr val="accent1"/>
            </a:solidFill>
            <a:prstDash val="solid"/>
          </a:ln>
        </p:spPr>
      </p:sp>
      <p:pic>
        <p:nvPicPr>
          <p:cNvPr id="5" name="Image 0" descr="/tmp/claude-0/-home-user/11b98046-3116-585b-b221-e5c2e170e62a/scratchpad/deck/assets/i-lock.png">    </p:cNvPr>
          <p:cNvPicPr>
            <a:picLocks noChangeAspect="1"/>
          </p:cNvPicPr>
          <p:nvPr/>
        </p:nvPicPr>
        <p:blipFill>
          <a:blip r:embed="rId1"/>
          <a:stretch>
            <a:fillRect/>
          </a:stretch>
        </p:blipFill>
        <p:spPr>
          <a:xfrm>
            <a:off x="10904220" y="1805940"/>
            <a:ext cx="320040" cy="320040"/>
          </a:xfrm>
          <a:prstGeom prst="rect">
            <a:avLst/>
          </a:prstGeom>
        </p:spPr>
      </p:pic>
      <p:sp>
        <p:nvSpPr>
          <p:cNvPr id="6" name="num-1"/>
          <p:cNvSpPr/>
          <p:nvPr/>
        </p:nvSpPr>
        <p:spPr>
          <a:xfrm>
            <a:off x="8321040" y="1737360"/>
            <a:ext cx="420624" cy="420624"/>
          </a:xfrm>
          <a:prstGeom prst="ellipse">
            <a:avLst/>
          </a:prstGeom>
          <a:solidFill>
            <a:schemeClr val="accent1"/>
          </a:solidFill>
          <a:ln w="12700">
            <a:solidFill>
              <a:schemeClr val="accent1"/>
            </a:solidFill>
            <a:prstDash val="solid"/>
          </a:ln>
        </p:spPr>
      </p:sp>
      <p:sp>
        <p:nvSpPr>
          <p:cNvPr id="7" name="Text 4"/>
          <p:cNvSpPr txBox="1"/>
          <p:nvPr/>
        </p:nvSpPr>
        <p:spPr>
          <a:xfrm>
            <a:off x="8321040" y="1737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321040" y="2468880"/>
            <a:ext cx="2971800" cy="457200"/>
          </a:xfrm>
          <a:prstGeom prst="rect">
            <a:avLst/>
          </a:prstGeom>
          <a:noFill/>
          <a:ln/>
        </p:spPr>
        <p:txBody>
          <a:bodyPr wrap="square" lIns="0" tIns="0" rIns="0" bIns="0" rtlCol="0" anchor="ctr"/>
          <a:lstStyle/>
          <a:p>
            <a:pPr rtl="1" algn="r" indent="0" marL="0">
              <a:buNone/>
            </a:pPr>
            <a:r>
              <a:rPr lang="ar-AE" altLang="en-US" sz="1900" b="1" dirty="0">
                <a:solidFill>
                  <a:schemeClr val="accent1"/>
                </a:solidFill>
                <a:latin typeface="Noto Naskh Arabic"/>
                <a:cs typeface="adwa-assalaf"/>
              </a:rPr>
              <a:t>افتحوا PowerShell</a:t>
            </a:r>
            <a:endParaRPr lang="ar-AE" sz="1900" dirty="0"/>
          </a:p>
        </p:txBody>
      </p:sp>
      <p:sp>
        <p:nvSpPr>
          <p:cNvPr id="9" name="Text 6"/>
          <p:cNvSpPr txBox="1"/>
          <p:nvPr/>
        </p:nvSpPr>
        <p:spPr>
          <a:xfrm>
            <a:off x="8321040" y="2971800"/>
            <a:ext cx="2971800" cy="114300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من قائمة «ابدأ»، نافذة عادية لا «كمسؤول». وفي ماك: Terminal.</a:t>
            </a:r>
            <a:endParaRPr lang="ar-AE" sz="1400" dirty="0"/>
          </a:p>
        </p:txBody>
      </p:sp>
      <p:sp>
        <p:nvSpPr>
          <p:cNvPr id="10" name="step-1"/>
          <p:cNvSpPr/>
          <p:nvPr/>
        </p:nvSpPr>
        <p:spPr>
          <a:xfrm>
            <a:off x="4297680" y="1417320"/>
            <a:ext cx="3520440" cy="2834640"/>
          </a:xfrm>
          <a:prstGeom prst="roundRect">
            <a:avLst>
              <a:gd name="adj" fmla="val 3871"/>
            </a:avLst>
          </a:prstGeom>
          <a:solidFill>
            <a:srgbClr val="EEF3F8"/>
          </a:solidFill>
          <a:ln w="12700">
            <a:solidFill>
              <a:srgbClr val="D9E1EA"/>
            </a:solidFill>
            <a:prstDash val="solid"/>
          </a:ln>
        </p:spPr>
      </p:sp>
      <p:sp>
        <p:nvSpPr>
          <p:cNvPr id="11" name="icon-download"/>
          <p:cNvSpPr/>
          <p:nvPr/>
        </p:nvSpPr>
        <p:spPr>
          <a:xfrm>
            <a:off x="6995160" y="1645920"/>
            <a:ext cx="640080" cy="640080"/>
          </a:xfrm>
          <a:prstGeom prst="ellipse">
            <a:avLst/>
          </a:prstGeom>
          <a:solidFill>
            <a:schemeClr val="accent2"/>
          </a:solidFill>
          <a:ln w="12700">
            <a:solidFill>
              <a:schemeClr val="accent2"/>
            </a:solidFill>
            <a:prstDash val="solid"/>
          </a:ln>
        </p:spPr>
      </p:sp>
      <p:pic>
        <p:nvPicPr>
          <p:cNvPr id="12" name="Image 1" descr="/tmp/claude-0/-home-user/11b98046-3116-585b-b221-e5c2e170e62a/scratchpad/deck/assets/i-download.png">    </p:cNvPr>
          <p:cNvPicPr>
            <a:picLocks noChangeAspect="1"/>
          </p:cNvPicPr>
          <p:nvPr/>
        </p:nvPicPr>
        <p:blipFill>
          <a:blip r:embed="rId2"/>
          <a:stretch>
            <a:fillRect/>
          </a:stretch>
        </p:blipFill>
        <p:spPr>
          <a:xfrm>
            <a:off x="7155180" y="1805940"/>
            <a:ext cx="320040" cy="320040"/>
          </a:xfrm>
          <a:prstGeom prst="rect">
            <a:avLst/>
          </a:prstGeom>
        </p:spPr>
      </p:pic>
      <p:sp>
        <p:nvSpPr>
          <p:cNvPr id="13" name="num-2"/>
          <p:cNvSpPr/>
          <p:nvPr/>
        </p:nvSpPr>
        <p:spPr>
          <a:xfrm>
            <a:off x="4572000" y="1737360"/>
            <a:ext cx="420624" cy="420624"/>
          </a:xfrm>
          <a:prstGeom prst="ellipse">
            <a:avLst/>
          </a:prstGeom>
          <a:solidFill>
            <a:schemeClr val="accent1"/>
          </a:solidFill>
          <a:ln w="12700">
            <a:solidFill>
              <a:schemeClr val="accent1"/>
            </a:solidFill>
            <a:prstDash val="solid"/>
          </a:ln>
        </p:spPr>
      </p:sp>
      <p:sp>
        <p:nvSpPr>
          <p:cNvPr id="14" name="Text 10"/>
          <p:cNvSpPr txBox="1"/>
          <p:nvPr/>
        </p:nvSpPr>
        <p:spPr>
          <a:xfrm>
            <a:off x="4572000" y="1737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4572000" y="2468880"/>
            <a:ext cx="2971800" cy="457200"/>
          </a:xfrm>
          <a:prstGeom prst="rect">
            <a:avLst/>
          </a:prstGeom>
          <a:noFill/>
          <a:ln/>
        </p:spPr>
        <p:txBody>
          <a:bodyPr wrap="square" lIns="0" tIns="0" rIns="0" bIns="0" rtlCol="0" anchor="ctr"/>
          <a:lstStyle/>
          <a:p>
            <a:pPr rtl="1" algn="r" indent="0" marL="0">
              <a:buNone/>
            </a:pPr>
            <a:r>
              <a:rPr lang="ar-AE" altLang="en-US" sz="1900" b="1" dirty="0">
                <a:solidFill>
                  <a:schemeClr val="accent1"/>
                </a:solidFill>
                <a:latin typeface="Noto Naskh Arabic"/>
                <a:cs typeface="adwa-assalaf"/>
              </a:rPr>
              <a:t>الصقوا سطر التنصيب</a:t>
            </a:r>
            <a:endParaRPr lang="ar-AE" sz="1900" dirty="0"/>
          </a:p>
        </p:txBody>
      </p:sp>
      <p:sp>
        <p:nvSpPr>
          <p:cNvPr id="16" name="Text 12"/>
          <p:cNvSpPr txBox="1"/>
          <p:nvPr/>
        </p:nvSpPr>
        <p:spPr>
          <a:xfrm>
            <a:off x="4572000" y="2971800"/>
            <a:ext cx="2971800" cy="114300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يتحقق من Python ويثبّته إن لزم، وينزّل البرنامج، ويهيّئ النمط الفردي.</a:t>
            </a:r>
            <a:endParaRPr lang="ar-AE" sz="1400" dirty="0"/>
          </a:p>
        </p:txBody>
      </p:sp>
      <p:sp>
        <p:nvSpPr>
          <p:cNvPr id="17" name="step-2"/>
          <p:cNvSpPr/>
          <p:nvPr/>
        </p:nvSpPr>
        <p:spPr>
          <a:xfrm>
            <a:off x="548640" y="1417320"/>
            <a:ext cx="3520440" cy="2834640"/>
          </a:xfrm>
          <a:prstGeom prst="roundRect">
            <a:avLst>
              <a:gd name="adj" fmla="val 3871"/>
            </a:avLst>
          </a:prstGeom>
          <a:solidFill>
            <a:srgbClr val="EEF3F8"/>
          </a:solidFill>
          <a:ln w="12700">
            <a:solidFill>
              <a:srgbClr val="D9E1EA"/>
            </a:solidFill>
            <a:prstDash val="solid"/>
          </a:ln>
        </p:spPr>
      </p:sp>
      <p:sp>
        <p:nvSpPr>
          <p:cNvPr id="18" name="icon-home"/>
          <p:cNvSpPr/>
          <p:nvPr/>
        </p:nvSpPr>
        <p:spPr>
          <a:xfrm>
            <a:off x="3246120" y="1645920"/>
            <a:ext cx="640080" cy="640080"/>
          </a:xfrm>
          <a:prstGeom prst="ellipse">
            <a:avLst/>
          </a:prstGeom>
          <a:solidFill>
            <a:schemeClr val="accent5"/>
          </a:solidFill>
          <a:ln w="12700">
            <a:solidFill>
              <a:schemeClr val="accent5"/>
            </a:solidFill>
            <a:prstDash val="solid"/>
          </a:ln>
        </p:spPr>
      </p:sp>
      <p:pic>
        <p:nvPicPr>
          <p:cNvPr id="19" name="Image 2" descr="/tmp/claude-0/-home-user/11b98046-3116-585b-b221-e5c2e170e62a/scratchpad/deck/assets/i-home.png">    </p:cNvPr>
          <p:cNvPicPr>
            <a:picLocks noChangeAspect="1"/>
          </p:cNvPicPr>
          <p:nvPr/>
        </p:nvPicPr>
        <p:blipFill>
          <a:blip r:embed="rId3"/>
          <a:stretch>
            <a:fillRect/>
          </a:stretch>
        </p:blipFill>
        <p:spPr>
          <a:xfrm>
            <a:off x="3406140" y="1805940"/>
            <a:ext cx="320040" cy="320040"/>
          </a:xfrm>
          <a:prstGeom prst="rect">
            <a:avLst/>
          </a:prstGeom>
        </p:spPr>
      </p:pic>
      <p:sp>
        <p:nvSpPr>
          <p:cNvPr id="20" name="num-3"/>
          <p:cNvSpPr/>
          <p:nvPr/>
        </p:nvSpPr>
        <p:spPr>
          <a:xfrm>
            <a:off x="822960" y="1737360"/>
            <a:ext cx="420624" cy="420624"/>
          </a:xfrm>
          <a:prstGeom prst="ellipse">
            <a:avLst/>
          </a:prstGeom>
          <a:solidFill>
            <a:schemeClr val="accent1"/>
          </a:solidFill>
          <a:ln w="12700">
            <a:solidFill>
              <a:schemeClr val="accent1"/>
            </a:solidFill>
            <a:prstDash val="solid"/>
          </a:ln>
        </p:spPr>
      </p:sp>
      <p:sp>
        <p:nvSpPr>
          <p:cNvPr id="21" name="Text 16"/>
          <p:cNvSpPr txBox="1"/>
          <p:nvPr/>
        </p:nvSpPr>
        <p:spPr>
          <a:xfrm>
            <a:off x="822960" y="1737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822960" y="2468880"/>
            <a:ext cx="2971800" cy="457200"/>
          </a:xfrm>
          <a:prstGeom prst="rect">
            <a:avLst/>
          </a:prstGeom>
          <a:noFill/>
          <a:ln/>
        </p:spPr>
        <p:txBody>
          <a:bodyPr wrap="square" lIns="0" tIns="0" rIns="0" bIns="0" rtlCol="0" anchor="ctr"/>
          <a:lstStyle/>
          <a:p>
            <a:pPr rtl="1" algn="r" indent="0" marL="0">
              <a:buNone/>
            </a:pPr>
            <a:r>
              <a:rPr lang="ar-AE" altLang="en-US" sz="1900" b="1" dirty="0">
                <a:solidFill>
                  <a:schemeClr val="accent1"/>
                </a:solidFill>
                <a:latin typeface="Noto Naskh Arabic"/>
                <a:cs typeface="adwa-assalaf"/>
              </a:rPr>
              <a:t>انقروا أيقونة «تراث»</a:t>
            </a:r>
            <a:endParaRPr lang="ar-AE" sz="1900" dirty="0"/>
          </a:p>
        </p:txBody>
      </p:sp>
      <p:sp>
        <p:nvSpPr>
          <p:cNvPr id="23" name="Text 18"/>
          <p:cNvSpPr txBox="1"/>
          <p:nvPr/>
        </p:nvSpPr>
        <p:spPr>
          <a:xfrm>
            <a:off x="822960" y="2971800"/>
            <a:ext cx="2971800" cy="114300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تظهر على سطح المكتب وفي قائمة «ابدأ»، وتفتح اللوحة في نافذة مستقلة.</a:t>
            </a:r>
            <a:endParaRPr lang="ar-AE" sz="1400" dirty="0"/>
          </a:p>
        </p:txBody>
      </p:sp>
      <p:sp>
        <p:nvSpPr>
          <p:cNvPr id="24" name="install-line"/>
          <p:cNvSpPr/>
          <p:nvPr/>
        </p:nvSpPr>
        <p:spPr>
          <a:xfrm>
            <a:off x="548640" y="4526280"/>
            <a:ext cx="11091672" cy="1417320"/>
          </a:xfrm>
          <a:prstGeom prst="roundRect">
            <a:avLst>
              <a:gd name="adj" fmla="val 6452"/>
            </a:avLst>
          </a:prstGeom>
          <a:solidFill>
            <a:srgbClr val="12263F"/>
          </a:solidFill>
          <a:ln w="12700">
            <a:solidFill>
              <a:srgbClr val="12263F"/>
            </a:solidFill>
            <a:prstDash val="solid"/>
          </a:ln>
        </p:spPr>
      </p:sp>
      <p:sp>
        <p:nvSpPr>
          <p:cNvPr id="25" name="Text 20"/>
          <p:cNvSpPr txBox="1"/>
          <p:nvPr/>
        </p:nvSpPr>
        <p:spPr>
          <a:xfrm>
            <a:off x="822960" y="4617720"/>
            <a:ext cx="10607040" cy="365760"/>
          </a:xfrm>
          <a:prstGeom prst="rect">
            <a:avLst/>
          </a:prstGeom>
          <a:noFill/>
          <a:ln/>
        </p:spPr>
        <p:txBody>
          <a:bodyPr wrap="square" lIns="0" tIns="0" rIns="0" bIns="0" rtlCol="0" anchor="ctr"/>
          <a:lstStyle/>
          <a:p>
            <a:pPr rtl="1" algn="r" indent="0" marL="0">
              <a:buNone/>
            </a:pPr>
            <a:r>
              <a:rPr lang="ar-AE" altLang="en-US" sz="1300" b="1" dirty="0">
                <a:solidFill>
                  <a:srgbClr val="F0D58A"/>
                </a:solidFill>
                <a:latin typeface="Noto Naskh Arabic"/>
                <a:cs typeface="adwa-assalaf"/>
              </a:rPr>
              <a:t>سطر التنصيب في ويندوز (موجود كاملاً في INSTALL.md)</a:t>
            </a:r>
            <a:endParaRPr lang="ar-AE" sz="1300" dirty="0"/>
          </a:p>
        </p:txBody>
      </p:sp>
      <p:sp>
        <p:nvSpPr>
          <p:cNvPr id="26" name="Text 21"/>
          <p:cNvSpPr txBox="1"/>
          <p:nvPr/>
        </p:nvSpPr>
        <p:spPr>
          <a:xfrm>
            <a:off x="822960" y="4983480"/>
            <a:ext cx="10607040" cy="868680"/>
          </a:xfrm>
          <a:prstGeom prst="rect">
            <a:avLst/>
          </a:prstGeom>
          <a:noFill/>
          <a:ln/>
        </p:spPr>
        <p:txBody>
          <a:bodyPr wrap="square" lIns="0" tIns="0" rIns="0" bIns="0" rtlCol="0" anchor="t"/>
          <a:lstStyle/>
          <a:p>
            <a:pPr algn="l" indent="0" marL="0">
              <a:buNone/>
            </a:pPr>
            <a:r>
              <a:rPr lang="en-US" sz="1100" dirty="0">
                <a:solidFill>
                  <a:srgbClr val="FFFFFF"/>
                </a:solidFill>
                <a:latin typeface="Courier New" pitchFamily="34" charset="0"/>
                <a:ea typeface="Courier New" pitchFamily="34" charset="-122"/>
                <a:cs typeface="Courier New" pitchFamily="34" charset="-120"/>
              </a:rPr>
              <a:t>$f="$env:TEMP\turath-install.ps1"; iwr https://raw.githubusercontent.com/7r425ypz9t-hue/turathres/refs/heads/claude/clever-carson-78yimu/launchers/install_windows.ps1 -OutFile $f; powershell -NoProfile -ExecutionPolicy Bypass -File $f</a:t>
            </a:r>
            <a:endParaRPr lang="en-US" sz="11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ثلاثة أنماط تشغيل لثلاث حاجات</a:t>
            </a:r>
            <a:endParaRPr lang="ar-AE" sz="3200" dirty="0"/>
          </a:p>
        </p:txBody>
      </p:sp>
      <p:sp>
        <p:nvSpPr>
          <p:cNvPr id="3" name="mode-0"/>
          <p:cNvSpPr/>
          <p:nvPr/>
        </p:nvSpPr>
        <p:spPr>
          <a:xfrm>
            <a:off x="8046720" y="1417320"/>
            <a:ext cx="3520440" cy="448056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sp>
        <p:nvSpPr>
          <p:cNvPr id="4" name="icon-home"/>
          <p:cNvSpPr/>
          <p:nvPr/>
        </p:nvSpPr>
        <p:spPr>
          <a:xfrm>
            <a:off x="9390888" y="1691640"/>
            <a:ext cx="822960" cy="822960"/>
          </a:xfrm>
          <a:prstGeom prst="ellipse">
            <a:avLst/>
          </a:prstGeom>
          <a:solidFill>
            <a:schemeClr val="accent1"/>
          </a:solidFill>
          <a:ln w="12700">
            <a:solidFill>
              <a:schemeClr val="accent1"/>
            </a:solidFill>
            <a:prstDash val="solid"/>
          </a:ln>
        </p:spPr>
      </p:sp>
      <p:pic>
        <p:nvPicPr>
          <p:cNvPr id="5" name="Image 0" descr="/tmp/claude-0/-home-user/11b98046-3116-585b-b221-e5c2e170e62a/scratchpad/deck/assets/i-home.png">    </p:cNvPr>
          <p:cNvPicPr>
            <a:picLocks noChangeAspect="1"/>
          </p:cNvPicPr>
          <p:nvPr/>
        </p:nvPicPr>
        <p:blipFill>
          <a:blip r:embed="rId1"/>
          <a:stretch>
            <a:fillRect/>
          </a:stretch>
        </p:blipFill>
        <p:spPr>
          <a:xfrm>
            <a:off x="9596628" y="1897380"/>
            <a:ext cx="411480" cy="411480"/>
          </a:xfrm>
          <a:prstGeom prst="rect">
            <a:avLst/>
          </a:prstGeom>
        </p:spPr>
      </p:pic>
      <p:sp>
        <p:nvSpPr>
          <p:cNvPr id="6" name="Text 3"/>
          <p:cNvSpPr txBox="1"/>
          <p:nvPr/>
        </p:nvSpPr>
        <p:spPr>
          <a:xfrm>
            <a:off x="8275320" y="2697480"/>
            <a:ext cx="3063240" cy="502920"/>
          </a:xfrm>
          <a:prstGeom prst="rect">
            <a:avLst/>
          </a:prstGeom>
          <a:noFill/>
          <a:ln/>
        </p:spPr>
        <p:txBody>
          <a:bodyPr wrap="square" lIns="0" tIns="0" rIns="0" bIns="0" rtlCol="0" anchor="ctr"/>
          <a:lstStyle/>
          <a:p>
            <a:pPr rtl="1" algn="ctr" indent="0" marL="0">
              <a:buNone/>
            </a:pPr>
            <a:r>
              <a:rPr lang="ar-AE" altLang="en-US" sz="1800" b="1" dirty="0">
                <a:solidFill>
                  <a:schemeClr val="accent1"/>
                </a:solidFill>
                <a:latin typeface="Noto Naskh Arabic"/>
                <a:cs typeface="adwa-assalaf"/>
              </a:rPr>
              <a:t>مستخدم واحد · حاسوب واحد</a:t>
            </a:r>
            <a:endParaRPr lang="ar-AE" sz="1800" dirty="0"/>
          </a:p>
        </p:txBody>
      </p:sp>
      <p:sp>
        <p:nvSpPr>
          <p:cNvPr id="7" name="Text 4"/>
          <p:cNvSpPr txBox="1"/>
          <p:nvPr/>
        </p:nvSpPr>
        <p:spPr>
          <a:xfrm>
            <a:off x="8321040" y="3246120"/>
            <a:ext cx="2971800" cy="173736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النمط الافتراضي. الخادم على الجهاز وحده، والدخول برمز يتولد عند كل تشغيل، فلا كلمات مرور.</a:t>
            </a:r>
            <a:endParaRPr lang="ar-AE" sz="1400" dirty="0"/>
          </a:p>
        </p:txBody>
      </p:sp>
      <p:sp>
        <p:nvSpPr>
          <p:cNvPr id="8" name="Text 5"/>
          <p:cNvSpPr txBox="1"/>
          <p:nvPr/>
        </p:nvSpPr>
        <p:spPr>
          <a:xfrm>
            <a:off x="8321040" y="5120640"/>
            <a:ext cx="2971800" cy="457200"/>
          </a:xfrm>
          <a:prstGeom prst="rect">
            <a:avLst/>
          </a:prstGeom>
          <a:solidFill>
            <a:srgbClr val="EEF3F8"/>
          </a:solidFill>
          <a:ln/>
        </p:spPr>
        <p:txBody>
          <a:bodyPr wrap="square" lIns="0" tIns="0" rIns="0" bIns="0" rtlCol="0" anchor="ctr"/>
          <a:lstStyle/>
          <a:p>
            <a:pPr algn="ctr" indent="0" marL="0">
              <a:buNone/>
            </a:pPr>
            <a:r>
              <a:rPr lang="en-US" sz="1300" dirty="0">
                <a:solidFill>
                  <a:schemeClr val="accent1"/>
                </a:solidFill>
                <a:latin typeface="Courier New" pitchFamily="34" charset="0"/>
                <a:ea typeface="Courier New" pitchFamily="34" charset="-122"/>
                <a:cs typeface="Courier New" pitchFamily="34" charset="-120"/>
              </a:rPr>
              <a:t>turath setup solo</a:t>
            </a:r>
            <a:endParaRPr lang="en-US" sz="1300" dirty="0"/>
          </a:p>
        </p:txBody>
      </p:sp>
      <p:sp>
        <p:nvSpPr>
          <p:cNvPr id="9" name="mode-1"/>
          <p:cNvSpPr/>
          <p:nvPr/>
        </p:nvSpPr>
        <p:spPr>
          <a:xfrm>
            <a:off x="4297680" y="1417320"/>
            <a:ext cx="3520440" cy="448056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sp>
        <p:nvSpPr>
          <p:cNvPr id="10" name="icon-layers"/>
          <p:cNvSpPr/>
          <p:nvPr/>
        </p:nvSpPr>
        <p:spPr>
          <a:xfrm>
            <a:off x="5641848" y="1691640"/>
            <a:ext cx="822960" cy="822960"/>
          </a:xfrm>
          <a:prstGeom prst="ellipse">
            <a:avLst/>
          </a:prstGeom>
          <a:solidFill>
            <a:schemeClr val="accent3"/>
          </a:solidFill>
          <a:ln w="12700">
            <a:solidFill>
              <a:schemeClr val="accent3"/>
            </a:solidFill>
            <a:prstDash val="solid"/>
          </a:ln>
        </p:spPr>
      </p:sp>
      <p:pic>
        <p:nvPicPr>
          <p:cNvPr id="11" name="Image 1" descr="/tmp/claude-0/-home-user/11b98046-3116-585b-b221-e5c2e170e62a/scratchpad/deck/assets/i-layers.png">    </p:cNvPr>
          <p:cNvPicPr>
            <a:picLocks noChangeAspect="1"/>
          </p:cNvPicPr>
          <p:nvPr/>
        </p:nvPicPr>
        <p:blipFill>
          <a:blip r:embed="rId2"/>
          <a:stretch>
            <a:fillRect/>
          </a:stretch>
        </p:blipFill>
        <p:spPr>
          <a:xfrm>
            <a:off x="5847588" y="1897380"/>
            <a:ext cx="411480" cy="411480"/>
          </a:xfrm>
          <a:prstGeom prst="rect">
            <a:avLst/>
          </a:prstGeom>
        </p:spPr>
      </p:pic>
      <p:sp>
        <p:nvSpPr>
          <p:cNvPr id="12" name="Text 8"/>
          <p:cNvSpPr txBox="1"/>
          <p:nvPr/>
        </p:nvSpPr>
        <p:spPr>
          <a:xfrm>
            <a:off x="4526280" y="2697480"/>
            <a:ext cx="3063240" cy="502920"/>
          </a:xfrm>
          <a:prstGeom prst="rect">
            <a:avLst/>
          </a:prstGeom>
          <a:noFill/>
          <a:ln/>
        </p:spPr>
        <p:txBody>
          <a:bodyPr wrap="square" lIns="0" tIns="0" rIns="0" bIns="0" rtlCol="0" anchor="ctr"/>
          <a:lstStyle/>
          <a:p>
            <a:pPr rtl="1" algn="ctr" indent="0" marL="0">
              <a:buNone/>
            </a:pPr>
            <a:r>
              <a:rPr lang="ar-AE" altLang="en-US" sz="1800" b="1" dirty="0">
                <a:solidFill>
                  <a:schemeClr val="accent1"/>
                </a:solidFill>
                <a:latin typeface="Noto Naskh Arabic"/>
                <a:cs typeface="adwa-assalaf"/>
              </a:rPr>
              <a:t>مستخدم واحد · أجهزة متعددة</a:t>
            </a:r>
            <a:endParaRPr lang="ar-AE" sz="1800" dirty="0"/>
          </a:p>
        </p:txBody>
      </p:sp>
      <p:sp>
        <p:nvSpPr>
          <p:cNvPr id="13" name="Text 9"/>
          <p:cNvSpPr txBox="1"/>
          <p:nvPr/>
        </p:nvSpPr>
        <p:spPr>
          <a:xfrm>
            <a:off x="4572000" y="3246120"/>
            <a:ext cx="2971800" cy="173736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خادم محلي في البيت أو المكتب، تصله أجهزتكم عبر الشبكة بكلمة مرور، مع تشفير اختياري.</a:t>
            </a:r>
            <a:endParaRPr lang="ar-AE" sz="1400" dirty="0"/>
          </a:p>
        </p:txBody>
      </p:sp>
      <p:sp>
        <p:nvSpPr>
          <p:cNvPr id="14" name="Text 10"/>
          <p:cNvSpPr txBox="1"/>
          <p:nvPr/>
        </p:nvSpPr>
        <p:spPr>
          <a:xfrm>
            <a:off x="4572000" y="5120640"/>
            <a:ext cx="2971800" cy="457200"/>
          </a:xfrm>
          <a:prstGeom prst="rect">
            <a:avLst/>
          </a:prstGeom>
          <a:solidFill>
            <a:srgbClr val="EEF3F8"/>
          </a:solidFill>
          <a:ln/>
        </p:spPr>
        <p:txBody>
          <a:bodyPr wrap="square" lIns="0" tIns="0" rIns="0" bIns="0" rtlCol="0" anchor="ctr"/>
          <a:lstStyle/>
          <a:p>
            <a:pPr algn="ctr" indent="0" marL="0">
              <a:buNone/>
            </a:pPr>
            <a:r>
              <a:rPr lang="en-US" sz="1300" dirty="0">
                <a:solidFill>
                  <a:schemeClr val="accent1"/>
                </a:solidFill>
                <a:latin typeface="Courier New" pitchFamily="34" charset="0"/>
                <a:ea typeface="Courier New" pitchFamily="34" charset="-122"/>
                <a:cs typeface="Courier New" pitchFamily="34" charset="-120"/>
              </a:rPr>
              <a:t>turath setup lan</a:t>
            </a:r>
            <a:endParaRPr lang="en-US" sz="1300" dirty="0"/>
          </a:p>
        </p:txBody>
      </p:sp>
      <p:sp>
        <p:nvSpPr>
          <p:cNvPr id="15" name="mode-2"/>
          <p:cNvSpPr/>
          <p:nvPr/>
        </p:nvSpPr>
        <p:spPr>
          <a:xfrm>
            <a:off x="548640" y="1417320"/>
            <a:ext cx="3520440" cy="448056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sp>
        <p:nvSpPr>
          <p:cNvPr id="16" name="icon-people"/>
          <p:cNvSpPr/>
          <p:nvPr/>
        </p:nvSpPr>
        <p:spPr>
          <a:xfrm>
            <a:off x="1892808" y="1691640"/>
            <a:ext cx="822960" cy="822960"/>
          </a:xfrm>
          <a:prstGeom prst="ellipse">
            <a:avLst/>
          </a:prstGeom>
          <a:solidFill>
            <a:schemeClr val="accent6"/>
          </a:solidFill>
          <a:ln w="12700">
            <a:solidFill>
              <a:schemeClr val="accent6"/>
            </a:solidFill>
            <a:prstDash val="solid"/>
          </a:ln>
        </p:spPr>
      </p:sp>
      <p:pic>
        <p:nvPicPr>
          <p:cNvPr id="17" name="Image 2" descr="/tmp/claude-0/-home-user/11b98046-3116-585b-b221-e5c2e170e62a/scratchpad/deck/assets/i-people.png">    </p:cNvPr>
          <p:cNvPicPr>
            <a:picLocks noChangeAspect="1"/>
          </p:cNvPicPr>
          <p:nvPr/>
        </p:nvPicPr>
        <p:blipFill>
          <a:blip r:embed="rId3"/>
          <a:stretch>
            <a:fillRect/>
          </a:stretch>
        </p:blipFill>
        <p:spPr>
          <a:xfrm>
            <a:off x="2098548" y="1897380"/>
            <a:ext cx="411480" cy="411480"/>
          </a:xfrm>
          <a:prstGeom prst="rect">
            <a:avLst/>
          </a:prstGeom>
        </p:spPr>
      </p:pic>
      <p:sp>
        <p:nvSpPr>
          <p:cNvPr id="18" name="Text 13"/>
          <p:cNvSpPr txBox="1"/>
          <p:nvPr/>
        </p:nvSpPr>
        <p:spPr>
          <a:xfrm>
            <a:off x="777240" y="2697480"/>
            <a:ext cx="3063240" cy="502920"/>
          </a:xfrm>
          <a:prstGeom prst="rect">
            <a:avLst/>
          </a:prstGeom>
          <a:noFill/>
          <a:ln/>
        </p:spPr>
        <p:txBody>
          <a:bodyPr wrap="square" lIns="0" tIns="0" rIns="0" bIns="0" rtlCol="0" anchor="ctr"/>
          <a:lstStyle/>
          <a:p>
            <a:pPr rtl="1" algn="ctr" indent="0" marL="0">
              <a:buNone/>
            </a:pPr>
            <a:r>
              <a:rPr lang="ar-AE" altLang="en-US" sz="1800" b="1" dirty="0">
                <a:solidFill>
                  <a:schemeClr val="accent1"/>
                </a:solidFill>
                <a:latin typeface="Noto Naskh Arabic"/>
                <a:cs typeface="adwa-assalaf"/>
              </a:rPr>
              <a:t>عدة مستخدمين</a:t>
            </a:r>
            <a:endParaRPr lang="ar-AE" sz="1800" dirty="0"/>
          </a:p>
        </p:txBody>
      </p:sp>
      <p:sp>
        <p:nvSpPr>
          <p:cNvPr id="19" name="Text 14"/>
          <p:cNvSpPr txBox="1"/>
          <p:nvPr/>
        </p:nvSpPr>
        <p:spPr>
          <a:xfrm>
            <a:off x="822960" y="3246120"/>
            <a:ext cx="2971800" cy="173736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حساب لكل باحث، وبحوثه خاصة لا يراها غيره، ومشاركة المصادر بالاختيار، والتأليف المشترك بالدعوة.</a:t>
            </a:r>
            <a:endParaRPr lang="ar-AE" sz="1400" dirty="0"/>
          </a:p>
        </p:txBody>
      </p:sp>
      <p:sp>
        <p:nvSpPr>
          <p:cNvPr id="20" name="Text 15"/>
          <p:cNvSpPr txBox="1"/>
          <p:nvPr/>
        </p:nvSpPr>
        <p:spPr>
          <a:xfrm>
            <a:off x="822960" y="5120640"/>
            <a:ext cx="2971800" cy="457200"/>
          </a:xfrm>
          <a:prstGeom prst="rect">
            <a:avLst/>
          </a:prstGeom>
          <a:solidFill>
            <a:srgbClr val="EEF3F8"/>
          </a:solidFill>
          <a:ln/>
        </p:spPr>
        <p:txBody>
          <a:bodyPr wrap="square" lIns="0" tIns="0" rIns="0" bIns="0" rtlCol="0" anchor="ctr"/>
          <a:lstStyle/>
          <a:p>
            <a:pPr algn="ctr" indent="0" marL="0">
              <a:buNone/>
            </a:pPr>
            <a:r>
              <a:rPr lang="en-US" sz="1300" dirty="0">
                <a:solidFill>
                  <a:schemeClr val="accent1"/>
                </a:solidFill>
                <a:latin typeface="Courier New" pitchFamily="34" charset="0"/>
                <a:ea typeface="Courier New" pitchFamily="34" charset="-122"/>
                <a:cs typeface="Courier New" pitchFamily="34" charset="-120"/>
              </a:rPr>
              <a:t>turath setup team</a:t>
            </a:r>
            <a:endParaRPr lang="en-US" sz="13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دليل البدء عند أول فتح</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1_tour.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جولة من ست بطاقات</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تظهر تلقائياً أول مرة، وتعرّف بالمشروع والخزنة والمختبر والأدلة والوكلاء.</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تنتهي بالنموذج التطبيقي</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زر واحد يستورد دراسة «التلي» بمصادرها المتحقق منها، لتروا المنظومة تعمل.</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تُعاد متى شئتم</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من الإعدادات: زر «دليل البدء».</a:t>
            </a:r>
            <a:endParaRPr lang="ar-AE" sz="1400" dirty="0"/>
          </a:p>
        </p:txBody>
      </p:sp>
      <p:sp>
        <p:nvSpPr>
          <p:cNvPr id="17" name="Text 14"/>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latin typeface="Noto Naskh Arabic"/>
                <a:cs typeface="adwa-assalaf"/>
              </a:rPr>
              <a:t>اللوحة تُفتح في نافذة تطبيق مستقلة، والنقر الثاني على الأيقونة يفتح نافذة للخادم نفسه.</a:t>
            </a:r>
            <a:endParaRPr lang="ar-AE" sz="1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ection-art" descr="/tmp/claude-0/-home-user/11b98046-3116-585b-b221-e5c2e170e62a/scratchpad/deck/assets/photos/contact.jpg">    </p:cNvPr>
          <p:cNvPicPr>
            <a:picLocks noChangeAspect="1"/>
          </p:cNvPicPr>
          <p:nvPr/>
        </p:nvPicPr>
        <p:blipFill>
          <a:blip r:embed="rId1"/>
          <a:srcRect l="0" r="0" t="0" b="0"/>
          <a:stretch/>
        </p:blipFill>
        <p:spPr>
          <a:xfrm>
            <a:off x="0" y="0"/>
            <a:ext cx="5486400" cy="658368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nchor="ctr"/>
          <a:lstStyle/>
          <a:p>
            <a:pPr rtl="1" algn="r" indent="0" marL="0">
              <a:buNone/>
            </a:pPr>
            <a:r>
              <a:rPr lang="ar-AE" altLang="en-US" sz="4000" b="1" dirty="0">
                <a:solidFill>
                  <a:schemeClr val="bg1"/>
                </a:solidFill>
                <a:latin typeface="Noto Naskh Arabic"/>
                <a:cs typeface="adwa-assalaf"/>
              </a:rPr>
              <a:t>الشاشات</a:t>
            </a: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nchor="t"/>
          <a:lstStyle/>
          <a:p>
            <a:pPr rtl="1" algn="r" indent="0" marL="0">
              <a:buNone/>
            </a:pPr>
            <a:r>
              <a:rPr lang="ar-AE" altLang="en-US" sz="1800" dirty="0">
                <a:solidFill>
                  <a:srgbClr val="D9E4F0"/>
                </a:solidFill>
                <a:latin typeface="Noto Naskh Arabic"/>
                <a:cs typeface="adwa-assalaf"/>
              </a:rPr>
              <a:t>ثلاث عشرة شاشة، لكل منها وظيفة في دورة البحث.</a:t>
            </a:r>
            <a:endParaRPr lang="ar-AE"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الواجهة العامة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2_home.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الشريط الجانبي</a:t>
            </a:r>
            <a:endParaRPr lang="ar-AE" sz="1600" dirty="0"/>
          </a:p>
        </p:txBody>
      </p:sp>
      <p:sp>
        <p:nvSpPr>
          <p:cNvPr id="8" name="Text 5"/>
          <p:cNvSpPr txBox="1"/>
          <p:nvPr/>
        </p:nvSpPr>
        <p:spPr>
          <a:xfrm>
            <a:off x="8183880" y="168249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ثلاث مجموعات: المؤسسة، والأرشيف المعرفي، والمنظومة.</a:t>
            </a:r>
            <a:endParaRPr lang="ar-AE" sz="1400" dirty="0"/>
          </a:p>
        </p:txBody>
      </p:sp>
      <p:sp>
        <p:nvSpPr>
          <p:cNvPr id="9" name="num-2"/>
          <p:cNvSpPr/>
          <p:nvPr/>
        </p:nvSpPr>
        <p:spPr>
          <a:xfrm>
            <a:off x="11219688" y="236829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3682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35000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البحث الشامل</a:t>
            </a:r>
            <a:endParaRPr lang="ar-AE" sz="1600" dirty="0"/>
          </a:p>
        </p:txBody>
      </p:sp>
      <p:sp>
        <p:nvSpPr>
          <p:cNvPr id="12" name="Text 9"/>
          <p:cNvSpPr txBox="1"/>
          <p:nvPr/>
        </p:nvSpPr>
        <p:spPr>
          <a:xfrm>
            <a:off x="8183880" y="273405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في المصادر والتفريغات والمفردات والروايات، وكل نتيجة تعود إلى سجلها.</a:t>
            </a:r>
            <a:endParaRPr lang="ar-AE" sz="1400" dirty="0"/>
          </a:p>
        </p:txBody>
      </p:sp>
      <p:sp>
        <p:nvSpPr>
          <p:cNvPr id="13" name="num-3"/>
          <p:cNvSpPr/>
          <p:nvPr/>
        </p:nvSpPr>
        <p:spPr>
          <a:xfrm>
            <a:off x="11219688" y="341985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41985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40156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أزرار البدء</a:t>
            </a:r>
            <a:endParaRPr lang="ar-AE" sz="1600" dirty="0"/>
          </a:p>
        </p:txBody>
      </p:sp>
      <p:sp>
        <p:nvSpPr>
          <p:cNvPr id="16" name="Text 13"/>
          <p:cNvSpPr txBox="1"/>
          <p:nvPr/>
        </p:nvSpPr>
        <p:spPr>
          <a:xfrm>
            <a:off x="8183880" y="378561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مشروع جديد، وأرشفة مادة، والمختبر الشفهي.</a:t>
            </a:r>
            <a:endParaRPr lang="ar-AE" sz="1400" dirty="0"/>
          </a:p>
        </p:txBody>
      </p:sp>
      <p:sp>
        <p:nvSpPr>
          <p:cNvPr id="17" name="num-4"/>
          <p:cNvSpPr/>
          <p:nvPr/>
        </p:nvSpPr>
        <p:spPr>
          <a:xfrm>
            <a:off x="11219688" y="4471416"/>
            <a:ext cx="420624" cy="420624"/>
          </a:xfrm>
          <a:prstGeom prst="ellipse">
            <a:avLst/>
          </a:prstGeom>
          <a:solidFill>
            <a:schemeClr val="accent2"/>
          </a:solidFill>
          <a:ln w="12700">
            <a:solidFill>
              <a:schemeClr val="accent2"/>
            </a:solidFill>
            <a:prstDash val="solid"/>
          </a:ln>
        </p:spPr>
      </p:sp>
      <p:sp>
        <p:nvSpPr>
          <p:cNvPr id="18" name="Text 15"/>
          <p:cNvSpPr txBox="1"/>
          <p:nvPr/>
        </p:nvSpPr>
        <p:spPr>
          <a:xfrm>
            <a:off x="11219688" y="447141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9" name="Text 16"/>
          <p:cNvSpPr txBox="1"/>
          <p:nvPr/>
        </p:nvSpPr>
        <p:spPr>
          <a:xfrm>
            <a:off x="8183880" y="445312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الأرقام الكبرى</a:t>
            </a:r>
            <a:endParaRPr lang="ar-AE" sz="1600" dirty="0"/>
          </a:p>
        </p:txBody>
      </p:sp>
      <p:sp>
        <p:nvSpPr>
          <p:cNvPr id="20" name="Text 17"/>
          <p:cNvSpPr txBox="1"/>
          <p:nvPr/>
        </p:nvSpPr>
        <p:spPr>
          <a:xfrm>
            <a:off x="8183880" y="483717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المشاريع والمصادر والمقابلات والأصول والادعاءات والعناصر.</a:t>
            </a:r>
            <a:endParaRPr lang="ar-AE" sz="1400" dirty="0"/>
          </a:p>
        </p:txBody>
      </p:sp>
      <p:sp>
        <p:nvSpPr>
          <p:cNvPr id="21" name="Text 18"/>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latin typeface="Noto Naskh Arabic"/>
                <a:cs typeface="adwa-assalaf"/>
              </a:rPr>
              <a:t>الصفحة الرئيسية بعد استيراد النموذج التطبيقي.</a:t>
            </a:r>
            <a:endParaRPr lang="ar-AE" sz="1200" dirty="0"/>
          </a:p>
        </p:txBody>
      </p:sp>
      <p:sp>
        <p:nvSpPr>
          <p:cNvPr id="22" name="num-1"/>
          <p:cNvSpPr/>
          <p:nvPr/>
        </p:nvSpPr>
        <p:spPr>
          <a:xfrm>
            <a:off x="7388352" y="2057400"/>
            <a:ext cx="365760" cy="365760"/>
          </a:xfrm>
          <a:prstGeom prst="ellipse">
            <a:avLst/>
          </a:prstGeom>
          <a:solidFill>
            <a:schemeClr val="accent6"/>
          </a:solidFill>
          <a:ln w="12700">
            <a:solidFill>
              <a:schemeClr val="accent6"/>
            </a:solidFill>
            <a:prstDash val="solid"/>
          </a:ln>
        </p:spPr>
      </p:sp>
      <p:sp>
        <p:nvSpPr>
          <p:cNvPr id="23" name="Text 20"/>
          <p:cNvSpPr txBox="1"/>
          <p:nvPr/>
        </p:nvSpPr>
        <p:spPr>
          <a:xfrm>
            <a:off x="7388352" y="20574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24" name="num-2"/>
          <p:cNvSpPr/>
          <p:nvPr/>
        </p:nvSpPr>
        <p:spPr>
          <a:xfrm>
            <a:off x="6537960" y="1371600"/>
            <a:ext cx="365760" cy="365760"/>
          </a:xfrm>
          <a:prstGeom prst="ellipse">
            <a:avLst/>
          </a:prstGeom>
          <a:solidFill>
            <a:schemeClr val="accent6"/>
          </a:solidFill>
          <a:ln w="12700">
            <a:solidFill>
              <a:schemeClr val="accent6"/>
            </a:solidFill>
            <a:prstDash val="solid"/>
          </a:ln>
        </p:spPr>
      </p:sp>
      <p:sp>
        <p:nvSpPr>
          <p:cNvPr id="25" name="Text 22"/>
          <p:cNvSpPr txBox="1"/>
          <p:nvPr/>
        </p:nvSpPr>
        <p:spPr>
          <a:xfrm>
            <a:off x="6537960" y="13716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26" name="num-3"/>
          <p:cNvSpPr/>
          <p:nvPr/>
        </p:nvSpPr>
        <p:spPr>
          <a:xfrm>
            <a:off x="3291840" y="2788920"/>
            <a:ext cx="365760" cy="365760"/>
          </a:xfrm>
          <a:prstGeom prst="ellipse">
            <a:avLst/>
          </a:prstGeom>
          <a:solidFill>
            <a:schemeClr val="accent6"/>
          </a:solidFill>
          <a:ln w="12700">
            <a:solidFill>
              <a:schemeClr val="accent6"/>
            </a:solidFill>
            <a:prstDash val="solid"/>
          </a:ln>
        </p:spPr>
      </p:sp>
      <p:sp>
        <p:nvSpPr>
          <p:cNvPr id="27" name="Text 24"/>
          <p:cNvSpPr txBox="1"/>
          <p:nvPr/>
        </p:nvSpPr>
        <p:spPr>
          <a:xfrm>
            <a:off x="3291840" y="278892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28" name="num-4"/>
          <p:cNvSpPr/>
          <p:nvPr/>
        </p:nvSpPr>
        <p:spPr>
          <a:xfrm>
            <a:off x="6355080" y="3364992"/>
            <a:ext cx="365760" cy="365760"/>
          </a:xfrm>
          <a:prstGeom prst="ellipse">
            <a:avLst/>
          </a:prstGeom>
          <a:solidFill>
            <a:schemeClr val="accent6"/>
          </a:solidFill>
          <a:ln w="12700">
            <a:solidFill>
              <a:schemeClr val="accent6"/>
            </a:solidFill>
            <a:prstDash val="solid"/>
          </a:ln>
        </p:spPr>
      </p:sp>
      <p:sp>
        <p:nvSpPr>
          <p:cNvPr id="29" name="Text 26"/>
          <p:cNvSpPr txBox="1"/>
          <p:nvPr/>
        </p:nvSpPr>
        <p:spPr>
          <a:xfrm>
            <a:off x="6355080" y="33649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المؤشرات ودورة المشروع</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3_home_kpi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اثنا عشر مؤشراً</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تُحسب من البيانات الفعلية، كالموافقات وسلامة الأصول.</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خط الأساس أولاً</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لا مستهدفات رقمية قبله؛ يثبّته المدير بعد الأشهر الأولى، ثم تُقارن القيم به.</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المراحل الست عشرة</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من الفكرة إلى النشر والأرشفة، والرقم داخل كل مرحلة عدد مشاريعها.</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صفحة المشروع</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6_project.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بطاقة المشروع</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السؤال البحثي والمجال والإمارة، مع تحرير البيانات.</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التصدير</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ملف Word بالهوية البصرية، وJSON، وGeoJSON للأطلس.</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مسار المشروع</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المرحلة الحالية مضاءة، وما قبلها منجز.</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بوابة الجودة وقرار المراجعة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7_project_gate.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فحوص محسوبة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لكل بوابة شروط تُحسب من البيانات؛ والزر لا يعمل قبل اكتمالها.</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قرار المراجعة</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يسجّله الوكيل المختص أو المراجع البشري، بالتعليل.</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الاعتماد لا يُنتحل</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قرار HUM-DIR لا يسجّله إلا حساب بصفة «مدير».</a:t>
            </a:r>
            <a:endParaRPr lang="ar-AE" sz="1400" dirty="0"/>
          </a:p>
        </p:txBody>
      </p:sp>
      <p:sp>
        <p:nvSpPr>
          <p:cNvPr id="17" name="Text 14"/>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latin typeface="Noto Naskh Arabic"/>
                <a:cs typeface="adwa-assalaf"/>
              </a:rPr>
              <a:t>مثال: بوابة «الموافقات» لا تُجتاز ما دامت مقابلة بلا موافقة تسجيل.</a:t>
            </a:r>
            <a:endParaRPr lang="ar-AE" sz="1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سجلات المشروع</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8_project_record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كل الكيانات في مكان واحد</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المصادر والرواة والمقابلات والادعاءات والتعارضات والمعجم وغيرها، مع العدد.</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إضافة وتصدير</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سجل جديد مرتبط بالمشروع، وتصدير CSV لكل جدول.</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الشركاء</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دعوة مؤلف مشارك أو مطّلع في نمط الفريق.</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السجلات المعرفية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9_archive.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سبعة وعشرون كياناً</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مجمّعة في عشر مجموعات: المصادر والأدلة، والتاريخ الشفهي، والوسائط، والوثائق…</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نماذج مولّدة من المخطط</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حقول كل كيان بأسمائها العربية وقوائمها المضبوطة.</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سجل التغييرات والمشاركة</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كل تعديل محفوظ بقيمته قبل وبعد، ومشاركة سجل بعينه لمستخدم بعينه.</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الخزنة والوسائط</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1_vault.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إيداع بالسحب والإفلات</a:t>
            </a:r>
            <a:endParaRPr lang="ar-AE" sz="1600" dirty="0"/>
          </a:p>
        </p:txBody>
      </p:sp>
      <p:sp>
        <p:nvSpPr>
          <p:cNvPr id="8" name="Text 5"/>
          <p:cNvSpPr txBox="1"/>
          <p:nvPr/>
        </p:nvSpPr>
        <p:spPr>
          <a:xfrm>
            <a:off x="8183880" y="168249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صوت وصورة وفيديو ووثائق، مع المصدر والحقوق والمودِع.</a:t>
            </a:r>
            <a:endParaRPr lang="ar-AE" sz="1400" dirty="0"/>
          </a:p>
        </p:txBody>
      </p:sp>
      <p:sp>
        <p:nvSpPr>
          <p:cNvPr id="9" name="num-2"/>
          <p:cNvSpPr/>
          <p:nvPr/>
        </p:nvSpPr>
        <p:spPr>
          <a:xfrm>
            <a:off x="11219688" y="236829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3682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35000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الأصل لا يُعدَّل</a:t>
            </a:r>
            <a:endParaRPr lang="ar-AE" sz="1600" dirty="0"/>
          </a:p>
        </p:txBody>
      </p:sp>
      <p:sp>
        <p:nvSpPr>
          <p:cNvPr id="12" name="Text 9"/>
          <p:cNvSpPr txBox="1"/>
          <p:nvPr/>
        </p:nvSpPr>
        <p:spPr>
          <a:xfrm>
            <a:off x="8183880" y="273405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بصمة SHA-256، ونسخة للقراءة فقط، وكشف أي عبث.</a:t>
            </a:r>
            <a:endParaRPr lang="ar-AE" sz="1400" dirty="0"/>
          </a:p>
        </p:txBody>
      </p:sp>
      <p:sp>
        <p:nvSpPr>
          <p:cNvPr id="13" name="num-3"/>
          <p:cNvSpPr/>
          <p:nvPr/>
        </p:nvSpPr>
        <p:spPr>
          <a:xfrm>
            <a:off x="11219688" y="341985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41985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40156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السلامة والنسخ الاحتياطي</a:t>
            </a:r>
            <a:endParaRPr lang="ar-AE" sz="1600" dirty="0"/>
          </a:p>
        </p:txBody>
      </p:sp>
      <p:sp>
        <p:nvSpPr>
          <p:cNvPr id="16" name="Text 13"/>
          <p:cNvSpPr txBox="1"/>
          <p:nvPr/>
        </p:nvSpPr>
        <p:spPr>
          <a:xfrm>
            <a:off x="8183880" y="378561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زر لكل منهما، والنسخة ببيان بصمات.</a:t>
            </a:r>
            <a:endParaRPr lang="ar-AE" sz="1400" dirty="0"/>
          </a:p>
        </p:txBody>
      </p:sp>
      <p:sp>
        <p:nvSpPr>
          <p:cNvPr id="17" name="num-4"/>
          <p:cNvSpPr/>
          <p:nvPr/>
        </p:nvSpPr>
        <p:spPr>
          <a:xfrm>
            <a:off x="11219688" y="4471416"/>
            <a:ext cx="420624" cy="420624"/>
          </a:xfrm>
          <a:prstGeom prst="ellipse">
            <a:avLst/>
          </a:prstGeom>
          <a:solidFill>
            <a:schemeClr val="accent2"/>
          </a:solidFill>
          <a:ln w="12700">
            <a:solidFill>
              <a:schemeClr val="accent2"/>
            </a:solidFill>
            <a:prstDash val="solid"/>
          </a:ln>
        </p:spPr>
      </p:sp>
      <p:sp>
        <p:nvSpPr>
          <p:cNvPr id="18" name="Text 15"/>
          <p:cNvSpPr txBox="1"/>
          <p:nvPr/>
        </p:nvSpPr>
        <p:spPr>
          <a:xfrm>
            <a:off x="11219688" y="447141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9" name="Text 16"/>
          <p:cNvSpPr txBox="1"/>
          <p:nvPr/>
        </p:nvSpPr>
        <p:spPr>
          <a:xfrm>
            <a:off x="8183880" y="445312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حماية المواقع</a:t>
            </a:r>
            <a:endParaRPr lang="ar-AE" sz="1600" dirty="0"/>
          </a:p>
        </p:txBody>
      </p:sp>
      <p:sp>
        <p:nvSpPr>
          <p:cNvPr id="20" name="Text 17"/>
          <p:cNvSpPr txBox="1"/>
          <p:nvPr/>
        </p:nvSpPr>
        <p:spPr>
          <a:xfrm>
            <a:off x="8183880" y="483717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الصورة التي تحمل إحداثيات تُعلَّم «يحمل موقعاً» قبل أي نشر.</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المختبر السمعي واللغوي</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2_lab.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القاعدة الإلزامية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لا يُستبدل اللفظ المحلي بالفصحى في التفريغ الحرفي، ولا يُخمَّن ما لم يُفهم.</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اثنتا عشرة خطوة</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من تسجيل المصدر والبصمة إلى المراجعة البشرية ومراجعة الخصوصية.</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قائمة المقابلات</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بحالة التفريغ: لا تفريغ، مسودة، روجع لهجياً، معتمد.</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تفريغ مقابلة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3_lab_detail.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الأصل والتقدم</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مشغّل التسجيل، والبصمة، وعدد الخطوات المنجزة.</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الخطوات بالنقر</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الآلية تتم عند الإيداع، والبشرية مؤطرة بالذهبي.</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نسختان متوازيتان</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حرفية بطوابع زمنية، ومقروءة لا تحل محلها؛ وتصدير SRT.</a:t>
            </a:r>
            <a:endParaRPr lang="ar-AE" sz="1400" dirty="0"/>
          </a:p>
        </p:txBody>
      </p:sp>
      <p:sp>
        <p:nvSpPr>
          <p:cNvPr id="17" name="Text 14"/>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latin typeface="Noto Naskh Arabic"/>
                <a:cs typeface="adwa-assalaf"/>
              </a:rPr>
              <a:t>المقابلة في الصورة بيانات تجريبية للعرض، لا شهادة حقيقية.</a:t>
            </a:r>
            <a:endParaRPr lang="ar-AE" sz="1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الأدلة والتثليث</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6_claim_card.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أصناف الأدلة الستة</a:t>
            </a:r>
            <a:endParaRPr lang="ar-AE" sz="1600" dirty="0"/>
          </a:p>
        </p:txBody>
      </p:sp>
      <p:sp>
        <p:nvSpPr>
          <p:cNvPr id="8" name="Text 5"/>
          <p:cNvSpPr txBox="1"/>
          <p:nvPr/>
        </p:nvSpPr>
        <p:spPr>
          <a:xfrm>
            <a:off x="8183880" y="168249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شهادة، ووثيقة، ودليل مادي، وصورة، وشعر، ورواية مستقلة.</a:t>
            </a:r>
            <a:endParaRPr lang="ar-AE" sz="1400" dirty="0"/>
          </a:p>
        </p:txBody>
      </p:sp>
      <p:sp>
        <p:nvSpPr>
          <p:cNvPr id="9" name="num-2"/>
          <p:cNvSpPr/>
          <p:nvPr/>
        </p:nvSpPr>
        <p:spPr>
          <a:xfrm>
            <a:off x="11219688" y="236829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3682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35000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الاستقلال لا العدد</a:t>
            </a:r>
            <a:endParaRPr lang="ar-AE" sz="1600" dirty="0"/>
          </a:p>
        </p:txBody>
      </p:sp>
      <p:sp>
        <p:nvSpPr>
          <p:cNvPr id="12" name="Text 9"/>
          <p:cNvSpPr txBox="1"/>
          <p:nvPr/>
        </p:nvSpPr>
        <p:spPr>
          <a:xfrm>
            <a:off x="8183880" y="273405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الشهادات المنقولة عن أصل واحد تُعدّ شهادة واحدة.</a:t>
            </a:r>
            <a:endParaRPr lang="ar-AE" sz="1400" dirty="0"/>
          </a:p>
        </p:txBody>
      </p:sp>
      <p:sp>
        <p:nvSpPr>
          <p:cNvPr id="13" name="num-3"/>
          <p:cNvSpPr/>
          <p:nvPr/>
        </p:nvSpPr>
        <p:spPr>
          <a:xfrm>
            <a:off x="11219688" y="341985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41985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40156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حالة مقترحة من الأدلة</a:t>
            </a:r>
            <a:endParaRPr lang="ar-AE" sz="1600" dirty="0"/>
          </a:p>
        </p:txBody>
      </p:sp>
      <p:sp>
        <p:nvSpPr>
          <p:cNvPr id="16" name="Text 13"/>
          <p:cNvSpPr txBox="1"/>
          <p:nvPr/>
        </p:nvSpPr>
        <p:spPr>
          <a:xfrm>
            <a:off x="8183880" y="378561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والصحافة وحدها لا تُثبت واقعة جوهرية.</a:t>
            </a:r>
            <a:endParaRPr lang="ar-AE" sz="1400" dirty="0"/>
          </a:p>
        </p:txBody>
      </p:sp>
      <p:sp>
        <p:nvSpPr>
          <p:cNvPr id="17" name="num-4"/>
          <p:cNvSpPr/>
          <p:nvPr/>
        </p:nvSpPr>
        <p:spPr>
          <a:xfrm>
            <a:off x="11219688" y="4471416"/>
            <a:ext cx="420624" cy="420624"/>
          </a:xfrm>
          <a:prstGeom prst="ellipse">
            <a:avLst/>
          </a:prstGeom>
          <a:solidFill>
            <a:schemeClr val="accent2"/>
          </a:solidFill>
          <a:ln w="12700">
            <a:solidFill>
              <a:schemeClr val="accent2"/>
            </a:solidFill>
            <a:prstDash val="solid"/>
          </a:ln>
        </p:spPr>
      </p:sp>
      <p:sp>
        <p:nvSpPr>
          <p:cNvPr id="18" name="Text 15"/>
          <p:cNvSpPr txBox="1"/>
          <p:nvPr/>
        </p:nvSpPr>
        <p:spPr>
          <a:xfrm>
            <a:off x="11219688" y="447141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9" name="Text 16"/>
          <p:cNvSpPr txBox="1"/>
          <p:nvPr/>
        </p:nvSpPr>
        <p:spPr>
          <a:xfrm>
            <a:off x="8183880" y="445312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ربط دليل جديد</a:t>
            </a:r>
            <a:endParaRPr lang="ar-AE" sz="1600" dirty="0"/>
          </a:p>
        </p:txBody>
      </p:sp>
      <p:sp>
        <p:nvSpPr>
          <p:cNvPr id="20" name="Text 17"/>
          <p:cNvSpPr txBox="1"/>
          <p:nvPr/>
        </p:nvSpPr>
        <p:spPr>
          <a:xfrm>
            <a:off x="8183880" y="483717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بالموضع والشاهد وأصل الشهادة.</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سجل التعارضات</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7_conflict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لا تسوية مصطنعة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تُحفظ الروايات المتباينة بأسانيدها، مفتوحة حتى يحسمها دليل.</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من النموذج التطبيقي</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سبعة تعارضات في «التلي»، منها عدد الخيوط ومعنى «الكاجوجة».</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شرط بوابة التحليل</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لا انتقال قبل تحليل كل تعارض.</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الوكلاء العشرون</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8_agent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الهيكل التنظيمي</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المراجع البشري، فالمدير التنفيذي، فعشر وحدات متخصصة.</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بطاقات تشغيلية</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لكل وكيل موجه نظام مستقل، وصلاحيات ومحظورات، وإجراءات، وتسليم.</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سجل التكليفات</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كل تكليف محفوظ بمحركه وحالته؛ والمخرج مسودة حتى المراجعة.</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بطاقة الوكيل وتكليفه</a:t>
            </a:r>
            <a:endParaRPr lang="ar-AE" sz="3200" dirty="0"/>
          </a:p>
        </p:txBody>
      </p:sp>
      <p:sp>
        <p:nvSpPr>
          <p:cNvPr id="3" name="screen-frame"/>
          <p:cNvSpPr/>
          <p:nvPr/>
        </p:nvSpPr>
        <p:spPr>
          <a:xfrm>
            <a:off x="6117336" y="1316736"/>
            <a:ext cx="5577840" cy="3182112"/>
          </a:xfrm>
          <a:prstGeom prst="roundRect">
            <a:avLst>
              <a:gd name="adj" fmla="val 2299"/>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9_agent_card.jpg">    </p:cNvPr>
          <p:cNvPicPr>
            <a:picLocks noChangeAspect="1"/>
          </p:cNvPicPr>
          <p:nvPr/>
        </p:nvPicPr>
        <p:blipFill>
          <a:blip r:embed="rId1"/>
          <a:stretch>
            <a:fillRect/>
          </a:stretch>
        </p:blipFill>
        <p:spPr>
          <a:xfrm>
            <a:off x="6172200" y="1371600"/>
            <a:ext cx="5468112" cy="3072384"/>
          </a:xfrm>
          <a:prstGeom prst="rect">
            <a:avLst/>
          </a:prstGeom>
        </p:spPr>
      </p:pic>
      <p:sp>
        <p:nvSpPr>
          <p:cNvPr id="5" name="screen-frame"/>
          <p:cNvSpPr/>
          <p:nvPr/>
        </p:nvSpPr>
        <p:spPr>
          <a:xfrm>
            <a:off x="493776" y="1316736"/>
            <a:ext cx="5577840" cy="3182112"/>
          </a:xfrm>
          <a:prstGeom prst="roundRect">
            <a:avLst>
              <a:gd name="adj" fmla="val 2299"/>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6" name="screenshot" descr="/tmp/claude-0/-home-user/11b98046-3116-585b-b221-e5c2e170e62a/scratchpad/shots/21_agent_run_result.jpg">    </p:cNvPr>
          <p:cNvPicPr>
            <a:picLocks noChangeAspect="1"/>
          </p:cNvPicPr>
          <p:nvPr/>
        </p:nvPicPr>
        <p:blipFill>
          <a:blip r:embed="rId2"/>
          <a:stretch>
            <a:fillRect/>
          </a:stretch>
        </p:blipFill>
        <p:spPr>
          <a:xfrm>
            <a:off x="548640" y="1371600"/>
            <a:ext cx="5468112" cy="3072384"/>
          </a:xfrm>
          <a:prstGeom prst="rect">
            <a:avLst/>
          </a:prstGeom>
        </p:spPr>
      </p:pic>
      <p:sp>
        <p:nvSpPr>
          <p:cNvPr id="7" name="num-1"/>
          <p:cNvSpPr/>
          <p:nvPr/>
        </p:nvSpPr>
        <p:spPr>
          <a:xfrm>
            <a:off x="11219688" y="4709160"/>
            <a:ext cx="420624" cy="420624"/>
          </a:xfrm>
          <a:prstGeom prst="ellipse">
            <a:avLst/>
          </a:prstGeom>
          <a:solidFill>
            <a:schemeClr val="accent2"/>
          </a:solidFill>
          <a:ln w="12700">
            <a:solidFill>
              <a:schemeClr val="accent2"/>
            </a:solidFill>
            <a:prstDash val="solid"/>
          </a:ln>
        </p:spPr>
      </p:sp>
      <p:sp>
        <p:nvSpPr>
          <p:cNvPr id="8" name="Text 4"/>
          <p:cNvSpPr txBox="1"/>
          <p:nvPr/>
        </p:nvSpPr>
        <p:spPr>
          <a:xfrm>
            <a:off x="11219688" y="4709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9" name="Text 5"/>
          <p:cNvSpPr txBox="1"/>
          <p:nvPr/>
        </p:nvSpPr>
        <p:spPr>
          <a:xfrm>
            <a:off x="6172200" y="4681728"/>
            <a:ext cx="4901184" cy="411480"/>
          </a:xfrm>
          <a:prstGeom prst="rect">
            <a:avLst/>
          </a:prstGeom>
          <a:noFill/>
          <a:ln/>
        </p:spPr>
        <p:txBody>
          <a:bodyPr wrap="square" lIns="0" tIns="0" rIns="0" bIns="0" rtlCol="0" anchor="ctr"/>
          <a:lstStyle/>
          <a:p>
            <a:pPr rtl="1" algn="r" indent="0" marL="0">
              <a:buNone/>
            </a:pPr>
            <a:r>
              <a:rPr lang="ar-AE" altLang="en-US" sz="1600" b="1" dirty="0">
                <a:solidFill>
                  <a:schemeClr val="accent1"/>
                </a:solidFill>
                <a:latin typeface="Noto Naskh Arabic"/>
                <a:cs typeface="adwa-assalaf"/>
              </a:rPr>
              <a:t>البطاقة الكاملة</a:t>
            </a:r>
            <a:endParaRPr lang="ar-AE" sz="1600" dirty="0"/>
          </a:p>
        </p:txBody>
      </p:sp>
      <p:sp>
        <p:nvSpPr>
          <p:cNvPr id="10" name="Text 6"/>
          <p:cNvSpPr txBox="1"/>
          <p:nvPr/>
        </p:nvSpPr>
        <p:spPr>
          <a:xfrm>
            <a:off x="6172200" y="5102352"/>
            <a:ext cx="4901184" cy="82296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موجه النظام، والاختصاص، والأدوات والبيانات، والإجراءات والتسليم، والمخرجات والجودة.</a:t>
            </a:r>
            <a:endParaRPr lang="ar-AE" sz="1400" dirty="0"/>
          </a:p>
        </p:txBody>
      </p:sp>
      <p:sp>
        <p:nvSpPr>
          <p:cNvPr id="11" name="num-2"/>
          <p:cNvSpPr/>
          <p:nvPr/>
        </p:nvSpPr>
        <p:spPr>
          <a:xfrm>
            <a:off x="5596128" y="4709160"/>
            <a:ext cx="420624" cy="420624"/>
          </a:xfrm>
          <a:prstGeom prst="ellipse">
            <a:avLst/>
          </a:prstGeom>
          <a:solidFill>
            <a:schemeClr val="accent2"/>
          </a:solidFill>
          <a:ln w="12700">
            <a:solidFill>
              <a:schemeClr val="accent2"/>
            </a:solidFill>
            <a:prstDash val="solid"/>
          </a:ln>
        </p:spPr>
      </p:sp>
      <p:sp>
        <p:nvSpPr>
          <p:cNvPr id="12" name="Text 8"/>
          <p:cNvSpPr txBox="1"/>
          <p:nvPr/>
        </p:nvSpPr>
        <p:spPr>
          <a:xfrm>
            <a:off x="5596128" y="4709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Text 9"/>
          <p:cNvSpPr txBox="1"/>
          <p:nvPr/>
        </p:nvSpPr>
        <p:spPr>
          <a:xfrm>
            <a:off x="548640" y="4681728"/>
            <a:ext cx="4901184" cy="411480"/>
          </a:xfrm>
          <a:prstGeom prst="rect">
            <a:avLst/>
          </a:prstGeom>
          <a:noFill/>
          <a:ln/>
        </p:spPr>
        <p:txBody>
          <a:bodyPr wrap="square" lIns="0" tIns="0" rIns="0" bIns="0" rtlCol="0" anchor="ctr"/>
          <a:lstStyle/>
          <a:p>
            <a:pPr rtl="1" algn="r" indent="0" marL="0">
              <a:buNone/>
            </a:pPr>
            <a:r>
              <a:rPr lang="ar-AE" altLang="en-US" sz="1600" b="1" dirty="0">
                <a:solidFill>
                  <a:schemeClr val="accent1"/>
                </a:solidFill>
                <a:latin typeface="Noto Naskh Arabic"/>
                <a:cs typeface="adwa-assalaf"/>
              </a:rPr>
              <a:t>التكليف وحزمته</a:t>
            </a:r>
            <a:endParaRPr lang="ar-AE" sz="1600" dirty="0"/>
          </a:p>
        </p:txBody>
      </p:sp>
      <p:sp>
        <p:nvSpPr>
          <p:cNvPr id="14" name="Text 10"/>
          <p:cNvSpPr txBox="1"/>
          <p:nvPr/>
        </p:nvSpPr>
        <p:spPr>
          <a:xfrm>
            <a:off x="548640" y="5102352"/>
            <a:ext cx="4901184" cy="82296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يُشغَّل الوكيل عبر Claude Code أو مفتاح API إن توفرا، وإلا أُنتجت حزمة تكليف جاهزة للّصق.</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المهارات الأربع عشرة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22_skill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أوامر مؤسسية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«ابحث تراثياً»، و«فرغ مقابلة»، و«حقق رواية»، و«دقق المصادر»…</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لكل أمر وكيله</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بإجراءات ومخرجات إلزامية، ومرحلته في دورة المشروع.</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في Claude Code أيضاً</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الأوامر نفسها مهارات قابلة للاستدعاء داخل المستودع.</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لوحة القيادة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24_kpi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كل المشاريع أو مشروع واحد</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اختيار من القائمة أعلى الشاشة.</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تثبيت خط الأساس</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قرار بشري للمدير يُسجَّل، ثم تظهر القيمة الأساس تحت كل مؤشر.</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Noto Naskh Arabic"/>
                <a:cs typeface="adwa-assalaf"/>
              </a:rPr>
              <a:t>طريقة الحساب معلنة</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latin typeface="Noto Naskh Arabic"/>
                <a:cs typeface="adwa-assalaf"/>
              </a:rPr>
              <a:t>كل مؤشر معرّف إجرائياً أسفل الشاشة.</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الوثائق والإعدادات والبحث</a:t>
            </a:r>
            <a:endParaRPr lang="ar-AE" sz="3200" dirty="0"/>
          </a:p>
        </p:txBody>
      </p:sp>
      <p:sp>
        <p:nvSpPr>
          <p:cNvPr id="3" name="screen-frame"/>
          <p:cNvSpPr/>
          <p:nvPr/>
        </p:nvSpPr>
        <p:spPr>
          <a:xfrm>
            <a:off x="7991856" y="1362456"/>
            <a:ext cx="3630168" cy="2090318"/>
          </a:xfrm>
          <a:prstGeom prst="roundRect">
            <a:avLst>
              <a:gd name="adj" fmla="val 3500"/>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25_docs.jpg">    </p:cNvPr>
          <p:cNvPicPr>
            <a:picLocks noChangeAspect="1"/>
          </p:cNvPicPr>
          <p:nvPr/>
        </p:nvPicPr>
        <p:blipFill>
          <a:blip r:embed="rId1"/>
          <a:stretch>
            <a:fillRect/>
          </a:stretch>
        </p:blipFill>
        <p:spPr>
          <a:xfrm>
            <a:off x="8046720" y="1417320"/>
            <a:ext cx="3520440" cy="1980590"/>
          </a:xfrm>
          <a:prstGeom prst="rect">
            <a:avLst/>
          </a:prstGeom>
        </p:spPr>
      </p:pic>
      <p:sp>
        <p:nvSpPr>
          <p:cNvPr id="5" name="num-1"/>
          <p:cNvSpPr/>
          <p:nvPr/>
        </p:nvSpPr>
        <p:spPr>
          <a:xfrm>
            <a:off x="11146536" y="3657600"/>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146536" y="3657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8046720" y="3639312"/>
            <a:ext cx="297180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latin typeface="Noto Naskh Arabic"/>
                <a:cs typeface="adwa-assalaf"/>
              </a:rPr>
              <a:t>الوثائق والاستمارات</a:t>
            </a:r>
            <a:endParaRPr lang="ar-AE" sz="1700" dirty="0"/>
          </a:p>
        </p:txBody>
      </p:sp>
      <p:sp>
        <p:nvSpPr>
          <p:cNvPr id="8" name="Text 5"/>
          <p:cNvSpPr txBox="1"/>
          <p:nvPr/>
        </p:nvSpPr>
        <p:spPr>
          <a:xfrm>
            <a:off x="8046720" y="4114800"/>
            <a:ext cx="3520440" cy="118872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تسع عشرة وثيقة تُقرأ وتُطبع، منها استمارة المقابلة ونموذج الموافقة.</a:t>
            </a:r>
            <a:endParaRPr lang="ar-AE" sz="1400" dirty="0"/>
          </a:p>
        </p:txBody>
      </p:sp>
      <p:sp>
        <p:nvSpPr>
          <p:cNvPr id="9" name="screen-frame"/>
          <p:cNvSpPr/>
          <p:nvPr/>
        </p:nvSpPr>
        <p:spPr>
          <a:xfrm>
            <a:off x="4242816" y="1362456"/>
            <a:ext cx="3630168" cy="2090318"/>
          </a:xfrm>
          <a:prstGeom prst="roundRect">
            <a:avLst>
              <a:gd name="adj" fmla="val 3500"/>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10" name="screenshot" descr="/tmp/claude-0/-home-user/11b98046-3116-585b-b221-e5c2e170e62a/scratchpad/shots/26_settings.jpg">    </p:cNvPr>
          <p:cNvPicPr>
            <a:picLocks noChangeAspect="1"/>
          </p:cNvPicPr>
          <p:nvPr/>
        </p:nvPicPr>
        <p:blipFill>
          <a:blip r:embed="rId2"/>
          <a:stretch>
            <a:fillRect/>
          </a:stretch>
        </p:blipFill>
        <p:spPr>
          <a:xfrm>
            <a:off x="4297680" y="1417320"/>
            <a:ext cx="3520440" cy="1980590"/>
          </a:xfrm>
          <a:prstGeom prst="rect">
            <a:avLst/>
          </a:prstGeom>
        </p:spPr>
      </p:pic>
      <p:sp>
        <p:nvSpPr>
          <p:cNvPr id="11" name="num-2"/>
          <p:cNvSpPr/>
          <p:nvPr/>
        </p:nvSpPr>
        <p:spPr>
          <a:xfrm>
            <a:off x="7397496" y="3657600"/>
            <a:ext cx="420624" cy="420624"/>
          </a:xfrm>
          <a:prstGeom prst="ellipse">
            <a:avLst/>
          </a:prstGeom>
          <a:solidFill>
            <a:schemeClr val="accent2"/>
          </a:solidFill>
          <a:ln w="12700">
            <a:solidFill>
              <a:schemeClr val="accent2"/>
            </a:solidFill>
            <a:prstDash val="solid"/>
          </a:ln>
        </p:spPr>
      </p:sp>
      <p:sp>
        <p:nvSpPr>
          <p:cNvPr id="12" name="Text 8"/>
          <p:cNvSpPr txBox="1"/>
          <p:nvPr/>
        </p:nvSpPr>
        <p:spPr>
          <a:xfrm>
            <a:off x="7397496" y="3657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Text 9"/>
          <p:cNvSpPr txBox="1"/>
          <p:nvPr/>
        </p:nvSpPr>
        <p:spPr>
          <a:xfrm>
            <a:off x="4297680" y="3639312"/>
            <a:ext cx="297180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latin typeface="Noto Naskh Arabic"/>
                <a:cs typeface="adwa-assalaf"/>
              </a:rPr>
              <a:t>الإعدادات</a:t>
            </a:r>
            <a:endParaRPr lang="ar-AE" sz="1700" dirty="0"/>
          </a:p>
        </p:txBody>
      </p:sp>
      <p:sp>
        <p:nvSpPr>
          <p:cNvPr id="14" name="Text 10"/>
          <p:cNvSpPr txBox="1"/>
          <p:nvPr/>
        </p:nvSpPr>
        <p:spPr>
          <a:xfrm>
            <a:off x="4297680" y="4114800"/>
            <a:ext cx="3520440" cy="118872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أنماط التشغيل، ومحرك الوكلاء، والحسابات، وخط الهوية وتثبيته في النظام، واعتماد أيقونة البرنامج.</a:t>
            </a:r>
            <a:endParaRPr lang="ar-AE" sz="1400" dirty="0"/>
          </a:p>
        </p:txBody>
      </p:sp>
      <p:sp>
        <p:nvSpPr>
          <p:cNvPr id="15" name="screen-frame"/>
          <p:cNvSpPr/>
          <p:nvPr/>
        </p:nvSpPr>
        <p:spPr>
          <a:xfrm>
            <a:off x="493776" y="1362456"/>
            <a:ext cx="3630168" cy="2090318"/>
          </a:xfrm>
          <a:prstGeom prst="roundRect">
            <a:avLst>
              <a:gd name="adj" fmla="val 3500"/>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16" name="screenshot" descr="/tmp/claude-0/-home-user/11b98046-3116-585b-b221-e5c2e170e62a/scratchpad/shots/27_search.jpg">    </p:cNvPr>
          <p:cNvPicPr>
            <a:picLocks noChangeAspect="1"/>
          </p:cNvPicPr>
          <p:nvPr/>
        </p:nvPicPr>
        <p:blipFill>
          <a:blip r:embed="rId3"/>
          <a:stretch>
            <a:fillRect/>
          </a:stretch>
        </p:blipFill>
        <p:spPr>
          <a:xfrm>
            <a:off x="548640" y="1417320"/>
            <a:ext cx="3520440" cy="1980590"/>
          </a:xfrm>
          <a:prstGeom prst="rect">
            <a:avLst/>
          </a:prstGeom>
        </p:spPr>
      </p:pic>
      <p:sp>
        <p:nvSpPr>
          <p:cNvPr id="17" name="num-3"/>
          <p:cNvSpPr/>
          <p:nvPr/>
        </p:nvSpPr>
        <p:spPr>
          <a:xfrm>
            <a:off x="3648456" y="3657600"/>
            <a:ext cx="420624" cy="420624"/>
          </a:xfrm>
          <a:prstGeom prst="ellipse">
            <a:avLst/>
          </a:prstGeom>
          <a:solidFill>
            <a:schemeClr val="accent2"/>
          </a:solidFill>
          <a:ln w="12700">
            <a:solidFill>
              <a:schemeClr val="accent2"/>
            </a:solidFill>
            <a:prstDash val="solid"/>
          </a:ln>
        </p:spPr>
      </p:sp>
      <p:sp>
        <p:nvSpPr>
          <p:cNvPr id="18" name="Text 13"/>
          <p:cNvSpPr txBox="1"/>
          <p:nvPr/>
        </p:nvSpPr>
        <p:spPr>
          <a:xfrm>
            <a:off x="3648456" y="3657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Text 14"/>
          <p:cNvSpPr txBox="1"/>
          <p:nvPr/>
        </p:nvSpPr>
        <p:spPr>
          <a:xfrm>
            <a:off x="548640" y="3639312"/>
            <a:ext cx="297180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latin typeface="Noto Naskh Arabic"/>
                <a:cs typeface="adwa-assalaf"/>
              </a:rPr>
              <a:t>البحث الشامل</a:t>
            </a:r>
            <a:endParaRPr lang="ar-AE" sz="1700" dirty="0"/>
          </a:p>
        </p:txBody>
      </p:sp>
      <p:sp>
        <p:nvSpPr>
          <p:cNvPr id="20" name="Text 15"/>
          <p:cNvSpPr txBox="1"/>
          <p:nvPr/>
        </p:nvSpPr>
        <p:spPr>
          <a:xfrm>
            <a:off x="548640" y="4114800"/>
            <a:ext cx="3520440" cy="118872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النتيجة مظلَّلة بموضعها، ونقرة تفتح سجلها.</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ection-art" descr="/tmp/claude-0/-home-user/11b98046-3116-585b-b221-e5c2e170e62a/scratchpad/deck/assets/photos/lab.jpg">    </p:cNvPr>
          <p:cNvPicPr>
            <a:picLocks noChangeAspect="1"/>
          </p:cNvPicPr>
          <p:nvPr/>
        </p:nvPicPr>
        <p:blipFill>
          <a:blip r:embed="rId1"/>
          <a:srcRect l="0" r="0" t="0" b="0"/>
          <a:stretch/>
        </p:blipFill>
        <p:spPr>
          <a:xfrm>
            <a:off x="0" y="0"/>
            <a:ext cx="5486400" cy="658368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nchor="ctr"/>
          <a:lstStyle/>
          <a:p>
            <a:pPr rtl="1" algn="r" indent="0" marL="0">
              <a:buNone/>
            </a:pPr>
            <a:r>
              <a:rPr lang="ar-AE" altLang="en-US" sz="4000" b="1" dirty="0">
                <a:solidFill>
                  <a:schemeClr val="bg1"/>
                </a:solidFill>
                <a:latin typeface="Noto Naskh Arabic"/>
                <a:cs typeface="adwa-assalaf"/>
              </a:rPr>
              <a:t>الاستخدام</a:t>
            </a: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nchor="t"/>
          <a:lstStyle/>
          <a:p>
            <a:pPr rtl="1" algn="r" indent="0" marL="0">
              <a:buNone/>
            </a:pPr>
            <a:r>
              <a:rPr lang="ar-AE" altLang="en-US" sz="1800" dirty="0">
                <a:solidFill>
                  <a:srgbClr val="D9E4F0"/>
                </a:solidFill>
                <a:latin typeface="Noto Naskh Arabic"/>
                <a:cs typeface="adwa-assalaf"/>
              </a:rPr>
              <a:t>كيف يسير بحث تراثي في المنصة من الفكرة إلى النشر.</a:t>
            </a:r>
            <a:endParaRPr lang="ar-AE"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رحلة بحث كاملة في سبع خطوات</a:t>
            </a:r>
            <a:endParaRPr lang="ar-AE" sz="3200" dirty="0"/>
          </a:p>
        </p:txBody>
      </p:sp>
      <p:sp>
        <p:nvSpPr>
          <p:cNvPr id="3" name="journey-line"/>
          <p:cNvSpPr/>
          <p:nvPr/>
        </p:nvSpPr>
        <p:spPr>
          <a:xfrm>
            <a:off x="1280160" y="2176272"/>
            <a:ext cx="9628632" cy="0"/>
          </a:xfrm>
          <a:prstGeom prst="line">
            <a:avLst/>
          </a:prstGeom>
          <a:noFill/>
          <a:ln w="25400">
            <a:solidFill>
              <a:srgbClr val="B8860B"/>
            </a:solidFill>
            <a:prstDash val="dash"/>
          </a:ln>
        </p:spPr>
      </p:sp>
      <p:sp>
        <p:nvSpPr>
          <p:cNvPr id="4" name="icon-folder"/>
          <p:cNvSpPr/>
          <p:nvPr/>
        </p:nvSpPr>
        <p:spPr>
          <a:xfrm>
            <a:off x="10524744" y="1691640"/>
            <a:ext cx="768096" cy="768096"/>
          </a:xfrm>
          <a:prstGeom prst="ellipse">
            <a:avLst/>
          </a:prstGeom>
          <a:solidFill>
            <a:schemeClr val="accent1"/>
          </a:solidFill>
          <a:ln w="12700">
            <a:solidFill>
              <a:schemeClr val="accent1"/>
            </a:solidFill>
            <a:prstDash val="solid"/>
          </a:ln>
        </p:spPr>
      </p:sp>
      <p:pic>
        <p:nvPicPr>
          <p:cNvPr id="5" name="Image 0" descr="/tmp/claude-0/-home-user/11b98046-3116-585b-b221-e5c2e170e62a/scratchpad/deck/assets/i-folder.png">    </p:cNvPr>
          <p:cNvPicPr>
            <a:picLocks noChangeAspect="1"/>
          </p:cNvPicPr>
          <p:nvPr/>
        </p:nvPicPr>
        <p:blipFill>
          <a:blip r:embed="rId1"/>
          <a:stretch>
            <a:fillRect/>
          </a:stretch>
        </p:blipFill>
        <p:spPr>
          <a:xfrm>
            <a:off x="10716768" y="1883664"/>
            <a:ext cx="384048" cy="384048"/>
          </a:xfrm>
          <a:prstGeom prst="rect">
            <a:avLst/>
          </a:prstGeom>
        </p:spPr>
      </p:pic>
      <p:sp>
        <p:nvSpPr>
          <p:cNvPr id="6" name="num-1"/>
          <p:cNvSpPr/>
          <p:nvPr/>
        </p:nvSpPr>
        <p:spPr>
          <a:xfrm>
            <a:off x="11183112" y="1572768"/>
            <a:ext cx="347472" cy="347472"/>
          </a:xfrm>
          <a:prstGeom prst="ellipse">
            <a:avLst/>
          </a:prstGeom>
          <a:solidFill>
            <a:schemeClr val="accent2"/>
          </a:solidFill>
          <a:ln w="12700">
            <a:solidFill>
              <a:schemeClr val="accent2"/>
            </a:solidFill>
            <a:prstDash val="solid"/>
          </a:ln>
        </p:spPr>
      </p:sp>
      <p:sp>
        <p:nvSpPr>
          <p:cNvPr id="7" name="Text 4"/>
          <p:cNvSpPr txBox="1"/>
          <p:nvPr/>
        </p:nvSpPr>
        <p:spPr>
          <a:xfrm>
            <a:off x="11183112"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10177272"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latin typeface="Noto Naskh Arabic"/>
                <a:cs typeface="adwa-assalaf"/>
              </a:rPr>
              <a:t>مشروع جديد</a:t>
            </a:r>
            <a:endParaRPr lang="ar-AE" sz="1500" dirty="0"/>
          </a:p>
        </p:txBody>
      </p:sp>
      <p:sp>
        <p:nvSpPr>
          <p:cNvPr id="9" name="Text 6"/>
          <p:cNvSpPr txBox="1"/>
          <p:nvPr/>
        </p:nvSpPr>
        <p:spPr>
          <a:xfrm>
            <a:off x="10177272"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latin typeface="Noto Naskh Arabic"/>
                <a:cs typeface="adwa-assalaf"/>
              </a:rPr>
              <a:t>السؤال والفجوة والنطاق</a:t>
            </a:r>
            <a:endParaRPr lang="ar-AE" sz="1300" dirty="0"/>
          </a:p>
        </p:txBody>
      </p:sp>
      <p:sp>
        <p:nvSpPr>
          <p:cNvPr id="10" name="icon-book"/>
          <p:cNvSpPr/>
          <p:nvPr/>
        </p:nvSpPr>
        <p:spPr>
          <a:xfrm>
            <a:off x="8919972" y="1691640"/>
            <a:ext cx="768096" cy="768096"/>
          </a:xfrm>
          <a:prstGeom prst="ellipse">
            <a:avLst/>
          </a:prstGeom>
          <a:solidFill>
            <a:schemeClr val="accent4"/>
          </a:solidFill>
          <a:ln w="12700">
            <a:solidFill>
              <a:schemeClr val="accent4"/>
            </a:solidFill>
            <a:prstDash val="solid"/>
          </a:ln>
        </p:spPr>
      </p:sp>
      <p:pic>
        <p:nvPicPr>
          <p:cNvPr id="11" name="Image 1" descr="/tmp/claude-0/-home-user/11b98046-3116-585b-b221-e5c2e170e62a/scratchpad/deck/assets/i-book.png">    </p:cNvPr>
          <p:cNvPicPr>
            <a:picLocks noChangeAspect="1"/>
          </p:cNvPicPr>
          <p:nvPr/>
        </p:nvPicPr>
        <p:blipFill>
          <a:blip r:embed="rId2"/>
          <a:stretch>
            <a:fillRect/>
          </a:stretch>
        </p:blipFill>
        <p:spPr>
          <a:xfrm>
            <a:off x="9111996" y="1883664"/>
            <a:ext cx="384048" cy="384048"/>
          </a:xfrm>
          <a:prstGeom prst="rect">
            <a:avLst/>
          </a:prstGeom>
        </p:spPr>
      </p:pic>
      <p:sp>
        <p:nvSpPr>
          <p:cNvPr id="12" name="num-2"/>
          <p:cNvSpPr/>
          <p:nvPr/>
        </p:nvSpPr>
        <p:spPr>
          <a:xfrm>
            <a:off x="9578340" y="1572768"/>
            <a:ext cx="347472" cy="347472"/>
          </a:xfrm>
          <a:prstGeom prst="ellipse">
            <a:avLst/>
          </a:prstGeom>
          <a:solidFill>
            <a:schemeClr val="accent2"/>
          </a:solidFill>
          <a:ln w="12700">
            <a:solidFill>
              <a:schemeClr val="accent2"/>
            </a:solidFill>
            <a:prstDash val="solid"/>
          </a:ln>
        </p:spPr>
      </p:sp>
      <p:sp>
        <p:nvSpPr>
          <p:cNvPr id="13" name="Text 9"/>
          <p:cNvSpPr txBox="1"/>
          <p:nvPr/>
        </p:nvSpPr>
        <p:spPr>
          <a:xfrm>
            <a:off x="9578340"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4" name="Text 10"/>
          <p:cNvSpPr txBox="1"/>
          <p:nvPr/>
        </p:nvSpPr>
        <p:spPr>
          <a:xfrm>
            <a:off x="8572500"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latin typeface="Noto Naskh Arabic"/>
                <a:cs typeface="adwa-assalaf"/>
              </a:rPr>
              <a:t>المصادر</a:t>
            </a:r>
            <a:endParaRPr lang="ar-AE" sz="1500" dirty="0"/>
          </a:p>
        </p:txBody>
      </p:sp>
      <p:sp>
        <p:nvSpPr>
          <p:cNvPr id="15" name="Text 11"/>
          <p:cNvSpPr txBox="1"/>
          <p:nvPr/>
        </p:nvSpPr>
        <p:spPr>
          <a:xfrm>
            <a:off x="8572500"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latin typeface="Noto Naskh Arabic"/>
                <a:cs typeface="adwa-assalaf"/>
              </a:rPr>
              <a:t>تسجيلها وتصنيفها في الهرم</a:t>
            </a:r>
            <a:endParaRPr lang="ar-AE" sz="1300" dirty="0"/>
          </a:p>
        </p:txBody>
      </p:sp>
      <p:sp>
        <p:nvSpPr>
          <p:cNvPr id="16" name="icon-handshake"/>
          <p:cNvSpPr/>
          <p:nvPr/>
        </p:nvSpPr>
        <p:spPr>
          <a:xfrm>
            <a:off x="7315200" y="1691640"/>
            <a:ext cx="768096" cy="768096"/>
          </a:xfrm>
          <a:prstGeom prst="ellipse">
            <a:avLst/>
          </a:prstGeom>
          <a:solidFill>
            <a:schemeClr val="accent6"/>
          </a:solidFill>
          <a:ln w="12700">
            <a:solidFill>
              <a:schemeClr val="accent6"/>
            </a:solidFill>
            <a:prstDash val="solid"/>
          </a:ln>
        </p:spPr>
      </p:sp>
      <p:pic>
        <p:nvPicPr>
          <p:cNvPr id="17" name="Image 2" descr="/tmp/claude-0/-home-user/11b98046-3116-585b-b221-e5c2e170e62a/scratchpad/deck/assets/i-handshake.png">    </p:cNvPr>
          <p:cNvPicPr>
            <a:picLocks noChangeAspect="1"/>
          </p:cNvPicPr>
          <p:nvPr/>
        </p:nvPicPr>
        <p:blipFill>
          <a:blip r:embed="rId3"/>
          <a:stretch>
            <a:fillRect/>
          </a:stretch>
        </p:blipFill>
        <p:spPr>
          <a:xfrm>
            <a:off x="7507224" y="1883664"/>
            <a:ext cx="384048" cy="384048"/>
          </a:xfrm>
          <a:prstGeom prst="rect">
            <a:avLst/>
          </a:prstGeom>
        </p:spPr>
      </p:pic>
      <p:sp>
        <p:nvSpPr>
          <p:cNvPr id="18" name="num-3"/>
          <p:cNvSpPr/>
          <p:nvPr/>
        </p:nvSpPr>
        <p:spPr>
          <a:xfrm>
            <a:off x="7973568" y="1572768"/>
            <a:ext cx="347472" cy="347472"/>
          </a:xfrm>
          <a:prstGeom prst="ellipse">
            <a:avLst/>
          </a:prstGeom>
          <a:solidFill>
            <a:schemeClr val="accent2"/>
          </a:solidFill>
          <a:ln w="12700">
            <a:solidFill>
              <a:schemeClr val="accent2"/>
            </a:solidFill>
            <a:prstDash val="solid"/>
          </a:ln>
        </p:spPr>
      </p:sp>
      <p:sp>
        <p:nvSpPr>
          <p:cNvPr id="19" name="Text 14"/>
          <p:cNvSpPr txBox="1"/>
          <p:nvPr/>
        </p:nvSpPr>
        <p:spPr>
          <a:xfrm>
            <a:off x="7973568"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20" name="Text 15"/>
          <p:cNvSpPr txBox="1"/>
          <p:nvPr/>
        </p:nvSpPr>
        <p:spPr>
          <a:xfrm>
            <a:off x="6967728"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latin typeface="Noto Naskh Arabic"/>
                <a:cs typeface="adwa-assalaf"/>
              </a:rPr>
              <a:t>الموافقات</a:t>
            </a:r>
            <a:endParaRPr lang="ar-AE" sz="1500" dirty="0"/>
          </a:p>
        </p:txBody>
      </p:sp>
      <p:sp>
        <p:nvSpPr>
          <p:cNvPr id="21" name="Text 16"/>
          <p:cNvSpPr txBox="1"/>
          <p:nvPr/>
        </p:nvSpPr>
        <p:spPr>
          <a:xfrm>
            <a:off x="6967728"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latin typeface="Noto Naskh Arabic"/>
                <a:cs typeface="adwa-assalaf"/>
              </a:rPr>
              <a:t>قبل أي تسجيل</a:t>
            </a:r>
            <a:endParaRPr lang="ar-AE" sz="1300" dirty="0"/>
          </a:p>
        </p:txBody>
      </p:sp>
      <p:sp>
        <p:nvSpPr>
          <p:cNvPr id="22" name="icon-mic"/>
          <p:cNvSpPr/>
          <p:nvPr/>
        </p:nvSpPr>
        <p:spPr>
          <a:xfrm>
            <a:off x="5710428" y="1691640"/>
            <a:ext cx="768096" cy="768096"/>
          </a:xfrm>
          <a:prstGeom prst="ellipse">
            <a:avLst/>
          </a:prstGeom>
          <a:solidFill>
            <a:schemeClr val="accent3"/>
          </a:solidFill>
          <a:ln w="12700">
            <a:solidFill>
              <a:schemeClr val="accent3"/>
            </a:solidFill>
            <a:prstDash val="solid"/>
          </a:ln>
        </p:spPr>
      </p:sp>
      <p:pic>
        <p:nvPicPr>
          <p:cNvPr id="23" name="Image 3" descr="/tmp/claude-0/-home-user/11b98046-3116-585b-b221-e5c2e170e62a/scratchpad/deck/assets/i-mic.png">    </p:cNvPr>
          <p:cNvPicPr>
            <a:picLocks noChangeAspect="1"/>
          </p:cNvPicPr>
          <p:nvPr/>
        </p:nvPicPr>
        <p:blipFill>
          <a:blip r:embed="rId4"/>
          <a:stretch>
            <a:fillRect/>
          </a:stretch>
        </p:blipFill>
        <p:spPr>
          <a:xfrm>
            <a:off x="5902452" y="1883664"/>
            <a:ext cx="384048" cy="384048"/>
          </a:xfrm>
          <a:prstGeom prst="rect">
            <a:avLst/>
          </a:prstGeom>
        </p:spPr>
      </p:pic>
      <p:sp>
        <p:nvSpPr>
          <p:cNvPr id="24" name="num-4"/>
          <p:cNvSpPr/>
          <p:nvPr/>
        </p:nvSpPr>
        <p:spPr>
          <a:xfrm>
            <a:off x="6368796" y="1572768"/>
            <a:ext cx="347472" cy="347472"/>
          </a:xfrm>
          <a:prstGeom prst="ellipse">
            <a:avLst/>
          </a:prstGeom>
          <a:solidFill>
            <a:schemeClr val="accent2"/>
          </a:solidFill>
          <a:ln w="12700">
            <a:solidFill>
              <a:schemeClr val="accent2"/>
            </a:solidFill>
            <a:prstDash val="solid"/>
          </a:ln>
        </p:spPr>
      </p:sp>
      <p:sp>
        <p:nvSpPr>
          <p:cNvPr id="25" name="Text 19"/>
          <p:cNvSpPr txBox="1"/>
          <p:nvPr/>
        </p:nvSpPr>
        <p:spPr>
          <a:xfrm>
            <a:off x="6368796"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6" name="Text 20"/>
          <p:cNvSpPr txBox="1"/>
          <p:nvPr/>
        </p:nvSpPr>
        <p:spPr>
          <a:xfrm>
            <a:off x="5362956"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latin typeface="Noto Naskh Arabic"/>
                <a:cs typeface="adwa-assalaf"/>
              </a:rPr>
              <a:t>الجمع والتفريغ</a:t>
            </a:r>
            <a:endParaRPr lang="ar-AE" sz="1500" dirty="0"/>
          </a:p>
        </p:txBody>
      </p:sp>
      <p:sp>
        <p:nvSpPr>
          <p:cNvPr id="27" name="Text 21"/>
          <p:cNvSpPr txBox="1"/>
          <p:nvPr/>
        </p:nvSpPr>
        <p:spPr>
          <a:xfrm>
            <a:off x="5362956"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latin typeface="Noto Naskh Arabic"/>
                <a:cs typeface="adwa-assalaf"/>
              </a:rPr>
              <a:t>الخزنة ثم المختبر</a:t>
            </a:r>
            <a:endParaRPr lang="ar-AE" sz="1300" dirty="0"/>
          </a:p>
        </p:txBody>
      </p:sp>
      <p:sp>
        <p:nvSpPr>
          <p:cNvPr id="28" name="icon-shield"/>
          <p:cNvSpPr/>
          <p:nvPr/>
        </p:nvSpPr>
        <p:spPr>
          <a:xfrm>
            <a:off x="4105656" y="1691640"/>
            <a:ext cx="768096" cy="768096"/>
          </a:xfrm>
          <a:prstGeom prst="ellipse">
            <a:avLst/>
          </a:prstGeom>
          <a:solidFill>
            <a:schemeClr val="accent6"/>
          </a:solidFill>
          <a:ln w="12700">
            <a:solidFill>
              <a:schemeClr val="accent6"/>
            </a:solidFill>
            <a:prstDash val="solid"/>
          </a:ln>
        </p:spPr>
      </p:sp>
      <p:pic>
        <p:nvPicPr>
          <p:cNvPr id="29" name="Image 4" descr="/tmp/claude-0/-home-user/11b98046-3116-585b-b221-e5c2e170e62a/scratchpad/deck/assets/i-shield.png">    </p:cNvPr>
          <p:cNvPicPr>
            <a:picLocks noChangeAspect="1"/>
          </p:cNvPicPr>
          <p:nvPr/>
        </p:nvPicPr>
        <p:blipFill>
          <a:blip r:embed="rId5"/>
          <a:stretch>
            <a:fillRect/>
          </a:stretch>
        </p:blipFill>
        <p:spPr>
          <a:xfrm>
            <a:off x="4297680" y="1883664"/>
            <a:ext cx="384048" cy="384048"/>
          </a:xfrm>
          <a:prstGeom prst="rect">
            <a:avLst/>
          </a:prstGeom>
        </p:spPr>
      </p:pic>
      <p:sp>
        <p:nvSpPr>
          <p:cNvPr id="30" name="num-5"/>
          <p:cNvSpPr/>
          <p:nvPr/>
        </p:nvSpPr>
        <p:spPr>
          <a:xfrm>
            <a:off x="4764024" y="1572768"/>
            <a:ext cx="347472" cy="347472"/>
          </a:xfrm>
          <a:prstGeom prst="ellipse">
            <a:avLst/>
          </a:prstGeom>
          <a:solidFill>
            <a:schemeClr val="accent2"/>
          </a:solidFill>
          <a:ln w="12700">
            <a:solidFill>
              <a:schemeClr val="accent2"/>
            </a:solidFill>
            <a:prstDash val="solid"/>
          </a:ln>
        </p:spPr>
      </p:sp>
      <p:sp>
        <p:nvSpPr>
          <p:cNvPr id="31" name="Text 24"/>
          <p:cNvSpPr txBox="1"/>
          <p:nvPr/>
        </p:nvSpPr>
        <p:spPr>
          <a:xfrm>
            <a:off x="4764024"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32" name="Text 25"/>
          <p:cNvSpPr txBox="1"/>
          <p:nvPr/>
        </p:nvSpPr>
        <p:spPr>
          <a:xfrm>
            <a:off x="3758184"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latin typeface="Noto Naskh Arabic"/>
                <a:cs typeface="adwa-assalaf"/>
              </a:rPr>
              <a:t>الادعاءات والأدلة</a:t>
            </a:r>
            <a:endParaRPr lang="ar-AE" sz="1500" dirty="0"/>
          </a:p>
        </p:txBody>
      </p:sp>
      <p:sp>
        <p:nvSpPr>
          <p:cNvPr id="33" name="Text 26"/>
          <p:cNvSpPr txBox="1"/>
          <p:nvPr/>
        </p:nvSpPr>
        <p:spPr>
          <a:xfrm>
            <a:off x="3758184"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latin typeface="Noto Naskh Arabic"/>
                <a:cs typeface="adwa-assalaf"/>
              </a:rPr>
              <a:t>التثليث والتعارضات</a:t>
            </a:r>
            <a:endParaRPr lang="ar-AE" sz="1300" dirty="0"/>
          </a:p>
        </p:txBody>
      </p:sp>
      <p:sp>
        <p:nvSpPr>
          <p:cNvPr id="34" name="icon-people"/>
          <p:cNvSpPr/>
          <p:nvPr/>
        </p:nvSpPr>
        <p:spPr>
          <a:xfrm>
            <a:off x="2500884" y="1691640"/>
            <a:ext cx="768096" cy="768096"/>
          </a:xfrm>
          <a:prstGeom prst="ellipse">
            <a:avLst/>
          </a:prstGeom>
          <a:solidFill>
            <a:schemeClr val="accent1"/>
          </a:solidFill>
          <a:ln w="12700">
            <a:solidFill>
              <a:schemeClr val="accent1"/>
            </a:solidFill>
            <a:prstDash val="solid"/>
          </a:ln>
        </p:spPr>
      </p:sp>
      <p:pic>
        <p:nvPicPr>
          <p:cNvPr id="35" name="Image 5" descr="/tmp/claude-0/-home-user/11b98046-3116-585b-b221-e5c2e170e62a/scratchpad/deck/assets/i-people.png">    </p:cNvPr>
          <p:cNvPicPr>
            <a:picLocks noChangeAspect="1"/>
          </p:cNvPicPr>
          <p:nvPr/>
        </p:nvPicPr>
        <p:blipFill>
          <a:blip r:embed="rId6"/>
          <a:stretch>
            <a:fillRect/>
          </a:stretch>
        </p:blipFill>
        <p:spPr>
          <a:xfrm>
            <a:off x="2692908" y="1883664"/>
            <a:ext cx="384048" cy="384048"/>
          </a:xfrm>
          <a:prstGeom prst="rect">
            <a:avLst/>
          </a:prstGeom>
        </p:spPr>
      </p:pic>
      <p:sp>
        <p:nvSpPr>
          <p:cNvPr id="36" name="num-6"/>
          <p:cNvSpPr/>
          <p:nvPr/>
        </p:nvSpPr>
        <p:spPr>
          <a:xfrm>
            <a:off x="3159252" y="1572768"/>
            <a:ext cx="347472" cy="347472"/>
          </a:xfrm>
          <a:prstGeom prst="ellipse">
            <a:avLst/>
          </a:prstGeom>
          <a:solidFill>
            <a:schemeClr val="accent2"/>
          </a:solidFill>
          <a:ln w="12700">
            <a:solidFill>
              <a:schemeClr val="accent2"/>
            </a:solidFill>
            <a:prstDash val="solid"/>
          </a:ln>
        </p:spPr>
      </p:sp>
      <p:sp>
        <p:nvSpPr>
          <p:cNvPr id="37" name="Text 29"/>
          <p:cNvSpPr txBox="1"/>
          <p:nvPr/>
        </p:nvSpPr>
        <p:spPr>
          <a:xfrm>
            <a:off x="3159252"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a:t>
            </a:r>
            <a:endParaRPr lang="en-US" sz="1500" dirty="0"/>
          </a:p>
        </p:txBody>
      </p:sp>
      <p:sp>
        <p:nvSpPr>
          <p:cNvPr id="38" name="Text 30"/>
          <p:cNvSpPr txBox="1"/>
          <p:nvPr/>
        </p:nvSpPr>
        <p:spPr>
          <a:xfrm>
            <a:off x="2153412"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latin typeface="Noto Naskh Arabic"/>
                <a:cs typeface="adwa-assalaf"/>
              </a:rPr>
              <a:t>الكتابة والتحكيم</a:t>
            </a:r>
            <a:endParaRPr lang="ar-AE" sz="1500" dirty="0"/>
          </a:p>
        </p:txBody>
      </p:sp>
      <p:sp>
        <p:nvSpPr>
          <p:cNvPr id="39" name="Text 31"/>
          <p:cNvSpPr txBox="1"/>
          <p:nvPr/>
        </p:nvSpPr>
        <p:spPr>
          <a:xfrm>
            <a:off x="2153412"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latin typeface="Noto Naskh Arabic"/>
                <a:cs typeface="adwa-assalaf"/>
              </a:rPr>
              <a:t>بالوكلاء والمحكّمين</a:t>
            </a:r>
            <a:endParaRPr lang="ar-AE" sz="1300" dirty="0"/>
          </a:p>
        </p:txBody>
      </p:sp>
      <p:sp>
        <p:nvSpPr>
          <p:cNvPr id="40" name="icon-check"/>
          <p:cNvSpPr/>
          <p:nvPr/>
        </p:nvSpPr>
        <p:spPr>
          <a:xfrm>
            <a:off x="896112" y="1691640"/>
            <a:ext cx="768096" cy="768096"/>
          </a:xfrm>
          <a:prstGeom prst="ellipse">
            <a:avLst/>
          </a:prstGeom>
          <a:solidFill>
            <a:schemeClr val="accent5"/>
          </a:solidFill>
          <a:ln w="12700">
            <a:solidFill>
              <a:schemeClr val="accent5"/>
            </a:solidFill>
            <a:prstDash val="solid"/>
          </a:ln>
        </p:spPr>
      </p:sp>
      <p:pic>
        <p:nvPicPr>
          <p:cNvPr id="41" name="Image 6" descr="/tmp/claude-0/-home-user/11b98046-3116-585b-b221-e5c2e170e62a/scratchpad/deck/assets/i-check.png">    </p:cNvPr>
          <p:cNvPicPr>
            <a:picLocks noChangeAspect="1"/>
          </p:cNvPicPr>
          <p:nvPr/>
        </p:nvPicPr>
        <p:blipFill>
          <a:blip r:embed="rId7"/>
          <a:stretch>
            <a:fillRect/>
          </a:stretch>
        </p:blipFill>
        <p:spPr>
          <a:xfrm>
            <a:off x="1088136" y="1883664"/>
            <a:ext cx="384048" cy="384048"/>
          </a:xfrm>
          <a:prstGeom prst="rect">
            <a:avLst/>
          </a:prstGeom>
        </p:spPr>
      </p:pic>
      <p:sp>
        <p:nvSpPr>
          <p:cNvPr id="42" name="num-7"/>
          <p:cNvSpPr/>
          <p:nvPr/>
        </p:nvSpPr>
        <p:spPr>
          <a:xfrm>
            <a:off x="1554480" y="1572768"/>
            <a:ext cx="347472" cy="347472"/>
          </a:xfrm>
          <a:prstGeom prst="ellipse">
            <a:avLst/>
          </a:prstGeom>
          <a:solidFill>
            <a:schemeClr val="accent2"/>
          </a:solidFill>
          <a:ln w="12700">
            <a:solidFill>
              <a:schemeClr val="accent2"/>
            </a:solidFill>
            <a:prstDash val="solid"/>
          </a:ln>
        </p:spPr>
      </p:sp>
      <p:sp>
        <p:nvSpPr>
          <p:cNvPr id="43" name="Text 34"/>
          <p:cNvSpPr txBox="1"/>
          <p:nvPr/>
        </p:nvSpPr>
        <p:spPr>
          <a:xfrm>
            <a:off x="1554480"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a:t>
            </a:r>
            <a:endParaRPr lang="en-US" sz="1500" dirty="0"/>
          </a:p>
        </p:txBody>
      </p:sp>
      <p:sp>
        <p:nvSpPr>
          <p:cNvPr id="44" name="Text 35"/>
          <p:cNvSpPr txBox="1"/>
          <p:nvPr/>
        </p:nvSpPr>
        <p:spPr>
          <a:xfrm>
            <a:off x="548640"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latin typeface="Noto Naskh Arabic"/>
                <a:cs typeface="adwa-assalaf"/>
              </a:rPr>
              <a:t>الاعتماد والنشر</a:t>
            </a:r>
            <a:endParaRPr lang="ar-AE" sz="1500" dirty="0"/>
          </a:p>
        </p:txBody>
      </p:sp>
      <p:sp>
        <p:nvSpPr>
          <p:cNvPr id="45" name="Text 36"/>
          <p:cNvSpPr txBox="1"/>
          <p:nvPr/>
        </p:nvSpPr>
        <p:spPr>
          <a:xfrm>
            <a:off x="548640"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latin typeface="Noto Naskh Arabic"/>
                <a:cs typeface="adwa-assalaf"/>
              </a:rPr>
              <a:t>قرار المراجع البشري</a:t>
            </a:r>
            <a:endParaRPr lang="ar-AE" sz="1300" dirty="0"/>
          </a:p>
        </p:txBody>
      </p:sp>
      <p:sp>
        <p:nvSpPr>
          <p:cNvPr id="46" name="journey-note"/>
          <p:cNvSpPr/>
          <p:nvPr/>
        </p:nvSpPr>
        <p:spPr>
          <a:xfrm>
            <a:off x="548640" y="4160520"/>
            <a:ext cx="11091672" cy="1691640"/>
          </a:xfrm>
          <a:prstGeom prst="roundRect">
            <a:avLst>
              <a:gd name="adj" fmla="val 5405"/>
            </a:avLst>
          </a:prstGeom>
          <a:solidFill>
            <a:srgbClr val="EEF3F8"/>
          </a:solidFill>
          <a:ln w="12700">
            <a:solidFill>
              <a:srgbClr val="D9E1EA"/>
            </a:solidFill>
            <a:prstDash val="solid"/>
          </a:ln>
        </p:spPr>
      </p:sp>
      <p:sp>
        <p:nvSpPr>
          <p:cNvPr id="47" name="icon-gate"/>
          <p:cNvSpPr/>
          <p:nvPr/>
        </p:nvSpPr>
        <p:spPr>
          <a:xfrm>
            <a:off x="10835640" y="4434840"/>
            <a:ext cx="594360" cy="594360"/>
          </a:xfrm>
          <a:prstGeom prst="ellipse">
            <a:avLst/>
          </a:prstGeom>
          <a:solidFill>
            <a:schemeClr val="accent2"/>
          </a:solidFill>
          <a:ln w="12700">
            <a:solidFill>
              <a:schemeClr val="accent2"/>
            </a:solidFill>
            <a:prstDash val="solid"/>
          </a:ln>
        </p:spPr>
      </p:sp>
      <p:pic>
        <p:nvPicPr>
          <p:cNvPr id="48" name="Image 7" descr="/tmp/claude-0/-home-user/11b98046-3116-585b-b221-e5c2e170e62a/scratchpad/deck/assets/i-gate.png">    </p:cNvPr>
          <p:cNvPicPr>
            <a:picLocks noChangeAspect="1"/>
          </p:cNvPicPr>
          <p:nvPr/>
        </p:nvPicPr>
        <p:blipFill>
          <a:blip r:embed="rId8"/>
          <a:stretch>
            <a:fillRect/>
          </a:stretch>
        </p:blipFill>
        <p:spPr>
          <a:xfrm>
            <a:off x="10984230" y="4583430"/>
            <a:ext cx="297180" cy="297180"/>
          </a:xfrm>
          <a:prstGeom prst="rect">
            <a:avLst/>
          </a:prstGeom>
        </p:spPr>
      </p:pic>
      <p:sp>
        <p:nvSpPr>
          <p:cNvPr id="49" name="Text 39"/>
          <p:cNvSpPr txBox="1"/>
          <p:nvPr/>
        </p:nvSpPr>
        <p:spPr>
          <a:xfrm>
            <a:off x="868680" y="4343400"/>
            <a:ext cx="978408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latin typeface="Noto Naskh Arabic"/>
                <a:cs typeface="adwa-assalaf"/>
              </a:rPr>
              <a:t>عند كل انتقال بوابة</a:t>
            </a:r>
            <a:endParaRPr lang="ar-AE" sz="1700" dirty="0"/>
          </a:p>
        </p:txBody>
      </p:sp>
      <p:sp>
        <p:nvSpPr>
          <p:cNvPr id="50" name="Text 40"/>
          <p:cNvSpPr txBox="1"/>
          <p:nvPr/>
        </p:nvSpPr>
        <p:spPr>
          <a:xfrm>
            <a:off x="868680" y="4754880"/>
            <a:ext cx="9784080" cy="100584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لا ينتقل المشروع إلى المرحلة التالية قبل أن تجتاز فحوصها، وهي تُحسب من البيانات نفسها: سؤال مصوغ، ومصادر متحقق منها، وموافقات قائمة، وتفريغ روجع لهجياً، وادعاءات مرتبطة بأدلة مستقلة، وتحكيم واعتماد بشري.</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النموذج التطبيقي: «التلي»</a:t>
            </a:r>
            <a:endParaRPr lang="ar-AE" sz="3200" dirty="0"/>
          </a:p>
        </p:txBody>
      </p:sp>
      <p:pic>
        <p:nvPicPr>
          <p:cNvPr id="3" name="pilot-art" descr="/tmp/claude-0/-home-user/11b98046-3116-585b-b221-e5c2e170e62a/scratchpad/deck/assets/photos/crafts.jpg">    </p:cNvPr>
          <p:cNvPicPr>
            <a:picLocks noChangeAspect="1"/>
          </p:cNvPicPr>
          <p:nvPr/>
        </p:nvPicPr>
        <p:blipFill>
          <a:blip r:embed="rId1"/>
          <a:srcRect l="0" r="0" t="0" b="0"/>
          <a:stretch/>
        </p:blipFill>
        <p:spPr>
          <a:xfrm>
            <a:off x="548640" y="1371600"/>
            <a:ext cx="4389120" cy="2743200"/>
          </a:xfrm>
          <a:prstGeom prst="rect">
            <a:avLst/>
          </a:prstGeom>
        </p:spPr>
      </p:pic>
      <p:sp>
        <p:nvSpPr>
          <p:cNvPr id="4" name="Text 1"/>
          <p:cNvSpPr txBox="1"/>
          <p:nvPr/>
        </p:nvSpPr>
        <p:spPr>
          <a:xfrm>
            <a:off x="548640" y="4297680"/>
            <a:ext cx="4389120" cy="1097280"/>
          </a:xfrm>
          <a:prstGeom prst="rect">
            <a:avLst/>
          </a:prstGeom>
          <a:noFill/>
          <a:ln/>
        </p:spPr>
        <p:txBody>
          <a:bodyPr wrap="square" lIns="0" tIns="0" rIns="0" bIns="0" rtlCol="0" anchor="ctr"/>
          <a:lstStyle/>
          <a:p>
            <a:pPr rtl="1" algn="r" indent="0" marL="0">
              <a:buNone/>
            </a:pPr>
            <a:r>
              <a:rPr lang="ar-AE" altLang="en-US" sz="1400" dirty="0">
                <a:solidFill>
                  <a:schemeClr val="tx2"/>
                </a:solidFill>
                <a:latin typeface="Noto Naskh Arabic"/>
                <a:cs typeface="adwa-assalaf"/>
              </a:rPr>
              <a:t>دراسة وثائقية مبنية على مصادر فُتحت وتُحقّق منها، وكل ادعاء فيها مربوط بدليله. والجمع الميداني مصمَّم ولم يُنفَّذ.</a:t>
            </a:r>
            <a:endParaRPr lang="ar-AE" sz="1400" dirty="0"/>
          </a:p>
        </p:txBody>
      </p:sp>
      <p:sp>
        <p:nvSpPr>
          <p:cNvPr id="5" name="stat-0"/>
          <p:cNvSpPr/>
          <p:nvPr/>
        </p:nvSpPr>
        <p:spPr>
          <a:xfrm>
            <a:off x="8595360" y="1371600"/>
            <a:ext cx="3063240" cy="1234440"/>
          </a:xfrm>
          <a:prstGeom prst="roundRect">
            <a:avLst>
              <a:gd name="adj" fmla="val 7407"/>
            </a:avLst>
          </a:prstGeom>
          <a:solidFill>
            <a:srgbClr val="EEF3F8"/>
          </a:solidFill>
          <a:ln w="12700">
            <a:solidFill>
              <a:srgbClr val="D9E1EA"/>
            </a:solidFill>
            <a:prstDash val="solid"/>
          </a:ln>
        </p:spPr>
      </p:sp>
      <p:sp>
        <p:nvSpPr>
          <p:cNvPr id="6" name="Text 3"/>
          <p:cNvSpPr txBox="1"/>
          <p:nvPr/>
        </p:nvSpPr>
        <p:spPr>
          <a:xfrm>
            <a:off x="8595360" y="146304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Calibri" pitchFamily="34" charset="0"/>
                <a:ea typeface="Calibri" pitchFamily="34" charset="-122"/>
                <a:cs typeface="Calibri" pitchFamily="34" charset="-120"/>
              </a:rPr>
              <a:t>12</a:t>
            </a:r>
            <a:endParaRPr lang="ar-AE" sz="4000" dirty="0"/>
          </a:p>
        </p:txBody>
      </p:sp>
      <p:sp>
        <p:nvSpPr>
          <p:cNvPr id="7" name="Text 4"/>
          <p:cNvSpPr txBox="1"/>
          <p:nvPr/>
        </p:nvSpPr>
        <p:spPr>
          <a:xfrm>
            <a:off x="8595360" y="214884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latin typeface="Noto Naskh Arabic"/>
                <a:cs typeface="adwa-assalaf"/>
              </a:rPr>
              <a:t>مصدراً متحققاً منه</a:t>
            </a:r>
            <a:endParaRPr lang="ar-AE" sz="1400" dirty="0"/>
          </a:p>
        </p:txBody>
      </p:sp>
      <p:sp>
        <p:nvSpPr>
          <p:cNvPr id="8" name="stat-1"/>
          <p:cNvSpPr/>
          <p:nvPr/>
        </p:nvSpPr>
        <p:spPr>
          <a:xfrm>
            <a:off x="5257800" y="1371600"/>
            <a:ext cx="3063240" cy="1234440"/>
          </a:xfrm>
          <a:prstGeom prst="roundRect">
            <a:avLst>
              <a:gd name="adj" fmla="val 7407"/>
            </a:avLst>
          </a:prstGeom>
          <a:solidFill>
            <a:srgbClr val="EEF3F8"/>
          </a:solidFill>
          <a:ln w="12700">
            <a:solidFill>
              <a:srgbClr val="D9E1EA"/>
            </a:solidFill>
            <a:prstDash val="solid"/>
          </a:ln>
        </p:spPr>
      </p:sp>
      <p:sp>
        <p:nvSpPr>
          <p:cNvPr id="9" name="Text 6"/>
          <p:cNvSpPr txBox="1"/>
          <p:nvPr/>
        </p:nvSpPr>
        <p:spPr>
          <a:xfrm>
            <a:off x="5257800" y="146304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Calibri" pitchFamily="34" charset="0"/>
                <a:ea typeface="Calibri" pitchFamily="34" charset="-122"/>
                <a:cs typeface="Calibri" pitchFamily="34" charset="-120"/>
              </a:rPr>
              <a:t>20</a:t>
            </a:r>
            <a:endParaRPr lang="ar-AE" sz="4000" dirty="0"/>
          </a:p>
        </p:txBody>
      </p:sp>
      <p:sp>
        <p:nvSpPr>
          <p:cNvPr id="10" name="Text 7"/>
          <p:cNvSpPr txBox="1"/>
          <p:nvPr/>
        </p:nvSpPr>
        <p:spPr>
          <a:xfrm>
            <a:off x="5257800" y="214884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latin typeface="Noto Naskh Arabic"/>
                <a:cs typeface="adwa-assalaf"/>
              </a:rPr>
              <a:t>ادعاءً مربوطاً بدليل</a:t>
            </a:r>
            <a:endParaRPr lang="ar-AE" sz="1400" dirty="0"/>
          </a:p>
        </p:txBody>
      </p:sp>
      <p:sp>
        <p:nvSpPr>
          <p:cNvPr id="11" name="stat-2"/>
          <p:cNvSpPr/>
          <p:nvPr/>
        </p:nvSpPr>
        <p:spPr>
          <a:xfrm>
            <a:off x="8595360" y="2788920"/>
            <a:ext cx="3063240" cy="1234440"/>
          </a:xfrm>
          <a:prstGeom prst="roundRect">
            <a:avLst>
              <a:gd name="adj" fmla="val 7407"/>
            </a:avLst>
          </a:prstGeom>
          <a:solidFill>
            <a:srgbClr val="EEF3F8"/>
          </a:solidFill>
          <a:ln w="12700">
            <a:solidFill>
              <a:srgbClr val="D9E1EA"/>
            </a:solidFill>
            <a:prstDash val="solid"/>
          </a:ln>
        </p:spPr>
      </p:sp>
      <p:sp>
        <p:nvSpPr>
          <p:cNvPr id="12" name="Text 9"/>
          <p:cNvSpPr txBox="1"/>
          <p:nvPr/>
        </p:nvSpPr>
        <p:spPr>
          <a:xfrm>
            <a:off x="8595360" y="288036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Calibri" pitchFamily="34" charset="0"/>
                <a:ea typeface="Calibri" pitchFamily="34" charset="-122"/>
                <a:cs typeface="Calibri" pitchFamily="34" charset="-120"/>
              </a:rPr>
              <a:t>7</a:t>
            </a:r>
            <a:endParaRPr lang="ar-AE" sz="4000" dirty="0"/>
          </a:p>
        </p:txBody>
      </p:sp>
      <p:sp>
        <p:nvSpPr>
          <p:cNvPr id="13" name="Text 10"/>
          <p:cNvSpPr txBox="1"/>
          <p:nvPr/>
        </p:nvSpPr>
        <p:spPr>
          <a:xfrm>
            <a:off x="8595360" y="356616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latin typeface="Noto Naskh Arabic"/>
                <a:cs typeface="adwa-assalaf"/>
              </a:rPr>
              <a:t>تعارضات محفوظة</a:t>
            </a:r>
            <a:endParaRPr lang="ar-AE" sz="1400" dirty="0"/>
          </a:p>
        </p:txBody>
      </p:sp>
      <p:sp>
        <p:nvSpPr>
          <p:cNvPr id="14" name="stat-3"/>
          <p:cNvSpPr/>
          <p:nvPr/>
        </p:nvSpPr>
        <p:spPr>
          <a:xfrm>
            <a:off x="5257800" y="2788920"/>
            <a:ext cx="3063240" cy="1234440"/>
          </a:xfrm>
          <a:prstGeom prst="roundRect">
            <a:avLst>
              <a:gd name="adj" fmla="val 7407"/>
            </a:avLst>
          </a:prstGeom>
          <a:solidFill>
            <a:srgbClr val="EEF3F8"/>
          </a:solidFill>
          <a:ln w="12700">
            <a:solidFill>
              <a:srgbClr val="D9E1EA"/>
            </a:solidFill>
            <a:prstDash val="solid"/>
          </a:ln>
        </p:spPr>
      </p:sp>
      <p:sp>
        <p:nvSpPr>
          <p:cNvPr id="15" name="Text 12"/>
          <p:cNvSpPr txBox="1"/>
          <p:nvPr/>
        </p:nvSpPr>
        <p:spPr>
          <a:xfrm>
            <a:off x="5257800" y="288036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Calibri" pitchFamily="34" charset="0"/>
                <a:ea typeface="Calibri" pitchFamily="34" charset="-122"/>
                <a:cs typeface="Calibri" pitchFamily="34" charset="-120"/>
              </a:rPr>
              <a:t>26</a:t>
            </a:r>
            <a:endParaRPr lang="ar-AE" sz="4000" dirty="0"/>
          </a:p>
        </p:txBody>
      </p:sp>
      <p:sp>
        <p:nvSpPr>
          <p:cNvPr id="16" name="Text 13"/>
          <p:cNvSpPr txBox="1"/>
          <p:nvPr/>
        </p:nvSpPr>
        <p:spPr>
          <a:xfrm>
            <a:off x="5257800" y="356616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latin typeface="Noto Naskh Arabic"/>
                <a:cs typeface="adwa-assalaf"/>
              </a:rPr>
              <a:t>مفردة للتحقق الميداني</a:t>
            </a:r>
            <a:endParaRPr lang="ar-AE" sz="1400" dirty="0"/>
          </a:p>
        </p:txBody>
      </p:sp>
      <p:sp>
        <p:nvSpPr>
          <p:cNvPr id="17" name="pilot-correction"/>
          <p:cNvSpPr/>
          <p:nvPr/>
        </p:nvSpPr>
        <p:spPr>
          <a:xfrm>
            <a:off x="5257800" y="4343400"/>
            <a:ext cx="6382512" cy="1508760"/>
          </a:xfrm>
          <a:prstGeom prst="roundRect">
            <a:avLst>
              <a:gd name="adj" fmla="val 6061"/>
            </a:avLst>
          </a:prstGeom>
          <a:solidFill>
            <a:srgbClr val="12263F"/>
          </a:solidFill>
          <a:ln w="12700">
            <a:solidFill>
              <a:srgbClr val="12263F"/>
            </a:solidFill>
            <a:prstDash val="solid"/>
          </a:ln>
        </p:spPr>
      </p:sp>
      <p:sp>
        <p:nvSpPr>
          <p:cNvPr id="18" name="Text 15"/>
          <p:cNvSpPr txBox="1"/>
          <p:nvPr/>
        </p:nvSpPr>
        <p:spPr>
          <a:xfrm>
            <a:off x="5532120" y="4462272"/>
            <a:ext cx="5852160" cy="384048"/>
          </a:xfrm>
          <a:prstGeom prst="rect">
            <a:avLst/>
          </a:prstGeom>
          <a:noFill/>
          <a:ln/>
        </p:spPr>
        <p:txBody>
          <a:bodyPr wrap="square" lIns="0" tIns="0" rIns="0" bIns="0" rtlCol="0" anchor="ctr"/>
          <a:lstStyle/>
          <a:p>
            <a:pPr rtl="1" algn="r" indent="0" marL="0">
              <a:buNone/>
            </a:pPr>
            <a:r>
              <a:rPr lang="ar-AE" altLang="en-US" sz="1600" b="1" dirty="0">
                <a:solidFill>
                  <a:srgbClr val="F0D58A"/>
                </a:solidFill>
                <a:latin typeface="Noto Naskh Arabic"/>
                <a:cs typeface="adwa-assalaf"/>
              </a:rPr>
              <a:t>تصويب أثبته التحقق</a:t>
            </a:r>
            <a:endParaRPr lang="ar-AE" sz="1600" dirty="0"/>
          </a:p>
        </p:txBody>
      </p:sp>
      <p:sp>
        <p:nvSpPr>
          <p:cNvPr id="19" name="Text 16"/>
          <p:cNvSpPr txBox="1"/>
          <p:nvPr/>
        </p:nvSpPr>
        <p:spPr>
          <a:xfrm>
            <a:off x="5532120" y="4846320"/>
            <a:ext cx="5852160" cy="914400"/>
          </a:xfrm>
          <a:prstGeom prst="rect">
            <a:avLst/>
          </a:prstGeom>
          <a:noFill/>
          <a:ln/>
        </p:spPr>
        <p:txBody>
          <a:bodyPr wrap="square" lIns="0" tIns="0" rIns="0" bIns="0" rtlCol="0" anchor="ctr"/>
          <a:lstStyle/>
          <a:p>
            <a:pPr rtl="1" algn="r" indent="0" marL="0">
              <a:buNone/>
            </a:pPr>
            <a:r>
              <a:rPr lang="ar-AE" altLang="en-US" sz="1300" dirty="0">
                <a:solidFill>
                  <a:schemeClr val="bg1"/>
                </a:solidFill>
                <a:latin typeface="Noto Naskh Arabic"/>
                <a:cs typeface="adwa-assalaf"/>
              </a:rPr>
              <a:t>افتُرض في التكليف أن العنصر على قائمة الصون العاجل؛ فأثبتت وثائق اليونسكو أنه مُدرج على القائمة التمثيلية سنة 2022، في الدورة السابعة عشرة للجنة الحكومية الدولية. وهذا مثال على ما يعنيه «صفر تلفيق».</a:t>
            </a:r>
            <a:endParaRPr lang="ar-AE" sz="13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قواعد لا تُكسر</a:t>
            </a:r>
            <a:endParaRPr lang="ar-AE" sz="3200" dirty="0"/>
          </a:p>
        </p:txBody>
      </p:sp>
      <p:sp>
        <p:nvSpPr>
          <p:cNvPr id="3" name="icon-alert"/>
          <p:cNvSpPr/>
          <p:nvPr/>
        </p:nvSpPr>
        <p:spPr>
          <a:xfrm>
            <a:off x="11018520" y="1371600"/>
            <a:ext cx="621792" cy="621792"/>
          </a:xfrm>
          <a:prstGeom prst="ellipse">
            <a:avLst/>
          </a:prstGeom>
          <a:solidFill>
            <a:schemeClr val="accent6"/>
          </a:solidFill>
          <a:ln w="12700">
            <a:solidFill>
              <a:schemeClr val="accent6"/>
            </a:solidFill>
            <a:prstDash val="solid"/>
          </a:ln>
        </p:spPr>
      </p:sp>
      <p:pic>
        <p:nvPicPr>
          <p:cNvPr id="4" name="Image 0" descr="/tmp/claude-0/-home-user/11b98046-3116-585b-b221-e5c2e170e62a/scratchpad/deck/assets/i-alert.png">    </p:cNvPr>
          <p:cNvPicPr>
            <a:picLocks noChangeAspect="1"/>
          </p:cNvPicPr>
          <p:nvPr/>
        </p:nvPicPr>
        <p:blipFill>
          <a:blip r:embed="rId1"/>
          <a:stretch>
            <a:fillRect/>
          </a:stretch>
        </p:blipFill>
        <p:spPr>
          <a:xfrm>
            <a:off x="11173968" y="1527048"/>
            <a:ext cx="310896" cy="310896"/>
          </a:xfrm>
          <a:prstGeom prst="rect">
            <a:avLst/>
          </a:prstGeom>
        </p:spPr>
      </p:pic>
      <p:sp>
        <p:nvSpPr>
          <p:cNvPr id="5" name="Text 2"/>
          <p:cNvSpPr txBox="1"/>
          <p:nvPr/>
        </p:nvSpPr>
        <p:spPr>
          <a:xfrm>
            <a:off x="548640" y="13533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latin typeface="Noto Naskh Arabic"/>
                <a:cs typeface="adwa-assalaf"/>
              </a:rPr>
              <a:t>صفر تلفيق</a:t>
            </a:r>
            <a:endParaRPr lang="ar-AE" sz="1700" dirty="0"/>
          </a:p>
        </p:txBody>
      </p:sp>
      <p:sp>
        <p:nvSpPr>
          <p:cNvPr id="6" name="Text 3"/>
          <p:cNvSpPr txBox="1"/>
          <p:nvPr/>
        </p:nvSpPr>
        <p:spPr>
          <a:xfrm>
            <a:off x="548640" y="17373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لا مرجع ولا راوٍ ولا مقابلة ولا صفحة ولا DOI مختلقة؛ والمجهول يُكتب «يُستكمل».</a:t>
            </a:r>
            <a:endParaRPr lang="ar-AE" sz="1400" dirty="0"/>
          </a:p>
        </p:txBody>
      </p:sp>
      <p:sp>
        <p:nvSpPr>
          <p:cNvPr id="7" name="icon-database"/>
          <p:cNvSpPr/>
          <p:nvPr/>
        </p:nvSpPr>
        <p:spPr>
          <a:xfrm>
            <a:off x="11018520" y="2286000"/>
            <a:ext cx="621792" cy="621792"/>
          </a:xfrm>
          <a:prstGeom prst="ellipse">
            <a:avLst/>
          </a:prstGeom>
          <a:solidFill>
            <a:schemeClr val="accent1"/>
          </a:solidFill>
          <a:ln w="12700">
            <a:solidFill>
              <a:schemeClr val="accent1"/>
            </a:solidFill>
            <a:prstDash val="solid"/>
          </a:ln>
        </p:spPr>
      </p:sp>
      <p:pic>
        <p:nvPicPr>
          <p:cNvPr id="8" name="Image 1" descr="/tmp/claude-0/-home-user/11b98046-3116-585b-b221-e5c2e170e62a/scratchpad/deck/assets/i-database.png">    </p:cNvPr>
          <p:cNvPicPr>
            <a:picLocks noChangeAspect="1"/>
          </p:cNvPicPr>
          <p:nvPr/>
        </p:nvPicPr>
        <p:blipFill>
          <a:blip r:embed="rId2"/>
          <a:stretch>
            <a:fillRect/>
          </a:stretch>
        </p:blipFill>
        <p:spPr>
          <a:xfrm>
            <a:off x="11173968" y="2441448"/>
            <a:ext cx="310896" cy="310896"/>
          </a:xfrm>
          <a:prstGeom prst="rect">
            <a:avLst/>
          </a:prstGeom>
        </p:spPr>
      </p:pic>
      <p:sp>
        <p:nvSpPr>
          <p:cNvPr id="9" name="Text 5"/>
          <p:cNvSpPr txBox="1"/>
          <p:nvPr/>
        </p:nvSpPr>
        <p:spPr>
          <a:xfrm>
            <a:off x="548640" y="22677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latin typeface="Noto Naskh Arabic"/>
                <a:cs typeface="adwa-assalaf"/>
              </a:rPr>
              <a:t>الأرشيف هو المرجع</a:t>
            </a:r>
            <a:endParaRPr lang="ar-AE" sz="1700" dirty="0"/>
          </a:p>
        </p:txBody>
      </p:sp>
      <p:sp>
        <p:nvSpPr>
          <p:cNvPr id="10" name="Text 6"/>
          <p:cNvSpPr txBox="1"/>
          <p:nvPr/>
        </p:nvSpPr>
        <p:spPr>
          <a:xfrm>
            <a:off x="548640" y="26517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كل إجابة تُتتبَّع إلى نص أو صورة أو تسجيل أصلي، لا إلى ذاكرة النموذج.</a:t>
            </a:r>
            <a:endParaRPr lang="ar-AE" sz="1400" dirty="0"/>
          </a:p>
        </p:txBody>
      </p:sp>
      <p:sp>
        <p:nvSpPr>
          <p:cNvPr id="11" name="icon-ear"/>
          <p:cNvSpPr/>
          <p:nvPr/>
        </p:nvSpPr>
        <p:spPr>
          <a:xfrm>
            <a:off x="11018520" y="3200400"/>
            <a:ext cx="621792" cy="621792"/>
          </a:xfrm>
          <a:prstGeom prst="ellipse">
            <a:avLst/>
          </a:prstGeom>
          <a:solidFill>
            <a:schemeClr val="accent3"/>
          </a:solidFill>
          <a:ln w="12700">
            <a:solidFill>
              <a:schemeClr val="accent3"/>
            </a:solidFill>
            <a:prstDash val="solid"/>
          </a:ln>
        </p:spPr>
      </p:sp>
      <p:pic>
        <p:nvPicPr>
          <p:cNvPr id="12" name="Image 2" descr="/tmp/claude-0/-home-user/11b98046-3116-585b-b221-e5c2e170e62a/scratchpad/deck/assets/i-ear.png">    </p:cNvPr>
          <p:cNvPicPr>
            <a:picLocks noChangeAspect="1"/>
          </p:cNvPicPr>
          <p:nvPr/>
        </p:nvPicPr>
        <p:blipFill>
          <a:blip r:embed="rId3"/>
          <a:stretch>
            <a:fillRect/>
          </a:stretch>
        </p:blipFill>
        <p:spPr>
          <a:xfrm>
            <a:off x="11173968" y="3355848"/>
            <a:ext cx="310896" cy="310896"/>
          </a:xfrm>
          <a:prstGeom prst="rect">
            <a:avLst/>
          </a:prstGeom>
        </p:spPr>
      </p:pic>
      <p:sp>
        <p:nvSpPr>
          <p:cNvPr id="13" name="Text 8"/>
          <p:cNvSpPr txBox="1"/>
          <p:nvPr/>
        </p:nvSpPr>
        <p:spPr>
          <a:xfrm>
            <a:off x="548640" y="31821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latin typeface="Noto Naskh Arabic"/>
                <a:cs typeface="adwa-assalaf"/>
              </a:rPr>
              <a:t>اللفظ المحلي كما نُطق</a:t>
            </a:r>
            <a:endParaRPr lang="ar-AE" sz="1700" dirty="0"/>
          </a:p>
        </p:txBody>
      </p:sp>
      <p:sp>
        <p:nvSpPr>
          <p:cNvPr id="14" name="Text 9"/>
          <p:cNvSpPr txBox="1"/>
          <p:nvPr/>
        </p:nvSpPr>
        <p:spPr>
          <a:xfrm>
            <a:off x="548640" y="35661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لا تفصيح في التفريغ الحرفي، ولا تخمين لمقطع غير مفهوم.</a:t>
            </a:r>
            <a:endParaRPr lang="ar-AE" sz="1400" dirty="0"/>
          </a:p>
        </p:txBody>
      </p:sp>
      <p:sp>
        <p:nvSpPr>
          <p:cNvPr id="15" name="icon-handshake"/>
          <p:cNvSpPr/>
          <p:nvPr/>
        </p:nvSpPr>
        <p:spPr>
          <a:xfrm>
            <a:off x="11018520" y="4114800"/>
            <a:ext cx="621792" cy="621792"/>
          </a:xfrm>
          <a:prstGeom prst="ellipse">
            <a:avLst/>
          </a:prstGeom>
          <a:solidFill>
            <a:schemeClr val="accent5"/>
          </a:solidFill>
          <a:ln w="12700">
            <a:solidFill>
              <a:schemeClr val="accent5"/>
            </a:solidFill>
            <a:prstDash val="solid"/>
          </a:ln>
        </p:spPr>
      </p:sp>
      <p:pic>
        <p:nvPicPr>
          <p:cNvPr id="16" name="Image 3" descr="/tmp/claude-0/-home-user/11b98046-3116-585b-b221-e5c2e170e62a/scratchpad/deck/assets/i-handshake.png">    </p:cNvPr>
          <p:cNvPicPr>
            <a:picLocks noChangeAspect="1"/>
          </p:cNvPicPr>
          <p:nvPr/>
        </p:nvPicPr>
        <p:blipFill>
          <a:blip r:embed="rId4"/>
          <a:stretch>
            <a:fillRect/>
          </a:stretch>
        </p:blipFill>
        <p:spPr>
          <a:xfrm>
            <a:off x="11173968" y="4270248"/>
            <a:ext cx="310896" cy="310896"/>
          </a:xfrm>
          <a:prstGeom prst="rect">
            <a:avLst/>
          </a:prstGeom>
        </p:spPr>
      </p:pic>
      <p:sp>
        <p:nvSpPr>
          <p:cNvPr id="17" name="Text 11"/>
          <p:cNvSpPr txBox="1"/>
          <p:nvPr/>
        </p:nvSpPr>
        <p:spPr>
          <a:xfrm>
            <a:off x="548640" y="40965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latin typeface="Noto Naskh Arabic"/>
                <a:cs typeface="adwa-assalaf"/>
              </a:rPr>
              <a:t>الموافقات الأربع منفصلة</a:t>
            </a:r>
            <a:endParaRPr lang="ar-AE" sz="1700" dirty="0"/>
          </a:p>
        </p:txBody>
      </p:sp>
      <p:sp>
        <p:nvSpPr>
          <p:cNvPr id="18" name="Text 12"/>
          <p:cNvSpPr txBox="1"/>
          <p:nvPr/>
        </p:nvSpPr>
        <p:spPr>
          <a:xfrm>
            <a:off x="548640" y="44805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التسجيل، والتفريغ، والنشر، والاستخدام التجاري؛ ولكل منها أثرها في البوابات.</a:t>
            </a:r>
            <a:endParaRPr lang="ar-AE" sz="1400" dirty="0"/>
          </a:p>
        </p:txBody>
      </p:sp>
      <p:sp>
        <p:nvSpPr>
          <p:cNvPr id="19" name="icon-check"/>
          <p:cNvSpPr/>
          <p:nvPr/>
        </p:nvSpPr>
        <p:spPr>
          <a:xfrm>
            <a:off x="11018520" y="5029200"/>
            <a:ext cx="621792" cy="621792"/>
          </a:xfrm>
          <a:prstGeom prst="ellipse">
            <a:avLst/>
          </a:prstGeom>
          <a:solidFill>
            <a:schemeClr val="accent2"/>
          </a:solidFill>
          <a:ln w="12700">
            <a:solidFill>
              <a:schemeClr val="accent2"/>
            </a:solidFill>
            <a:prstDash val="solid"/>
          </a:ln>
        </p:spPr>
      </p:sp>
      <p:pic>
        <p:nvPicPr>
          <p:cNvPr id="20" name="Image 4" descr="/tmp/claude-0/-home-user/11b98046-3116-585b-b221-e5c2e170e62a/scratchpad/deck/assets/i-check.png">    </p:cNvPr>
          <p:cNvPicPr>
            <a:picLocks noChangeAspect="1"/>
          </p:cNvPicPr>
          <p:nvPr/>
        </p:nvPicPr>
        <p:blipFill>
          <a:blip r:embed="rId5"/>
          <a:stretch>
            <a:fillRect/>
          </a:stretch>
        </p:blipFill>
        <p:spPr>
          <a:xfrm>
            <a:off x="11173968" y="5184648"/>
            <a:ext cx="310896" cy="310896"/>
          </a:xfrm>
          <a:prstGeom prst="rect">
            <a:avLst/>
          </a:prstGeom>
        </p:spPr>
      </p:pic>
      <p:sp>
        <p:nvSpPr>
          <p:cNvPr id="21" name="Text 14"/>
          <p:cNvSpPr txBox="1"/>
          <p:nvPr/>
        </p:nvSpPr>
        <p:spPr>
          <a:xfrm>
            <a:off x="548640" y="50109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latin typeface="Noto Naskh Arabic"/>
                <a:cs typeface="adwa-assalaf"/>
              </a:rPr>
              <a:t>السيادة البشرية</a:t>
            </a:r>
            <a:endParaRPr lang="ar-AE" sz="1700" dirty="0"/>
          </a:p>
        </p:txBody>
      </p:sp>
      <p:sp>
        <p:nvSpPr>
          <p:cNvPr id="22" name="Text 15"/>
          <p:cNvSpPr txBox="1"/>
          <p:nvPr/>
        </p:nvSpPr>
        <p:spPr>
          <a:xfrm>
            <a:off x="548640" y="53949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لا يُنشر شيء قبل اعتماد المراجع البشري المخوّل.</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latin typeface="Noto Naskh Arabic"/>
                <a:cs typeface="adwa-assalaf"/>
              </a:rPr>
              <a:t>عند التعثر</a:t>
            </a:r>
            <a:endParaRPr lang="ar-AE" sz="3200" dirty="0"/>
          </a:p>
        </p:txBody>
      </p:sp>
      <p:sp>
        <p:nvSpPr>
          <p:cNvPr id="3" name="tip-0"/>
          <p:cNvSpPr/>
          <p:nvPr/>
        </p:nvSpPr>
        <p:spPr>
          <a:xfrm>
            <a:off x="6172200" y="1417320"/>
            <a:ext cx="5468112" cy="2011680"/>
          </a:xfrm>
          <a:prstGeom prst="roundRect">
            <a:avLst>
              <a:gd name="adj" fmla="val 5455"/>
            </a:avLst>
          </a:prstGeom>
          <a:solidFill>
            <a:srgbClr val="EEF3F8"/>
          </a:solidFill>
          <a:ln w="12700">
            <a:solidFill>
              <a:srgbClr val="D9E1EA"/>
            </a:solidFill>
            <a:prstDash val="solid"/>
          </a:ln>
        </p:spPr>
      </p:sp>
      <p:sp>
        <p:nvSpPr>
          <p:cNvPr id="4" name="icon-alert"/>
          <p:cNvSpPr/>
          <p:nvPr/>
        </p:nvSpPr>
        <p:spPr>
          <a:xfrm>
            <a:off x="10835640" y="1691640"/>
            <a:ext cx="566928" cy="566928"/>
          </a:xfrm>
          <a:prstGeom prst="ellipse">
            <a:avLst/>
          </a:prstGeom>
          <a:solidFill>
            <a:schemeClr val="accent6"/>
          </a:solidFill>
          <a:ln w="12700">
            <a:solidFill>
              <a:schemeClr val="accent6"/>
            </a:solidFill>
            <a:prstDash val="solid"/>
          </a:ln>
        </p:spPr>
      </p:sp>
      <p:pic>
        <p:nvPicPr>
          <p:cNvPr id="5" name="Image 0" descr="/tmp/claude-0/-home-user/11b98046-3116-585b-b221-e5c2e170e62a/scratchpad/deck/assets/i-alert.png">    </p:cNvPr>
          <p:cNvPicPr>
            <a:picLocks noChangeAspect="1"/>
          </p:cNvPicPr>
          <p:nvPr/>
        </p:nvPicPr>
        <p:blipFill>
          <a:blip r:embed="rId1"/>
          <a:stretch>
            <a:fillRect/>
          </a:stretch>
        </p:blipFill>
        <p:spPr>
          <a:xfrm>
            <a:off x="10977372" y="1833372"/>
            <a:ext cx="283464" cy="283464"/>
          </a:xfrm>
          <a:prstGeom prst="rect">
            <a:avLst/>
          </a:prstGeom>
        </p:spPr>
      </p:pic>
      <p:sp>
        <p:nvSpPr>
          <p:cNvPr id="6" name="Text 3"/>
          <p:cNvSpPr txBox="1"/>
          <p:nvPr/>
        </p:nvSpPr>
        <p:spPr>
          <a:xfrm>
            <a:off x="6446520" y="169164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latin typeface="Noto Naskh Arabic"/>
                <a:cs typeface="adwa-assalaf"/>
              </a:rPr>
              <a:t>رسالة خطأ واضحة</a:t>
            </a:r>
            <a:endParaRPr lang="ar-AE" sz="1800" dirty="0"/>
          </a:p>
        </p:txBody>
      </p:sp>
      <p:sp>
        <p:nvSpPr>
          <p:cNvPr id="7" name="Text 4"/>
          <p:cNvSpPr txBox="1"/>
          <p:nvPr/>
        </p:nvSpPr>
        <p:spPr>
          <a:xfrm>
            <a:off x="6446520" y="224028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إن منع خطأ فتح اللوحة ظهرت نافذة بالسبب وموضع السجل؛ فلا فشل صامت.</a:t>
            </a:r>
            <a:endParaRPr lang="ar-AE" sz="1400" dirty="0"/>
          </a:p>
        </p:txBody>
      </p:sp>
      <p:sp>
        <p:nvSpPr>
          <p:cNvPr id="8" name="tip-1"/>
          <p:cNvSpPr/>
          <p:nvPr/>
        </p:nvSpPr>
        <p:spPr>
          <a:xfrm>
            <a:off x="548640" y="1417320"/>
            <a:ext cx="5468112" cy="2011680"/>
          </a:xfrm>
          <a:prstGeom prst="roundRect">
            <a:avLst>
              <a:gd name="adj" fmla="val 5455"/>
            </a:avLst>
          </a:prstGeom>
          <a:solidFill>
            <a:srgbClr val="EEF3F8"/>
          </a:solidFill>
          <a:ln w="12700">
            <a:solidFill>
              <a:srgbClr val="D9E1EA"/>
            </a:solidFill>
            <a:prstDash val="solid"/>
          </a:ln>
        </p:spPr>
      </p:sp>
      <p:sp>
        <p:nvSpPr>
          <p:cNvPr id="9" name="icon-search"/>
          <p:cNvSpPr/>
          <p:nvPr/>
        </p:nvSpPr>
        <p:spPr>
          <a:xfrm>
            <a:off x="5212080" y="1691640"/>
            <a:ext cx="566928" cy="566928"/>
          </a:xfrm>
          <a:prstGeom prst="ellipse">
            <a:avLst/>
          </a:prstGeom>
          <a:solidFill>
            <a:schemeClr val="accent1"/>
          </a:solidFill>
          <a:ln w="12700">
            <a:solidFill>
              <a:schemeClr val="accent1"/>
            </a:solidFill>
            <a:prstDash val="solid"/>
          </a:ln>
        </p:spPr>
      </p:sp>
      <p:pic>
        <p:nvPicPr>
          <p:cNvPr id="10" name="Image 1" descr="/tmp/claude-0/-home-user/11b98046-3116-585b-b221-e5c2e170e62a/scratchpad/deck/assets/i-search.png">    </p:cNvPr>
          <p:cNvPicPr>
            <a:picLocks noChangeAspect="1"/>
          </p:cNvPicPr>
          <p:nvPr/>
        </p:nvPicPr>
        <p:blipFill>
          <a:blip r:embed="rId2"/>
          <a:stretch>
            <a:fillRect/>
          </a:stretch>
        </p:blipFill>
        <p:spPr>
          <a:xfrm>
            <a:off x="5353812" y="1833372"/>
            <a:ext cx="283464" cy="283464"/>
          </a:xfrm>
          <a:prstGeom prst="rect">
            <a:avLst/>
          </a:prstGeom>
        </p:spPr>
      </p:pic>
      <p:sp>
        <p:nvSpPr>
          <p:cNvPr id="11" name="Text 7"/>
          <p:cNvSpPr txBox="1"/>
          <p:nvPr/>
        </p:nvSpPr>
        <p:spPr>
          <a:xfrm>
            <a:off x="822960" y="169164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latin typeface="Noto Naskh Arabic"/>
                <a:cs typeface="adwa-assalaf"/>
              </a:rPr>
              <a:t>أمر التشخيص</a:t>
            </a:r>
            <a:endParaRPr lang="ar-AE" sz="1800" dirty="0"/>
          </a:p>
        </p:txBody>
      </p:sp>
      <p:sp>
        <p:nvSpPr>
          <p:cNvPr id="12" name="Text 8"/>
          <p:cNvSpPr txBox="1"/>
          <p:nvPr/>
        </p:nvSpPr>
        <p:spPr>
          <a:xfrm>
            <a:off x="822960" y="224028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py -m turath doctor</a:t>
            </a:r>
            <a:endParaRPr lang="ar-AE" sz="1400" dirty="0"/>
          </a:p>
          <a:p>
            <a:pPr rtl="1" algn="r" indent="0" marL="0">
              <a:buNone/>
            </a:pPr>
            <a:r>
              <a:rPr lang="ar-AE" altLang="en-US" sz="1400" dirty="0">
                <a:solidFill>
                  <a:schemeClr val="tx1"/>
                </a:solidFill>
                <a:latin typeface="Noto Naskh Arabic"/>
                <a:cs typeface="adwa-assalaf"/>
              </a:rPr>
              <a:t>يفحص Python والملفات والبيانات والمنفذ والأيقونة، ويعرض آخر السجل.</a:t>
            </a:r>
            <a:endParaRPr lang="ar-AE" sz="1400" dirty="0"/>
          </a:p>
        </p:txBody>
      </p:sp>
      <p:sp>
        <p:nvSpPr>
          <p:cNvPr id="13" name="tip-2"/>
          <p:cNvSpPr/>
          <p:nvPr/>
        </p:nvSpPr>
        <p:spPr>
          <a:xfrm>
            <a:off x="6172200" y="3657600"/>
            <a:ext cx="5468112" cy="2011680"/>
          </a:xfrm>
          <a:prstGeom prst="roundRect">
            <a:avLst>
              <a:gd name="adj" fmla="val 5455"/>
            </a:avLst>
          </a:prstGeom>
          <a:solidFill>
            <a:srgbClr val="EEF3F8"/>
          </a:solidFill>
          <a:ln w="12700">
            <a:solidFill>
              <a:srgbClr val="D9E1EA"/>
            </a:solidFill>
            <a:prstDash val="solid"/>
          </a:ln>
        </p:spPr>
      </p:sp>
      <p:sp>
        <p:nvSpPr>
          <p:cNvPr id="14" name="icon-download"/>
          <p:cNvSpPr/>
          <p:nvPr/>
        </p:nvSpPr>
        <p:spPr>
          <a:xfrm>
            <a:off x="10835640" y="3931920"/>
            <a:ext cx="566928" cy="566928"/>
          </a:xfrm>
          <a:prstGeom prst="ellipse">
            <a:avLst/>
          </a:prstGeom>
          <a:solidFill>
            <a:schemeClr val="accent5"/>
          </a:solidFill>
          <a:ln w="12700">
            <a:solidFill>
              <a:schemeClr val="accent5"/>
            </a:solidFill>
            <a:prstDash val="solid"/>
          </a:ln>
        </p:spPr>
      </p:sp>
      <p:pic>
        <p:nvPicPr>
          <p:cNvPr id="15" name="Image 2" descr="/tmp/claude-0/-home-user/11b98046-3116-585b-b221-e5c2e170e62a/scratchpad/deck/assets/i-download.png">    </p:cNvPr>
          <p:cNvPicPr>
            <a:picLocks noChangeAspect="1"/>
          </p:cNvPicPr>
          <p:nvPr/>
        </p:nvPicPr>
        <p:blipFill>
          <a:blip r:embed="rId3"/>
          <a:stretch>
            <a:fillRect/>
          </a:stretch>
        </p:blipFill>
        <p:spPr>
          <a:xfrm>
            <a:off x="10977372" y="4073652"/>
            <a:ext cx="283464" cy="283464"/>
          </a:xfrm>
          <a:prstGeom prst="rect">
            <a:avLst/>
          </a:prstGeom>
        </p:spPr>
      </p:pic>
      <p:sp>
        <p:nvSpPr>
          <p:cNvPr id="16" name="Text 11"/>
          <p:cNvSpPr txBox="1"/>
          <p:nvPr/>
        </p:nvSpPr>
        <p:spPr>
          <a:xfrm>
            <a:off x="6446520" y="393192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latin typeface="Noto Naskh Arabic"/>
                <a:cs typeface="adwa-assalaf"/>
              </a:rPr>
              <a:t>إعادة التثبيت</a:t>
            </a:r>
            <a:endParaRPr lang="ar-AE" sz="1800" dirty="0"/>
          </a:p>
        </p:txBody>
      </p:sp>
      <p:sp>
        <p:nvSpPr>
          <p:cNvPr id="17" name="Text 12"/>
          <p:cNvSpPr txBox="1"/>
          <p:nvPr/>
        </p:nvSpPr>
        <p:spPr>
          <a:xfrm>
            <a:off x="6446520" y="448056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السطر نفسه يحدّث البرنامج ويتحقق من قيامه، ولا يمسّ البيانات.</a:t>
            </a:r>
            <a:endParaRPr lang="ar-AE" sz="1400" dirty="0"/>
          </a:p>
        </p:txBody>
      </p:sp>
      <p:sp>
        <p:nvSpPr>
          <p:cNvPr id="18" name="tip-3"/>
          <p:cNvSpPr/>
          <p:nvPr/>
        </p:nvSpPr>
        <p:spPr>
          <a:xfrm>
            <a:off x="548640" y="3657600"/>
            <a:ext cx="5468112" cy="2011680"/>
          </a:xfrm>
          <a:prstGeom prst="roundRect">
            <a:avLst>
              <a:gd name="adj" fmla="val 5455"/>
            </a:avLst>
          </a:prstGeom>
          <a:solidFill>
            <a:srgbClr val="EEF3F8"/>
          </a:solidFill>
          <a:ln w="12700">
            <a:solidFill>
              <a:srgbClr val="D9E1EA"/>
            </a:solidFill>
            <a:prstDash val="solid"/>
          </a:ln>
        </p:spPr>
      </p:sp>
      <p:sp>
        <p:nvSpPr>
          <p:cNvPr id="19" name="icon-archive"/>
          <p:cNvSpPr/>
          <p:nvPr/>
        </p:nvSpPr>
        <p:spPr>
          <a:xfrm>
            <a:off x="5212080" y="3931920"/>
            <a:ext cx="566928" cy="566928"/>
          </a:xfrm>
          <a:prstGeom prst="ellipse">
            <a:avLst/>
          </a:prstGeom>
          <a:solidFill>
            <a:schemeClr val="accent4"/>
          </a:solidFill>
          <a:ln w="12700">
            <a:solidFill>
              <a:schemeClr val="accent4"/>
            </a:solidFill>
            <a:prstDash val="solid"/>
          </a:ln>
        </p:spPr>
      </p:sp>
      <p:pic>
        <p:nvPicPr>
          <p:cNvPr id="20" name="Image 3" descr="/tmp/claude-0/-home-user/11b98046-3116-585b-b221-e5c2e170e62a/scratchpad/deck/assets/i-archive.png">    </p:cNvPr>
          <p:cNvPicPr>
            <a:picLocks noChangeAspect="1"/>
          </p:cNvPicPr>
          <p:nvPr/>
        </p:nvPicPr>
        <p:blipFill>
          <a:blip r:embed="rId4"/>
          <a:stretch>
            <a:fillRect/>
          </a:stretch>
        </p:blipFill>
        <p:spPr>
          <a:xfrm>
            <a:off x="5353812" y="4073652"/>
            <a:ext cx="283464" cy="283464"/>
          </a:xfrm>
          <a:prstGeom prst="rect">
            <a:avLst/>
          </a:prstGeom>
        </p:spPr>
      </p:pic>
      <p:sp>
        <p:nvSpPr>
          <p:cNvPr id="21" name="Text 15"/>
          <p:cNvSpPr txBox="1"/>
          <p:nvPr/>
        </p:nvSpPr>
        <p:spPr>
          <a:xfrm>
            <a:off x="822960" y="393192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latin typeface="Noto Naskh Arabic"/>
                <a:cs typeface="adwa-assalaf"/>
              </a:rPr>
              <a:t>النسخ الاحتياطي</a:t>
            </a:r>
            <a:endParaRPr lang="ar-AE" sz="1800" dirty="0"/>
          </a:p>
        </p:txBody>
      </p:sp>
      <p:sp>
        <p:nvSpPr>
          <p:cNvPr id="22" name="Text 16"/>
          <p:cNvSpPr txBox="1"/>
          <p:nvPr/>
        </p:nvSpPr>
        <p:spPr>
          <a:xfrm>
            <a:off x="822960" y="448056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latin typeface="Noto Naskh Arabic"/>
                <a:cs typeface="adwa-assalaf"/>
              </a:rPr>
              <a:t>زر في الخزنة يحفظ القاعدة والأصول ببيان بصمات.</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alibri"/>
                <a:ea typeface="Calibri"/>
                <a:cs typeface="Calibri"/>
              </a:defRPr>
            </a:lvl1pPr>
          </a:lstStyle>
          <a:p>
            <a:pPr algn="r"/>
            <a:fld id="{F7021451-1387-4CA6-816F-3879F97B5CBC}" type="slidenum">
              <a:rPr b="0" lang="en-US">
                <a:latin typeface="Calibri"/>
                <a:cs typeface="Calibri"/>
              </a:rPr>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closing-art" descr="/tmp/claude-0/-home-user/11b98046-3116-585b-b221-e5c2e170e62a/scratchpad/deck/assets/photos/coastal.jpg">    </p:cNvPr>
          <p:cNvPicPr>
            <a:picLocks noChangeAspect="1"/>
          </p:cNvPicPr>
          <p:nvPr/>
        </p:nvPicPr>
        <p:blipFill>
          <a:blip r:embed="rId1"/>
          <a:srcRect l="0" r="0" t="0" b="0"/>
          <a:stretch/>
        </p:blipFill>
        <p:spPr>
          <a:xfrm>
            <a:off x="0" y="0"/>
            <a:ext cx="12191695" cy="6858000"/>
          </a:xfrm>
          <a:prstGeom prst="rect">
            <a:avLst/>
          </a:prstGeom>
        </p:spPr>
      </p:pic>
      <p:sp>
        <p:nvSpPr>
          <p:cNvPr id="3" name="closing-veil"/>
          <p:cNvSpPr/>
          <p:nvPr/>
        </p:nvSpPr>
        <p:spPr>
          <a:xfrm>
            <a:off x="0" y="0"/>
            <a:ext cx="12191695" cy="6858000"/>
          </a:xfrm>
          <a:prstGeom prst="rect">
            <a:avLst/>
          </a:prstGeom>
          <a:solidFill>
            <a:srgbClr val="12263F">
              <a:alpha val="70000"/>
            </a:srgbClr>
          </a:solidFill>
          <a:ln w="12700">
            <a:solidFill>
              <a:srgbClr val="12263F">
                <a:alpha val="0"/>
              </a:srgbClr>
            </a:solidFill>
            <a:prstDash val="solid"/>
          </a:ln>
        </p:spPr>
      </p:sp>
      <p:pic>
        <p:nvPicPr>
          <p:cNvPr id="4" name="Image 1" descr="/tmp/claude-0/-home-user/11b98046-3116-585b-b221-e5c2e170e62a/scratchpad/deck/assets/logo.png">    </p:cNvPr>
          <p:cNvPicPr>
            <a:picLocks noChangeAspect="1"/>
          </p:cNvPicPr>
          <p:nvPr/>
        </p:nvPicPr>
        <p:blipFill>
          <a:blip r:embed="rId2"/>
          <a:stretch>
            <a:fillRect/>
          </a:stretch>
        </p:blipFill>
        <p:spPr>
          <a:xfrm>
            <a:off x="5522976" y="1097280"/>
            <a:ext cx="1143000" cy="1143000"/>
          </a:xfrm>
          <a:prstGeom prst="rect">
            <a:avLst/>
          </a:prstGeom>
        </p:spPr>
      </p:pic>
      <p:sp>
        <p:nvSpPr>
          <p:cNvPr id="5" name="Text 1"/>
          <p:cNvSpPr txBox="1"/>
          <p:nvPr/>
        </p:nvSpPr>
        <p:spPr>
          <a:xfrm>
            <a:off x="1371600" y="2514600"/>
            <a:ext cx="9445752" cy="822960"/>
          </a:xfrm>
          <a:prstGeom prst="rect">
            <a:avLst/>
          </a:prstGeom>
          <a:noFill/>
          <a:ln/>
        </p:spPr>
        <p:txBody>
          <a:bodyPr wrap="square" lIns="0" tIns="0" rIns="0" bIns="0" rtlCol="0" anchor="ctr"/>
          <a:lstStyle/>
          <a:p>
            <a:pPr rtl="1" algn="ctr" indent="0" marL="0">
              <a:buNone/>
            </a:pPr>
            <a:r>
              <a:rPr lang="ar-AE" altLang="en-US" sz="4000" b="1" dirty="0">
                <a:solidFill>
                  <a:schemeClr val="bg1"/>
                </a:solidFill>
                <a:latin typeface="Noto Naskh Arabic"/>
                <a:cs typeface="adwa-assalaf"/>
              </a:rPr>
              <a:t>ابدؤوا بالنموذج التطبيقي</a:t>
            </a:r>
            <a:endParaRPr lang="ar-AE" sz="4000" dirty="0"/>
          </a:p>
        </p:txBody>
      </p:sp>
      <p:sp>
        <p:nvSpPr>
          <p:cNvPr id="6" name="Text 2"/>
          <p:cNvSpPr txBox="1"/>
          <p:nvPr/>
        </p:nvSpPr>
        <p:spPr>
          <a:xfrm>
            <a:off x="1371600" y="3383280"/>
            <a:ext cx="9445752" cy="548640"/>
          </a:xfrm>
          <a:prstGeom prst="rect">
            <a:avLst/>
          </a:prstGeom>
          <a:noFill/>
          <a:ln/>
        </p:spPr>
        <p:txBody>
          <a:bodyPr wrap="square" lIns="0" tIns="0" rIns="0" bIns="0" rtlCol="0" anchor="ctr"/>
          <a:lstStyle/>
          <a:p>
            <a:pPr rtl="1" algn="ctr" indent="0" marL="0">
              <a:buNone/>
            </a:pPr>
            <a:r>
              <a:rPr lang="ar-AE" altLang="en-US" sz="2200" dirty="0">
                <a:solidFill>
                  <a:srgbClr val="F0D58A"/>
                </a:solidFill>
                <a:latin typeface="Noto Naskh Arabic"/>
                <a:cs typeface="adwa-assalaf"/>
              </a:rPr>
              <a:t>ثم افتحوا مشروعكم الأول بالأمر «ابحث تراثياً»</a:t>
            </a:r>
            <a:endParaRPr lang="ar-AE" sz="2200" dirty="0"/>
          </a:p>
        </p:txBody>
      </p:sp>
      <p:sp>
        <p:nvSpPr>
          <p:cNvPr id="7" name="Text 3"/>
          <p:cNvSpPr txBox="1"/>
          <p:nvPr/>
        </p:nvSpPr>
        <p:spPr>
          <a:xfrm>
            <a:off x="1371600" y="5120640"/>
            <a:ext cx="9445752" cy="411480"/>
          </a:xfrm>
          <a:prstGeom prst="rect">
            <a:avLst/>
          </a:prstGeom>
          <a:noFill/>
          <a:ln/>
        </p:spPr>
        <p:txBody>
          <a:bodyPr wrap="square" lIns="0" tIns="0" rIns="0" bIns="0" rtlCol="0" anchor="ctr"/>
          <a:lstStyle/>
          <a:p>
            <a:pPr rtl="1" algn="ctr" indent="0" marL="0">
              <a:buNone/>
            </a:pPr>
            <a:r>
              <a:rPr lang="ar-AE" altLang="en-US" sz="1400" dirty="0">
                <a:solidFill>
                  <a:srgbClr val="D9E4F0"/>
                </a:solidFill>
                <a:latin typeface="Noto Naskh Arabic"/>
                <a:cs typeface="adwa-assalaf"/>
              </a:rPr>
              <a:t>دليل التنصيب: INSTALL.md · الوثائق: قسم «الوثائق والاستمارات» في اللوحة</a:t>
            </a:r>
            <a:endParaRPr lang="ar-AE" sz="1400" dirty="0"/>
          </a:p>
        </p:txBody>
      </p:sp>
      <p:pic>
        <p:nvPicPr>
          <p:cNvPr id="8" name="Image 2" descr="/tmp/claude-0/-home-user/11b98046-3116-585b-b221-e5c2e170e62a/scratchpad/deck/assets/sadu.png">    </p:cNvPr>
          <p:cNvPicPr>
            <a:picLocks noChangeAspect="1"/>
          </p:cNvPicPr>
          <p:nvPr/>
        </p:nvPicPr>
        <p:blipFill>
          <a:blip r:embed="rId3"/>
          <a:stretch>
            <a:fillRect/>
          </a:stretch>
        </p:blipFill>
        <p:spPr>
          <a:xfrm>
            <a:off x="0" y="6583680"/>
            <a:ext cx="12191695" cy="274320"/>
          </a:xfrm>
          <a:prstGeom prst="rect">
            <a:avLst/>
          </a:prstGeom>
        </p:spPr>
      </p:pic>
    </p:spTree>
  </p:cSld>
  <p:clrMapOvr>
    <a:masterClrMapping/>
  </p:clrMapOvr>
</p:sld>
</file>

<file path=ppt/theme/theme1.xml><?xml version="1.0" encoding="utf-8"?>
<a:theme xmlns:a="http://schemas.openxmlformats.org/drawingml/2006/main" name="Turath">
  <a:themeElements>
    <a:clrScheme name="Turath">
      <a:dk1>
        <a:srgbClr val="1A2433"/>
      </a:dk1>
      <a:lt1>
        <a:srgbClr val="FFFFFF"/>
      </a:lt1>
      <a:dk2>
        <a:srgbClr val="12263F"/>
      </a:dk2>
      <a:lt2>
        <a:srgbClr val="EEF3F8"/>
      </a:lt2>
      <a:accent1>
        <a:srgbClr val="1F4E79"/>
      </a:accent1>
      <a:accent2>
        <a:srgbClr val="B8860B"/>
      </a:accent2>
      <a:accent3>
        <a:srgbClr val="0E7C86"/>
      </a:accent3>
      <a:accent4>
        <a:srgbClr val="A0522D"/>
      </a:accent4>
      <a:accent5>
        <a:srgbClr val="3E7C3A"/>
      </a:accent5>
      <a:accent6>
        <a:srgbClr val="8B1E3F"/>
      </a:accent6>
      <a:hlink>
        <a:srgbClr val="1F4E79"/>
      </a:hlink>
      <a:folHlink>
        <a:srgbClr val="5B3A7A"/>
      </a:folHlink>
    </a:clrScheme>
    <a:fontScheme name="Turath">
      <a:majorFont>
        <a:latin typeface="Noto Naskh Arabic"/>
        <a:ea typeface=""/>
        <a:cs typeface="adwa-assalaf"/>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Naskh Arabic"/>
        <a:ea typeface=""/>
        <a:cs typeface="adwa-assalaf"/>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تراث — دليل المنصة واستخدامها</dc:title>
  <dc:subject>PptxGenJS Presentation</dc:subject>
  <dc:creator>إدارة الدراسات والبحوث التراثية الإماراتية</dc:creator>
  <cp:lastModifiedBy>إدارة الدراسات والبحوث التراثية الإماراتية</cp:lastModifiedBy>
  <cp:revision>1</cp:revision>
  <dcterms:created xsi:type="dcterms:W3CDTF">2026-10-15T10:16:15Z</dcterms:created>
  <dcterms:modified xsi:type="dcterms:W3CDTF">2026-10-15T10:16:15Z</dcterms:modified>
</cp:coreProperties>
</file>